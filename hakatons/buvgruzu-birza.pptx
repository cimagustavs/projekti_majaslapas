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Iedomājieties: jūs remontējat dzīvokli, un jums ir 30 maisi ar betonu un flīzēm. Nav piekabes, nezināt, kur tos nodot. Internetā — "izvedam būvgružus lēti". Viens zvans, un problēma atrisināta. Bet daļa šo gružu nonāk mežā. Būvniecība patērē pusi no visiem zemē iegūtajiem resursiem, un būvgruži ir vairāk nekā trešdaļa no visiem ES atkritumiem. Problēma nav cilvēkos. Problēma ir tā, ka nelegālais ceļš ir lētāks un vienkāršāks.</a:t>
            </a:r>
          </a:p>
          <a:p/>
          <a:p>
            <a:r>
              <a:t>Foto avots: https://iauto.lv/zinas/latvija/49412-izg-atkritumus-me-k-tdus-cilvkus-nosaukt-foto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Būvgružu birža ir aprites ekonomikas platforma: tā savieno cilvēkus, kuriem ir būvgruži, ar uzņēmumiem, kas tos pārstrādā. Princips kā pudeļu depozītam — nodod un saņem. Cilvēks sašķiro gružus un nodod tos bez maksas — tas jau ir ietaupījums. Par koksni viņš saņem naudu, par betonu un ķieģeļiem — punktus vai pārstrādātas šķembas. Uzņēmums saņem tīru materiālu, ko var pārstrādāt un izmantot vēlreiz. Pašvaldībai — mazāk izgāztuvju mežos. Ieguvēji ir visi.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 Lietotnē tie ir četri soļi: reģistrējies, piesaki materiālu ar foto, izvēlies punktu kartē un saņem atlīdzību. Parādīšu, kā tas izskatās.</a:t>
            </a:r>
          </a:p>
          <a:p/>
          <a:p>
            <a:r>
              <a:t>[VIDEO 1:00 — Gustavs komentē]</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Mēs to aprēķinājām. Pārstrādātāju peļņa ir tikai ap diviem procentiem, tāpēc godīgi: par betonu lielu naudu neviens nemaksās. Reālu naudu maksā par koksni — līdz 30 eiro tonnā. Galvenais ieguvums cilvēkam ir bezmaksas pieņemšana, uzņēmumam — tīrs materiāls bez šķirošanas izmaksām. Lietotnes uzturēšanu sedz pašvaldība, kas ietaupa uz izgāztuvju sakopšanu. Sākt gribam ar pilotprojektu vienā pašvaldībā.</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 Būvgružu birža — lai būvgruži atgrieztos būvniecībā, nevis mežā. Paldies! Labprāt atbildēsim uz jautājumiem.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4A30"/>
        </a:solidFill>
        <a:effectLst/>
      </p:bgPr>
    </p:bg>
    <p:spTree>
      <p:nvGrpSpPr>
        <p:cNvPr id="1" name=""/>
        <p:cNvGrpSpPr/>
        <p:nvPr/>
      </p:nvGrpSpPr>
      <p:grpSpPr/>
      <p:sp>
        <p:nvSpPr>
          <p:cNvPr id="2" name="TextBox 1"/>
          <p:cNvSpPr txBox="1"/>
          <p:nvPr/>
        </p:nvSpPr>
        <p:spPr>
          <a:xfrm>
            <a:off x="640080" y="548640"/>
            <a:ext cx="7315200" cy="365760"/>
          </a:xfrm>
          <a:prstGeom prst="rect">
            <a:avLst/>
          </a:prstGeom>
          <a:noFill/>
        </p:spPr>
        <p:txBody>
          <a:bodyPr wrap="square" anchor="t" lIns="0" rIns="0" tIns="0" bIns="0">
            <a:spAutoFit/>
          </a:bodyPr>
          <a:lstStyle/>
          <a:p>
            <a:pPr algn="l">
              <a:lnSpc>
                <a:spcPct val="110000"/>
              </a:lnSpc>
              <a:spcAft>
                <a:spcPts val="600"/>
              </a:spcAft>
            </a:pPr>
            <a:r>
              <a:rPr sz="1300" b="1">
                <a:solidFill>
                  <a:srgbClr val="CFE0C8"/>
                </a:solidFill>
                <a:latin typeface="Montserrat"/>
              </a:rPr>
              <a:t>PROBLĒMA</a:t>
            </a:r>
          </a:p>
        </p:txBody>
      </p:sp>
      <p:sp>
        <p:nvSpPr>
          <p:cNvPr id="3" name="TextBox 2"/>
          <p:cNvSpPr txBox="1"/>
          <p:nvPr/>
        </p:nvSpPr>
        <p:spPr>
          <a:xfrm>
            <a:off x="640080" y="960120"/>
            <a:ext cx="6035040" cy="2194560"/>
          </a:xfrm>
          <a:prstGeom prst="rect">
            <a:avLst/>
          </a:prstGeom>
          <a:noFill/>
        </p:spPr>
        <p:txBody>
          <a:bodyPr wrap="square" anchor="t" lIns="0" rIns="0" tIns="0" bIns="0">
            <a:spAutoFit/>
          </a:bodyPr>
          <a:lstStyle/>
          <a:p>
            <a:pPr algn="l">
              <a:lnSpc>
                <a:spcPct val="100000"/>
              </a:lnSpc>
              <a:spcAft>
                <a:spcPts val="600"/>
              </a:spcAft>
            </a:pPr>
            <a:r>
              <a:rPr sz="4000" b="1">
                <a:solidFill>
                  <a:srgbClr val="FFFFFF"/>
                </a:solidFill>
                <a:latin typeface="Montserrat"/>
              </a:rPr>
              <a:t>Būvgruži mežā ir lētāki nekā būvgruži pārstrādē</a:t>
            </a:r>
          </a:p>
        </p:txBody>
      </p:sp>
      <p:sp>
        <p:nvSpPr>
          <p:cNvPr id="4" name="TextBox 3"/>
          <p:cNvSpPr txBox="1"/>
          <p:nvPr/>
        </p:nvSpPr>
        <p:spPr>
          <a:xfrm>
            <a:off x="640080" y="3246120"/>
            <a:ext cx="5760720" cy="914400"/>
          </a:xfrm>
          <a:prstGeom prst="rect">
            <a:avLst/>
          </a:prstGeom>
          <a:noFill/>
        </p:spPr>
        <p:txBody>
          <a:bodyPr wrap="square" anchor="t" lIns="0" rIns="0" tIns="0" bIns="0">
            <a:spAutoFit/>
          </a:bodyPr>
          <a:lstStyle/>
          <a:p>
            <a:pPr algn="l">
              <a:lnSpc>
                <a:spcPct val="110000"/>
              </a:lnSpc>
              <a:spcAft>
                <a:spcPts val="600"/>
              </a:spcAft>
            </a:pPr>
            <a:r>
              <a:rPr sz="1800" b="0">
                <a:solidFill>
                  <a:srgbClr val="CFE0C8"/>
                </a:solidFill>
                <a:latin typeface="Open Sans"/>
              </a:rPr>
              <a:t>Nelegāli izmest būvgružus ir lētāk un vienkāršāk nekā tos sašķirot un nodot legāli.</a:t>
            </a:r>
          </a:p>
        </p:txBody>
      </p:sp>
      <p:sp>
        <p:nvSpPr>
          <p:cNvPr id="5" name="TextBox 4"/>
          <p:cNvSpPr txBox="1"/>
          <p:nvPr/>
        </p:nvSpPr>
        <p:spPr>
          <a:xfrm>
            <a:off x="640080" y="4343400"/>
            <a:ext cx="2743200" cy="731520"/>
          </a:xfrm>
          <a:prstGeom prst="rect">
            <a:avLst/>
          </a:prstGeom>
          <a:noFill/>
        </p:spPr>
        <p:txBody>
          <a:bodyPr wrap="square" anchor="t" lIns="0" rIns="0" tIns="0" bIns="0">
            <a:spAutoFit/>
          </a:bodyPr>
          <a:lstStyle/>
          <a:p>
            <a:pPr algn="l">
              <a:lnSpc>
                <a:spcPct val="110000"/>
              </a:lnSpc>
              <a:spcAft>
                <a:spcPts val="600"/>
              </a:spcAft>
            </a:pPr>
            <a:r>
              <a:rPr sz="4000" b="1">
                <a:solidFill>
                  <a:srgbClr val="FFFFFF"/>
                </a:solidFill>
                <a:latin typeface="Montserrat"/>
              </a:rPr>
              <a:t>~½</a:t>
            </a:r>
          </a:p>
        </p:txBody>
      </p:sp>
      <p:sp>
        <p:nvSpPr>
          <p:cNvPr id="6" name="TextBox 5"/>
          <p:cNvSpPr txBox="1"/>
          <p:nvPr/>
        </p:nvSpPr>
        <p:spPr>
          <a:xfrm>
            <a:off x="640080" y="5074920"/>
            <a:ext cx="2651760" cy="822960"/>
          </a:xfrm>
          <a:prstGeom prst="rect">
            <a:avLst/>
          </a:prstGeom>
          <a:noFill/>
        </p:spPr>
        <p:txBody>
          <a:bodyPr wrap="square" anchor="t" lIns="0" rIns="0" tIns="0" bIns="0">
            <a:spAutoFit/>
          </a:bodyPr>
          <a:lstStyle/>
          <a:p>
            <a:pPr algn="l">
              <a:lnSpc>
                <a:spcPct val="110000"/>
              </a:lnSpc>
              <a:spcAft>
                <a:spcPts val="600"/>
              </a:spcAft>
            </a:pPr>
            <a:r>
              <a:rPr sz="1400" b="0">
                <a:solidFill>
                  <a:srgbClr val="CFE0C8"/>
                </a:solidFill>
                <a:latin typeface="Open Sans"/>
              </a:rPr>
              <a:t>no zemes dzīlēs iegūtajiem resursiem patērē būvniecība</a:t>
            </a:r>
          </a:p>
        </p:txBody>
      </p:sp>
      <p:sp>
        <p:nvSpPr>
          <p:cNvPr id="7" name="TextBox 6"/>
          <p:cNvSpPr txBox="1"/>
          <p:nvPr/>
        </p:nvSpPr>
        <p:spPr>
          <a:xfrm>
            <a:off x="3611880" y="4343400"/>
            <a:ext cx="2743200" cy="731520"/>
          </a:xfrm>
          <a:prstGeom prst="rect">
            <a:avLst/>
          </a:prstGeom>
          <a:noFill/>
        </p:spPr>
        <p:txBody>
          <a:bodyPr wrap="square" anchor="t" lIns="0" rIns="0" tIns="0" bIns="0">
            <a:spAutoFit/>
          </a:bodyPr>
          <a:lstStyle/>
          <a:p>
            <a:pPr algn="l">
              <a:lnSpc>
                <a:spcPct val="110000"/>
              </a:lnSpc>
              <a:spcAft>
                <a:spcPts val="600"/>
              </a:spcAft>
            </a:pPr>
            <a:r>
              <a:rPr sz="4000" b="1">
                <a:solidFill>
                  <a:srgbClr val="FFFFFF"/>
                </a:solidFill>
                <a:latin typeface="Montserrat"/>
              </a:rPr>
              <a:t>&gt; ⅓</a:t>
            </a:r>
          </a:p>
        </p:txBody>
      </p:sp>
      <p:sp>
        <p:nvSpPr>
          <p:cNvPr id="8" name="TextBox 7"/>
          <p:cNvSpPr txBox="1"/>
          <p:nvPr/>
        </p:nvSpPr>
        <p:spPr>
          <a:xfrm>
            <a:off x="3611880" y="5074920"/>
            <a:ext cx="2651760" cy="822960"/>
          </a:xfrm>
          <a:prstGeom prst="rect">
            <a:avLst/>
          </a:prstGeom>
          <a:noFill/>
        </p:spPr>
        <p:txBody>
          <a:bodyPr wrap="square" anchor="t" lIns="0" rIns="0" tIns="0" bIns="0">
            <a:spAutoFit/>
          </a:bodyPr>
          <a:lstStyle/>
          <a:p>
            <a:pPr algn="l">
              <a:lnSpc>
                <a:spcPct val="110000"/>
              </a:lnSpc>
              <a:spcAft>
                <a:spcPts val="600"/>
              </a:spcAft>
            </a:pPr>
            <a:r>
              <a:rPr sz="1400" b="0">
                <a:solidFill>
                  <a:srgbClr val="CFE0C8"/>
                </a:solidFill>
                <a:latin typeface="Open Sans"/>
              </a:rPr>
              <a:t>no visiem ES atkritumiem ir būvniecības atkritumi</a:t>
            </a:r>
          </a:p>
        </p:txBody>
      </p:sp>
      <p:sp>
        <p:nvSpPr>
          <p:cNvPr id="9" name="TextBox 8"/>
          <p:cNvSpPr txBox="1"/>
          <p:nvPr/>
        </p:nvSpPr>
        <p:spPr>
          <a:xfrm>
            <a:off x="640080" y="6172200"/>
            <a:ext cx="5943600" cy="365760"/>
          </a:xfrm>
          <a:prstGeom prst="rect">
            <a:avLst/>
          </a:prstGeom>
          <a:noFill/>
        </p:spPr>
        <p:txBody>
          <a:bodyPr wrap="square" anchor="t" lIns="0" rIns="0" tIns="0" bIns="0">
            <a:spAutoFit/>
          </a:bodyPr>
          <a:lstStyle/>
          <a:p>
            <a:pPr algn="l">
              <a:lnSpc>
                <a:spcPct val="110000"/>
              </a:lnSpc>
              <a:spcAft>
                <a:spcPts val="600"/>
              </a:spcAft>
            </a:pPr>
            <a:r>
              <a:rPr sz="1000" b="0">
                <a:solidFill>
                  <a:srgbClr val="CFE0C8"/>
                </a:solidFill>
                <a:latin typeface="Open Sans"/>
              </a:rPr>
              <a:t>Avots: hakatona izaicinājums (SCHWENK, RTU, Green Liberty)</a:t>
            </a:r>
          </a:p>
        </p:txBody>
      </p:sp>
      <p:pic>
        <p:nvPicPr>
          <p:cNvPr id="10" name="Picture 9" descr="foto-mezs.jpg"/>
          <p:cNvPicPr>
            <a:picLocks noChangeAspect="1"/>
          </p:cNvPicPr>
          <p:nvPr/>
        </p:nvPicPr>
        <p:blipFill>
          <a:blip r:embed="rId2"/>
          <a:stretch>
            <a:fillRect/>
          </a:stretch>
        </p:blipFill>
        <p:spPr>
          <a:xfrm>
            <a:off x="7086600" y="548640"/>
            <a:ext cx="4526280" cy="4206240"/>
          </a:xfrm>
          <a:prstGeom prst="rect">
            <a:avLst/>
          </a:prstGeom>
        </p:spPr>
      </p:pic>
      <p:sp>
        <p:nvSpPr>
          <p:cNvPr id="11" name="TextBox 10"/>
          <p:cNvSpPr txBox="1"/>
          <p:nvPr/>
        </p:nvSpPr>
        <p:spPr>
          <a:xfrm>
            <a:off x="7086600" y="4773168"/>
            <a:ext cx="4526280" cy="182880"/>
          </a:xfrm>
          <a:prstGeom prst="rect">
            <a:avLst/>
          </a:prstGeom>
          <a:noFill/>
        </p:spPr>
        <p:txBody>
          <a:bodyPr wrap="square" anchor="t" lIns="0" rIns="0" tIns="0" bIns="0">
            <a:spAutoFit/>
          </a:bodyPr>
          <a:lstStyle/>
          <a:p>
            <a:pPr algn="r">
              <a:lnSpc>
                <a:spcPct val="110000"/>
              </a:lnSpc>
              <a:spcAft>
                <a:spcPts val="600"/>
              </a:spcAft>
            </a:pPr>
            <a:r>
              <a:rPr sz="800" b="0">
                <a:solidFill>
                  <a:srgbClr val="5E8C5A"/>
                </a:solidFill>
                <a:latin typeface="Open Sans"/>
              </a:rPr>
              <a:t>Foto: iauto.lv</a:t>
            </a:r>
          </a:p>
        </p:txBody>
      </p:sp>
      <p:sp>
        <p:nvSpPr>
          <p:cNvPr id="12" name="Rounded Rectangle 11"/>
          <p:cNvSpPr/>
          <p:nvPr/>
        </p:nvSpPr>
        <p:spPr>
          <a:xfrm>
            <a:off x="7086600" y="4983480"/>
            <a:ext cx="4526280" cy="1325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0920" y="5120640"/>
            <a:ext cx="4023360" cy="1097280"/>
          </a:xfrm>
          <a:prstGeom prst="rect">
            <a:avLst/>
          </a:prstGeom>
          <a:noFill/>
        </p:spPr>
        <p:txBody>
          <a:bodyPr wrap="square" anchor="ctr" lIns="0" rIns="0" tIns="0" bIns="0">
            <a:spAutoFit/>
          </a:bodyPr>
          <a:lstStyle/>
          <a:p>
            <a:pPr algn="l">
              <a:lnSpc>
                <a:spcPct val="110000"/>
              </a:lnSpc>
              <a:spcAft>
                <a:spcPts val="600"/>
              </a:spcAft>
            </a:pPr>
            <a:r>
              <a:rPr sz="2000" b="1">
                <a:solidFill>
                  <a:srgbClr val="244A30"/>
                </a:solidFill>
                <a:latin typeface="Montserrat"/>
              </a:rPr>
              <a:t>„Izvedam būvgružus lēti!”</a:t>
            </a:r>
          </a:p>
          <a:p>
            <a:pPr algn="l">
              <a:lnSpc>
                <a:spcPct val="110000"/>
              </a:lnSpc>
              <a:spcAft>
                <a:spcPts val="600"/>
              </a:spcAft>
            </a:pPr>
            <a:r>
              <a:rPr sz="1400" b="0">
                <a:solidFill>
                  <a:srgbClr val="5B665D"/>
                </a:solidFill>
                <a:latin typeface="Open Sans"/>
              </a:rPr>
              <a:t>Viens zvans — un gruži nonāk mežā.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3EA"/>
        </a:solidFill>
        <a:effectLst/>
      </p:bgPr>
    </p:bg>
    <p:spTree>
      <p:nvGrpSpPr>
        <p:cNvPr id="1" name=""/>
        <p:cNvGrpSpPr/>
        <p:nvPr/>
      </p:nvGrpSpPr>
      <p:grpSpPr/>
      <p:sp>
        <p:nvSpPr>
          <p:cNvPr id="2" name="TextBox 1"/>
          <p:cNvSpPr txBox="1"/>
          <p:nvPr/>
        </p:nvSpPr>
        <p:spPr>
          <a:xfrm>
            <a:off x="640080" y="548640"/>
            <a:ext cx="7315200" cy="365760"/>
          </a:xfrm>
          <a:prstGeom prst="rect">
            <a:avLst/>
          </a:prstGeom>
          <a:noFill/>
        </p:spPr>
        <p:txBody>
          <a:bodyPr wrap="square" anchor="t" lIns="0" rIns="0" tIns="0" bIns="0">
            <a:spAutoFit/>
          </a:bodyPr>
          <a:lstStyle/>
          <a:p>
            <a:pPr algn="l">
              <a:lnSpc>
                <a:spcPct val="110000"/>
              </a:lnSpc>
              <a:spcAft>
                <a:spcPts val="600"/>
              </a:spcAft>
            </a:pPr>
            <a:r>
              <a:rPr sz="1300" b="1">
                <a:solidFill>
                  <a:srgbClr val="5E8C5A"/>
                </a:solidFill>
                <a:latin typeface="Montserrat"/>
              </a:rPr>
              <a:t>RISINĀJUMS</a:t>
            </a:r>
          </a:p>
        </p:txBody>
      </p:sp>
      <p:sp>
        <p:nvSpPr>
          <p:cNvPr id="3" name="TextBox 2"/>
          <p:cNvSpPr txBox="1"/>
          <p:nvPr/>
        </p:nvSpPr>
        <p:spPr>
          <a:xfrm>
            <a:off x="640080" y="914400"/>
            <a:ext cx="10972800" cy="822960"/>
          </a:xfrm>
          <a:prstGeom prst="rect">
            <a:avLst/>
          </a:prstGeom>
          <a:noFill/>
        </p:spPr>
        <p:txBody>
          <a:bodyPr wrap="square" anchor="t" lIns="0" rIns="0" tIns="0" bIns="0">
            <a:spAutoFit/>
          </a:bodyPr>
          <a:lstStyle/>
          <a:p>
            <a:pPr algn="l">
              <a:lnSpc>
                <a:spcPct val="110000"/>
              </a:lnSpc>
              <a:spcAft>
                <a:spcPts val="600"/>
              </a:spcAft>
            </a:pPr>
            <a:r>
              <a:rPr sz="4400" b="1">
                <a:solidFill>
                  <a:srgbClr val="244A30"/>
                </a:solidFill>
                <a:latin typeface="Montserrat"/>
              </a:rPr>
              <a:t>Būvgružu birža</a:t>
            </a:r>
          </a:p>
        </p:txBody>
      </p:sp>
      <p:sp>
        <p:nvSpPr>
          <p:cNvPr id="4" name="TextBox 3"/>
          <p:cNvSpPr txBox="1"/>
          <p:nvPr/>
        </p:nvSpPr>
        <p:spPr>
          <a:xfrm>
            <a:off x="640080" y="1691640"/>
            <a:ext cx="10972800" cy="548640"/>
          </a:xfrm>
          <a:prstGeom prst="rect">
            <a:avLst/>
          </a:prstGeom>
          <a:noFill/>
        </p:spPr>
        <p:txBody>
          <a:bodyPr wrap="square" anchor="t" lIns="0" rIns="0" tIns="0" bIns="0">
            <a:spAutoFit/>
          </a:bodyPr>
          <a:lstStyle/>
          <a:p>
            <a:pPr algn="l">
              <a:lnSpc>
                <a:spcPct val="110000"/>
              </a:lnSpc>
              <a:spcAft>
                <a:spcPts val="600"/>
              </a:spcAft>
            </a:pPr>
            <a:r>
              <a:rPr sz="1800" b="0">
                <a:solidFill>
                  <a:srgbClr val="5B665D"/>
                </a:solidFill>
                <a:latin typeface="Open Sans"/>
              </a:rPr>
              <a:t>Aprites ekonomikas platforma būvgružiem — savieno cilvēkus, kuriem ir būvgruži, ar uzņēmumiem, kas tos pārstrādā.</a:t>
            </a:r>
          </a:p>
        </p:txBody>
      </p:sp>
      <p:sp>
        <p:nvSpPr>
          <p:cNvPr id="5" name="Rounded Rectangle 4"/>
          <p:cNvSpPr/>
          <p:nvPr/>
        </p:nvSpPr>
        <p:spPr>
          <a:xfrm>
            <a:off x="640080" y="2743200"/>
            <a:ext cx="3474720" cy="3474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743200"/>
            <a:ext cx="3474720" cy="109728"/>
          </a:xfrm>
          <a:prstGeom prst="rect">
            <a:avLst/>
          </a:prstGeom>
          <a:solidFill>
            <a:srgbClr val="5E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108960"/>
            <a:ext cx="2834640" cy="548640"/>
          </a:xfrm>
          <a:prstGeom prst="rect">
            <a:avLst/>
          </a:prstGeom>
          <a:noFill/>
        </p:spPr>
        <p:txBody>
          <a:bodyPr wrap="square" anchor="t" lIns="0" rIns="0" tIns="0" bIns="0">
            <a:spAutoFit/>
          </a:bodyPr>
          <a:lstStyle/>
          <a:p>
            <a:pPr algn="l">
              <a:lnSpc>
                <a:spcPct val="110000"/>
              </a:lnSpc>
              <a:spcAft>
                <a:spcPts val="600"/>
              </a:spcAft>
            </a:pPr>
            <a:r>
              <a:rPr sz="2400" b="1">
                <a:solidFill>
                  <a:srgbClr val="244A30"/>
                </a:solidFill>
                <a:latin typeface="Montserrat"/>
              </a:rPr>
              <a:t>Iedzīvotājs</a:t>
            </a:r>
          </a:p>
        </p:txBody>
      </p:sp>
      <p:sp>
        <p:nvSpPr>
          <p:cNvPr id="8" name="TextBox 7"/>
          <p:cNvSpPr txBox="1"/>
          <p:nvPr/>
        </p:nvSpPr>
        <p:spPr>
          <a:xfrm>
            <a:off x="960119" y="3840480"/>
            <a:ext cx="2834640" cy="2286000"/>
          </a:xfrm>
          <a:prstGeom prst="rect">
            <a:avLst/>
          </a:prstGeom>
          <a:noFill/>
        </p:spPr>
        <p:txBody>
          <a:bodyPr wrap="square" anchor="t" lIns="0" rIns="0" tIns="0" bIns="0">
            <a:spAutoFit/>
          </a:bodyPr>
          <a:lstStyle/>
          <a:p>
            <a:pPr algn="l">
              <a:lnSpc>
                <a:spcPct val="110000"/>
              </a:lnSpc>
              <a:spcAft>
                <a:spcPts val="1200"/>
              </a:spcAft>
            </a:pPr>
            <a:r>
              <a:rPr sz="1600" b="0">
                <a:solidFill>
                  <a:srgbClr val="1C261E"/>
                </a:solidFill>
                <a:latin typeface="Open Sans"/>
              </a:rPr>
              <a:t>— Nodod sašķirotus gružus bez maksas</a:t>
            </a:r>
          </a:p>
          <a:p>
            <a:pPr algn="l">
              <a:lnSpc>
                <a:spcPct val="110000"/>
              </a:lnSpc>
              <a:spcAft>
                <a:spcPts val="1200"/>
              </a:spcAft>
            </a:pPr>
            <a:r>
              <a:rPr sz="1600" b="0">
                <a:solidFill>
                  <a:srgbClr val="1C261E"/>
                </a:solidFill>
                <a:latin typeface="Open Sans"/>
              </a:rPr>
              <a:t>— Par koksni — nauda</a:t>
            </a:r>
          </a:p>
          <a:p>
            <a:pPr algn="l">
              <a:lnSpc>
                <a:spcPct val="110000"/>
              </a:lnSpc>
              <a:spcAft>
                <a:spcPts val="1200"/>
              </a:spcAft>
            </a:pPr>
            <a:r>
              <a:rPr sz="1600" b="0">
                <a:solidFill>
                  <a:srgbClr val="1C261E"/>
                </a:solidFill>
                <a:latin typeface="Open Sans"/>
              </a:rPr>
              <a:t>— Par betonu un ķieģeļiem — punkti vai pārstrādātas šķembas</a:t>
            </a:r>
          </a:p>
        </p:txBody>
      </p:sp>
      <p:sp>
        <p:nvSpPr>
          <p:cNvPr id="9" name="Rounded Rectangle 8"/>
          <p:cNvSpPr/>
          <p:nvPr/>
        </p:nvSpPr>
        <p:spPr>
          <a:xfrm>
            <a:off x="4343400" y="2743200"/>
            <a:ext cx="3474720" cy="3474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2743200"/>
            <a:ext cx="3474720" cy="109728"/>
          </a:xfrm>
          <a:prstGeom prst="rect">
            <a:avLst/>
          </a:prstGeom>
          <a:solidFill>
            <a:srgbClr val="5E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3108960"/>
            <a:ext cx="2834640" cy="548640"/>
          </a:xfrm>
          <a:prstGeom prst="rect">
            <a:avLst/>
          </a:prstGeom>
          <a:noFill/>
        </p:spPr>
        <p:txBody>
          <a:bodyPr wrap="square" anchor="t" lIns="0" rIns="0" tIns="0" bIns="0">
            <a:spAutoFit/>
          </a:bodyPr>
          <a:lstStyle/>
          <a:p>
            <a:pPr algn="l">
              <a:lnSpc>
                <a:spcPct val="110000"/>
              </a:lnSpc>
              <a:spcAft>
                <a:spcPts val="600"/>
              </a:spcAft>
            </a:pPr>
            <a:r>
              <a:rPr sz="2400" b="1">
                <a:solidFill>
                  <a:srgbClr val="244A30"/>
                </a:solidFill>
                <a:latin typeface="Montserrat"/>
              </a:rPr>
              <a:t>Uzņēmums</a:t>
            </a:r>
          </a:p>
        </p:txBody>
      </p:sp>
      <p:sp>
        <p:nvSpPr>
          <p:cNvPr id="12" name="TextBox 11"/>
          <p:cNvSpPr txBox="1"/>
          <p:nvPr/>
        </p:nvSpPr>
        <p:spPr>
          <a:xfrm>
            <a:off x="4663440" y="3840480"/>
            <a:ext cx="2834640" cy="2286000"/>
          </a:xfrm>
          <a:prstGeom prst="rect">
            <a:avLst/>
          </a:prstGeom>
          <a:noFill/>
        </p:spPr>
        <p:txBody>
          <a:bodyPr wrap="square" anchor="t" lIns="0" rIns="0" tIns="0" bIns="0">
            <a:spAutoFit/>
          </a:bodyPr>
          <a:lstStyle/>
          <a:p>
            <a:pPr algn="l">
              <a:lnSpc>
                <a:spcPct val="110000"/>
              </a:lnSpc>
              <a:spcAft>
                <a:spcPts val="1200"/>
              </a:spcAft>
            </a:pPr>
            <a:r>
              <a:rPr sz="1600" b="0">
                <a:solidFill>
                  <a:srgbClr val="1C261E"/>
                </a:solidFill>
                <a:latin typeface="Open Sans"/>
              </a:rPr>
              <a:t>— Saņem tīru, sašķirotu materiālu</a:t>
            </a:r>
          </a:p>
          <a:p>
            <a:pPr algn="l">
              <a:lnSpc>
                <a:spcPct val="110000"/>
              </a:lnSpc>
              <a:spcAft>
                <a:spcPts val="1200"/>
              </a:spcAft>
            </a:pPr>
            <a:r>
              <a:rPr sz="1600" b="0">
                <a:solidFill>
                  <a:srgbClr val="1C261E"/>
                </a:solidFill>
                <a:latin typeface="Open Sans"/>
              </a:rPr>
              <a:t>— Bez šķirošanas izmaksām</a:t>
            </a:r>
          </a:p>
          <a:p>
            <a:pPr algn="l">
              <a:lnSpc>
                <a:spcPct val="110000"/>
              </a:lnSpc>
              <a:spcAft>
                <a:spcPts val="1200"/>
              </a:spcAft>
            </a:pPr>
            <a:r>
              <a:rPr sz="1600" b="0">
                <a:solidFill>
                  <a:srgbClr val="1C261E"/>
                </a:solidFill>
                <a:latin typeface="Open Sans"/>
              </a:rPr>
              <a:t>— Pārstrādā un izmanto vēlreiz</a:t>
            </a:r>
          </a:p>
        </p:txBody>
      </p:sp>
      <p:sp>
        <p:nvSpPr>
          <p:cNvPr id="13" name="Rounded Rectangle 12"/>
          <p:cNvSpPr/>
          <p:nvPr/>
        </p:nvSpPr>
        <p:spPr>
          <a:xfrm>
            <a:off x="8046719" y="2743200"/>
            <a:ext cx="3474720" cy="3474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19" y="2743200"/>
            <a:ext cx="3474720" cy="109728"/>
          </a:xfrm>
          <a:prstGeom prst="rect">
            <a:avLst/>
          </a:prstGeom>
          <a:solidFill>
            <a:srgbClr val="5E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3108960"/>
            <a:ext cx="2834640" cy="548640"/>
          </a:xfrm>
          <a:prstGeom prst="rect">
            <a:avLst/>
          </a:prstGeom>
          <a:noFill/>
        </p:spPr>
        <p:txBody>
          <a:bodyPr wrap="square" anchor="t" lIns="0" rIns="0" tIns="0" bIns="0">
            <a:spAutoFit/>
          </a:bodyPr>
          <a:lstStyle/>
          <a:p>
            <a:pPr algn="l">
              <a:lnSpc>
                <a:spcPct val="110000"/>
              </a:lnSpc>
              <a:spcAft>
                <a:spcPts val="600"/>
              </a:spcAft>
            </a:pPr>
            <a:r>
              <a:rPr sz="2400" b="1">
                <a:solidFill>
                  <a:srgbClr val="244A30"/>
                </a:solidFill>
                <a:latin typeface="Montserrat"/>
              </a:rPr>
              <a:t>Pašvaldība</a:t>
            </a:r>
          </a:p>
        </p:txBody>
      </p:sp>
      <p:sp>
        <p:nvSpPr>
          <p:cNvPr id="16" name="TextBox 15"/>
          <p:cNvSpPr txBox="1"/>
          <p:nvPr/>
        </p:nvSpPr>
        <p:spPr>
          <a:xfrm>
            <a:off x="8366759" y="3840480"/>
            <a:ext cx="2834640" cy="2286000"/>
          </a:xfrm>
          <a:prstGeom prst="rect">
            <a:avLst/>
          </a:prstGeom>
          <a:noFill/>
        </p:spPr>
        <p:txBody>
          <a:bodyPr wrap="square" anchor="t" lIns="0" rIns="0" tIns="0" bIns="0">
            <a:spAutoFit/>
          </a:bodyPr>
          <a:lstStyle/>
          <a:p>
            <a:pPr algn="l">
              <a:lnSpc>
                <a:spcPct val="110000"/>
              </a:lnSpc>
              <a:spcAft>
                <a:spcPts val="1200"/>
              </a:spcAft>
            </a:pPr>
            <a:r>
              <a:rPr sz="1600" b="0">
                <a:solidFill>
                  <a:srgbClr val="1C261E"/>
                </a:solidFill>
                <a:latin typeface="Open Sans"/>
              </a:rPr>
              <a:t>— Mazāk izgāztuvju mežos</a:t>
            </a:r>
          </a:p>
          <a:p>
            <a:pPr algn="l">
              <a:lnSpc>
                <a:spcPct val="110000"/>
              </a:lnSpc>
              <a:spcAft>
                <a:spcPts val="1200"/>
              </a:spcAft>
            </a:pPr>
            <a:r>
              <a:rPr sz="1600" b="0">
                <a:solidFill>
                  <a:srgbClr val="1C261E"/>
                </a:solidFill>
                <a:latin typeface="Open Sans"/>
              </a:rPr>
              <a:t>— Mazāk izmaksu par sakopšanu</a:t>
            </a:r>
          </a:p>
          <a:p>
            <a:pPr algn="l">
              <a:lnSpc>
                <a:spcPct val="110000"/>
              </a:lnSpc>
              <a:spcAft>
                <a:spcPts val="1200"/>
              </a:spcAft>
            </a:pPr>
            <a:r>
              <a:rPr sz="1600" b="0">
                <a:solidFill>
                  <a:srgbClr val="1C261E"/>
                </a:solidFill>
                <a:latin typeface="Open Sans"/>
              </a:rPr>
              <a:t>— Dati par to, kur rodas būvgruži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3EA"/>
        </a:solidFill>
        <a:effectLst/>
      </p:bgPr>
    </p:bg>
    <p:spTree>
      <p:nvGrpSpPr>
        <p:cNvPr id="1" name=""/>
        <p:cNvGrpSpPr/>
        <p:nvPr/>
      </p:nvGrpSpPr>
      <p:grpSpPr/>
      <p:sp>
        <p:nvSpPr>
          <p:cNvPr id="2" name="TextBox 1"/>
          <p:cNvSpPr txBox="1"/>
          <p:nvPr/>
        </p:nvSpPr>
        <p:spPr>
          <a:xfrm>
            <a:off x="640080" y="548640"/>
            <a:ext cx="7315200" cy="365760"/>
          </a:xfrm>
          <a:prstGeom prst="rect">
            <a:avLst/>
          </a:prstGeom>
          <a:noFill/>
        </p:spPr>
        <p:txBody>
          <a:bodyPr wrap="square" anchor="t" lIns="0" rIns="0" tIns="0" bIns="0">
            <a:spAutoFit/>
          </a:bodyPr>
          <a:lstStyle/>
          <a:p>
            <a:pPr algn="l">
              <a:lnSpc>
                <a:spcPct val="110000"/>
              </a:lnSpc>
              <a:spcAft>
                <a:spcPts val="600"/>
              </a:spcAft>
            </a:pPr>
            <a:r>
              <a:rPr sz="1300" b="1">
                <a:solidFill>
                  <a:srgbClr val="5E8C5A"/>
                </a:solidFill>
                <a:latin typeface="Montserrat"/>
              </a:rPr>
              <a:t>KĀ TAS DARBOJAS</a:t>
            </a:r>
          </a:p>
        </p:txBody>
      </p:sp>
      <p:sp>
        <p:nvSpPr>
          <p:cNvPr id="3" name="TextBox 2"/>
          <p:cNvSpPr txBox="1"/>
          <p:nvPr/>
        </p:nvSpPr>
        <p:spPr>
          <a:xfrm>
            <a:off x="640080" y="914400"/>
            <a:ext cx="5943600" cy="822960"/>
          </a:xfrm>
          <a:prstGeom prst="rect">
            <a:avLst/>
          </a:prstGeom>
          <a:noFill/>
        </p:spPr>
        <p:txBody>
          <a:bodyPr wrap="square" anchor="t" lIns="0" rIns="0" tIns="0" bIns="0">
            <a:spAutoFit/>
          </a:bodyPr>
          <a:lstStyle/>
          <a:p>
            <a:pPr algn="l">
              <a:lnSpc>
                <a:spcPct val="110000"/>
              </a:lnSpc>
              <a:spcAft>
                <a:spcPts val="600"/>
              </a:spcAft>
            </a:pPr>
            <a:r>
              <a:rPr sz="4000" b="1">
                <a:solidFill>
                  <a:srgbClr val="244A30"/>
                </a:solidFill>
                <a:latin typeface="Montserrat"/>
              </a:rPr>
              <a:t>Četri soļi lietotnē</a:t>
            </a:r>
          </a:p>
        </p:txBody>
      </p:sp>
      <p:sp>
        <p:nvSpPr>
          <p:cNvPr id="4" name="Oval 3"/>
          <p:cNvSpPr/>
          <p:nvPr/>
        </p:nvSpPr>
        <p:spPr>
          <a:xfrm>
            <a:off x="640080" y="2011680"/>
            <a:ext cx="731520" cy="731520"/>
          </a:xfrm>
          <a:prstGeom prst="ellipse">
            <a:avLst/>
          </a:prstGeom>
          <a:solidFill>
            <a:srgbClr val="244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0"/>
            <a:ext cx="731520" cy="731520"/>
          </a:xfrm>
          <a:prstGeom prst="rect">
            <a:avLst/>
          </a:prstGeom>
          <a:noFill/>
        </p:spPr>
        <p:txBody>
          <a:bodyPr wrap="square" anchor="ctr" lIns="0" rIns="0" tIns="0" bIns="0">
            <a:spAutoFit/>
          </a:bodyPr>
          <a:lstStyle/>
          <a:p>
            <a:pPr algn="ctr">
              <a:lnSpc>
                <a:spcPct val="110000"/>
              </a:lnSpc>
              <a:spcAft>
                <a:spcPts val="600"/>
              </a:spcAft>
            </a:pPr>
            <a:r>
              <a:rPr sz="2400" b="1">
                <a:solidFill>
                  <a:srgbClr val="FFFFFF"/>
                </a:solidFill>
                <a:latin typeface="Montserrat"/>
              </a:rPr>
              <a:t>1</a:t>
            </a:r>
          </a:p>
        </p:txBody>
      </p:sp>
      <p:sp>
        <p:nvSpPr>
          <p:cNvPr id="6" name="TextBox 5"/>
          <p:cNvSpPr txBox="1"/>
          <p:nvPr/>
        </p:nvSpPr>
        <p:spPr>
          <a:xfrm>
            <a:off x="1645920" y="1993392"/>
            <a:ext cx="4754880" cy="457200"/>
          </a:xfrm>
          <a:prstGeom prst="rect">
            <a:avLst/>
          </a:prstGeom>
          <a:noFill/>
        </p:spPr>
        <p:txBody>
          <a:bodyPr wrap="square" anchor="t" lIns="0" rIns="0" tIns="0" bIns="0">
            <a:spAutoFit/>
          </a:bodyPr>
          <a:lstStyle/>
          <a:p>
            <a:pPr algn="l">
              <a:lnSpc>
                <a:spcPct val="110000"/>
              </a:lnSpc>
              <a:spcAft>
                <a:spcPts val="600"/>
              </a:spcAft>
            </a:pPr>
            <a:r>
              <a:rPr sz="2200" b="1">
                <a:solidFill>
                  <a:srgbClr val="1C261E"/>
                </a:solidFill>
                <a:latin typeface="Montserrat"/>
              </a:rPr>
              <a:t>Reģistrējies</a:t>
            </a:r>
          </a:p>
        </p:txBody>
      </p:sp>
      <p:sp>
        <p:nvSpPr>
          <p:cNvPr id="7" name="TextBox 6"/>
          <p:cNvSpPr txBox="1"/>
          <p:nvPr/>
        </p:nvSpPr>
        <p:spPr>
          <a:xfrm>
            <a:off x="1645920" y="2423160"/>
            <a:ext cx="4754880" cy="365760"/>
          </a:xfrm>
          <a:prstGeom prst="rect">
            <a:avLst/>
          </a:prstGeom>
          <a:noFill/>
        </p:spPr>
        <p:txBody>
          <a:bodyPr wrap="square" anchor="t" lIns="0" rIns="0" tIns="0" bIns="0">
            <a:spAutoFit/>
          </a:bodyPr>
          <a:lstStyle/>
          <a:p>
            <a:pPr algn="l">
              <a:lnSpc>
                <a:spcPct val="110000"/>
              </a:lnSpc>
              <a:spcAft>
                <a:spcPts val="600"/>
              </a:spcAft>
            </a:pPr>
            <a:r>
              <a:rPr sz="1500" b="0">
                <a:solidFill>
                  <a:srgbClr val="5B665D"/>
                </a:solidFill>
                <a:latin typeface="Open Sans"/>
              </a:rPr>
              <a:t>Konts lietotnē</a:t>
            </a:r>
          </a:p>
        </p:txBody>
      </p:sp>
      <p:sp>
        <p:nvSpPr>
          <p:cNvPr id="8" name="Oval 7"/>
          <p:cNvSpPr/>
          <p:nvPr/>
        </p:nvSpPr>
        <p:spPr>
          <a:xfrm>
            <a:off x="640080" y="3108960"/>
            <a:ext cx="731520" cy="731520"/>
          </a:xfrm>
          <a:prstGeom prst="ellipse">
            <a:avLst/>
          </a:prstGeom>
          <a:solidFill>
            <a:srgbClr val="244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108960"/>
            <a:ext cx="731520" cy="731520"/>
          </a:xfrm>
          <a:prstGeom prst="rect">
            <a:avLst/>
          </a:prstGeom>
          <a:noFill/>
        </p:spPr>
        <p:txBody>
          <a:bodyPr wrap="square" anchor="ctr" lIns="0" rIns="0" tIns="0" bIns="0">
            <a:spAutoFit/>
          </a:bodyPr>
          <a:lstStyle/>
          <a:p>
            <a:pPr algn="ctr">
              <a:lnSpc>
                <a:spcPct val="110000"/>
              </a:lnSpc>
              <a:spcAft>
                <a:spcPts val="600"/>
              </a:spcAft>
            </a:pPr>
            <a:r>
              <a:rPr sz="2400" b="1">
                <a:solidFill>
                  <a:srgbClr val="FFFFFF"/>
                </a:solidFill>
                <a:latin typeface="Montserrat"/>
              </a:rPr>
              <a:t>2</a:t>
            </a:r>
          </a:p>
        </p:txBody>
      </p:sp>
      <p:sp>
        <p:nvSpPr>
          <p:cNvPr id="10" name="TextBox 9"/>
          <p:cNvSpPr txBox="1"/>
          <p:nvPr/>
        </p:nvSpPr>
        <p:spPr>
          <a:xfrm>
            <a:off x="1645920" y="3090672"/>
            <a:ext cx="4754880" cy="457200"/>
          </a:xfrm>
          <a:prstGeom prst="rect">
            <a:avLst/>
          </a:prstGeom>
          <a:noFill/>
        </p:spPr>
        <p:txBody>
          <a:bodyPr wrap="square" anchor="t" lIns="0" rIns="0" tIns="0" bIns="0">
            <a:spAutoFit/>
          </a:bodyPr>
          <a:lstStyle/>
          <a:p>
            <a:pPr algn="l">
              <a:lnSpc>
                <a:spcPct val="110000"/>
              </a:lnSpc>
              <a:spcAft>
                <a:spcPts val="600"/>
              </a:spcAft>
            </a:pPr>
            <a:r>
              <a:rPr sz="2200" b="1">
                <a:solidFill>
                  <a:srgbClr val="1C261E"/>
                </a:solidFill>
                <a:latin typeface="Montserrat"/>
              </a:rPr>
              <a:t>Piesaki materiālu</a:t>
            </a:r>
          </a:p>
        </p:txBody>
      </p:sp>
      <p:sp>
        <p:nvSpPr>
          <p:cNvPr id="11" name="TextBox 10"/>
          <p:cNvSpPr txBox="1"/>
          <p:nvPr/>
        </p:nvSpPr>
        <p:spPr>
          <a:xfrm>
            <a:off x="1645920" y="3520440"/>
            <a:ext cx="4754880" cy="365760"/>
          </a:xfrm>
          <a:prstGeom prst="rect">
            <a:avLst/>
          </a:prstGeom>
          <a:noFill/>
        </p:spPr>
        <p:txBody>
          <a:bodyPr wrap="square" anchor="t" lIns="0" rIns="0" tIns="0" bIns="0">
            <a:spAutoFit/>
          </a:bodyPr>
          <a:lstStyle/>
          <a:p>
            <a:pPr algn="l">
              <a:lnSpc>
                <a:spcPct val="110000"/>
              </a:lnSpc>
              <a:spcAft>
                <a:spcPts val="600"/>
              </a:spcAft>
            </a:pPr>
            <a:r>
              <a:rPr sz="1500" b="0">
                <a:solidFill>
                  <a:srgbClr val="5B665D"/>
                </a:solidFill>
                <a:latin typeface="Open Sans"/>
              </a:rPr>
              <a:t>Foto, veids, kvalitāte, daudzums</a:t>
            </a:r>
          </a:p>
        </p:txBody>
      </p:sp>
      <p:sp>
        <p:nvSpPr>
          <p:cNvPr id="12" name="Oval 11"/>
          <p:cNvSpPr/>
          <p:nvPr/>
        </p:nvSpPr>
        <p:spPr>
          <a:xfrm>
            <a:off x="640080" y="4206240"/>
            <a:ext cx="731520" cy="731520"/>
          </a:xfrm>
          <a:prstGeom prst="ellipse">
            <a:avLst/>
          </a:prstGeom>
          <a:solidFill>
            <a:srgbClr val="244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06240"/>
            <a:ext cx="731520" cy="731520"/>
          </a:xfrm>
          <a:prstGeom prst="rect">
            <a:avLst/>
          </a:prstGeom>
          <a:noFill/>
        </p:spPr>
        <p:txBody>
          <a:bodyPr wrap="square" anchor="ctr" lIns="0" rIns="0" tIns="0" bIns="0">
            <a:spAutoFit/>
          </a:bodyPr>
          <a:lstStyle/>
          <a:p>
            <a:pPr algn="ctr">
              <a:lnSpc>
                <a:spcPct val="110000"/>
              </a:lnSpc>
              <a:spcAft>
                <a:spcPts val="600"/>
              </a:spcAft>
            </a:pPr>
            <a:r>
              <a:rPr sz="2400" b="1">
                <a:solidFill>
                  <a:srgbClr val="FFFFFF"/>
                </a:solidFill>
                <a:latin typeface="Montserrat"/>
              </a:rPr>
              <a:t>3</a:t>
            </a:r>
          </a:p>
        </p:txBody>
      </p:sp>
      <p:sp>
        <p:nvSpPr>
          <p:cNvPr id="14" name="TextBox 13"/>
          <p:cNvSpPr txBox="1"/>
          <p:nvPr/>
        </p:nvSpPr>
        <p:spPr>
          <a:xfrm>
            <a:off x="1645920" y="4187952"/>
            <a:ext cx="4754880" cy="457200"/>
          </a:xfrm>
          <a:prstGeom prst="rect">
            <a:avLst/>
          </a:prstGeom>
          <a:noFill/>
        </p:spPr>
        <p:txBody>
          <a:bodyPr wrap="square" anchor="t" lIns="0" rIns="0" tIns="0" bIns="0">
            <a:spAutoFit/>
          </a:bodyPr>
          <a:lstStyle/>
          <a:p>
            <a:pPr algn="l">
              <a:lnSpc>
                <a:spcPct val="110000"/>
              </a:lnSpc>
              <a:spcAft>
                <a:spcPts val="600"/>
              </a:spcAft>
            </a:pPr>
            <a:r>
              <a:rPr sz="2200" b="1">
                <a:solidFill>
                  <a:srgbClr val="1C261E"/>
                </a:solidFill>
                <a:latin typeface="Montserrat"/>
              </a:rPr>
              <a:t>Izvēlies punktu kartē</a:t>
            </a:r>
          </a:p>
        </p:txBody>
      </p:sp>
      <p:sp>
        <p:nvSpPr>
          <p:cNvPr id="15" name="TextBox 14"/>
          <p:cNvSpPr txBox="1"/>
          <p:nvPr/>
        </p:nvSpPr>
        <p:spPr>
          <a:xfrm>
            <a:off x="1645920" y="4617720"/>
            <a:ext cx="4754880" cy="365760"/>
          </a:xfrm>
          <a:prstGeom prst="rect">
            <a:avLst/>
          </a:prstGeom>
          <a:noFill/>
        </p:spPr>
        <p:txBody>
          <a:bodyPr wrap="square" anchor="t" lIns="0" rIns="0" tIns="0" bIns="0">
            <a:spAutoFit/>
          </a:bodyPr>
          <a:lstStyle/>
          <a:p>
            <a:pPr algn="l">
              <a:lnSpc>
                <a:spcPct val="110000"/>
              </a:lnSpc>
              <a:spcAft>
                <a:spcPts val="600"/>
              </a:spcAft>
            </a:pPr>
            <a:r>
              <a:rPr sz="1500" b="0">
                <a:solidFill>
                  <a:srgbClr val="5B665D"/>
                </a:solidFill>
                <a:latin typeface="Open Sans"/>
              </a:rPr>
              <a:t>Tikai tur, kur atlīdzība &gt; degvielas izmaksas</a:t>
            </a:r>
          </a:p>
        </p:txBody>
      </p:sp>
      <p:sp>
        <p:nvSpPr>
          <p:cNvPr id="16" name="Oval 15"/>
          <p:cNvSpPr/>
          <p:nvPr/>
        </p:nvSpPr>
        <p:spPr>
          <a:xfrm>
            <a:off x="640080" y="5303520"/>
            <a:ext cx="731520" cy="731520"/>
          </a:xfrm>
          <a:prstGeom prst="ellipse">
            <a:avLst/>
          </a:prstGeom>
          <a:solidFill>
            <a:srgbClr val="244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303520"/>
            <a:ext cx="731520" cy="731520"/>
          </a:xfrm>
          <a:prstGeom prst="rect">
            <a:avLst/>
          </a:prstGeom>
          <a:noFill/>
        </p:spPr>
        <p:txBody>
          <a:bodyPr wrap="square" anchor="ctr" lIns="0" rIns="0" tIns="0" bIns="0">
            <a:spAutoFit/>
          </a:bodyPr>
          <a:lstStyle/>
          <a:p>
            <a:pPr algn="ctr">
              <a:lnSpc>
                <a:spcPct val="110000"/>
              </a:lnSpc>
              <a:spcAft>
                <a:spcPts val="600"/>
              </a:spcAft>
            </a:pPr>
            <a:r>
              <a:rPr sz="2400" b="1">
                <a:solidFill>
                  <a:srgbClr val="FFFFFF"/>
                </a:solidFill>
                <a:latin typeface="Montserrat"/>
              </a:rPr>
              <a:t>4</a:t>
            </a:r>
          </a:p>
        </p:txBody>
      </p:sp>
      <p:sp>
        <p:nvSpPr>
          <p:cNvPr id="18" name="TextBox 17"/>
          <p:cNvSpPr txBox="1"/>
          <p:nvPr/>
        </p:nvSpPr>
        <p:spPr>
          <a:xfrm>
            <a:off x="1645920" y="5285232"/>
            <a:ext cx="4754880" cy="457200"/>
          </a:xfrm>
          <a:prstGeom prst="rect">
            <a:avLst/>
          </a:prstGeom>
          <a:noFill/>
        </p:spPr>
        <p:txBody>
          <a:bodyPr wrap="square" anchor="t" lIns="0" rIns="0" tIns="0" bIns="0">
            <a:spAutoFit/>
          </a:bodyPr>
          <a:lstStyle/>
          <a:p>
            <a:pPr algn="l">
              <a:lnSpc>
                <a:spcPct val="110000"/>
              </a:lnSpc>
              <a:spcAft>
                <a:spcPts val="600"/>
              </a:spcAft>
            </a:pPr>
            <a:r>
              <a:rPr sz="2200" b="1">
                <a:solidFill>
                  <a:srgbClr val="1C261E"/>
                </a:solidFill>
                <a:latin typeface="Montserrat"/>
              </a:rPr>
              <a:t>Nodod un saņem</a:t>
            </a:r>
          </a:p>
        </p:txBody>
      </p:sp>
      <p:sp>
        <p:nvSpPr>
          <p:cNvPr id="19" name="TextBox 18"/>
          <p:cNvSpPr txBox="1"/>
          <p:nvPr/>
        </p:nvSpPr>
        <p:spPr>
          <a:xfrm>
            <a:off x="1645920" y="5715000"/>
            <a:ext cx="4754880" cy="365760"/>
          </a:xfrm>
          <a:prstGeom prst="rect">
            <a:avLst/>
          </a:prstGeom>
          <a:noFill/>
        </p:spPr>
        <p:txBody>
          <a:bodyPr wrap="square" anchor="t" lIns="0" rIns="0" tIns="0" bIns="0">
            <a:spAutoFit/>
          </a:bodyPr>
          <a:lstStyle/>
          <a:p>
            <a:pPr algn="l">
              <a:lnSpc>
                <a:spcPct val="110000"/>
              </a:lnSpc>
              <a:spcAft>
                <a:spcPts val="600"/>
              </a:spcAft>
            </a:pPr>
            <a:r>
              <a:rPr sz="1500" b="0">
                <a:solidFill>
                  <a:srgbClr val="5B665D"/>
                </a:solidFill>
                <a:latin typeface="Open Sans"/>
              </a:rPr>
              <a:t>Nosver, pārbauda, atlīdzība kontā</a:t>
            </a:r>
          </a:p>
        </p:txBody>
      </p:sp>
      <p:sp>
        <p:nvSpPr>
          <p:cNvPr id="20" name="Rounded Rectangle 19"/>
          <p:cNvSpPr/>
          <p:nvPr/>
        </p:nvSpPr>
        <p:spPr>
          <a:xfrm>
            <a:off x="7589520" y="548640"/>
            <a:ext cx="3291840" cy="5760720"/>
          </a:xfrm>
          <a:prstGeom prst="roundRect">
            <a:avLst>
              <a:gd name="adj" fmla="val 8000"/>
            </a:avLst>
          </a:prstGeom>
          <a:solidFill>
            <a:srgbClr val="244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26679" y="685800"/>
            <a:ext cx="3017520" cy="5486400"/>
          </a:xfrm>
          <a:prstGeom prst="roundRect">
            <a:avLst>
              <a:gd name="adj" fmla="val 8000"/>
            </a:avLst>
          </a:prstGeom>
          <a:solidFill>
            <a:srgbClr val="CF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6679" y="685800"/>
            <a:ext cx="3017520" cy="5486400"/>
          </a:xfrm>
          <a:prstGeom prst="rect">
            <a:avLst/>
          </a:prstGeom>
          <a:noFill/>
        </p:spPr>
        <p:txBody>
          <a:bodyPr wrap="square" anchor="ctr" lIns="0" rIns="0" tIns="0" bIns="0">
            <a:spAutoFit/>
          </a:bodyPr>
          <a:lstStyle/>
          <a:p>
            <a:pPr algn="ctr">
              <a:lnSpc>
                <a:spcPct val="110000"/>
              </a:lnSpc>
              <a:spcAft>
                <a:spcPts val="600"/>
              </a:spcAft>
            </a:pPr>
            <a:r>
              <a:rPr sz="1600" b="0">
                <a:solidFill>
                  <a:srgbClr val="244A30"/>
                </a:solidFill>
                <a:latin typeface="Open Sans"/>
              </a:rPr>
              <a:t>VIDEO</a:t>
            </a:r>
          </a:p>
          <a:p>
            <a:pPr algn="ctr">
              <a:lnSpc>
                <a:spcPct val="110000"/>
              </a:lnSpc>
              <a:spcAft>
                <a:spcPts val="600"/>
              </a:spcAft>
            </a:pPr>
            <a:r>
              <a:rPr sz="1600" b="0">
                <a:solidFill>
                  <a:srgbClr val="244A30"/>
                </a:solidFill>
                <a:latin typeface="Open Sans"/>
              </a:rPr>
              <a:t>no lietotnes</a:t>
            </a:r>
          </a:p>
          <a:p>
            <a:pPr algn="ctr">
              <a:lnSpc>
                <a:spcPct val="110000"/>
              </a:lnSpc>
              <a:spcAft>
                <a:spcPts val="600"/>
              </a:spcAft>
            </a:pPr>
            <a:r>
              <a:rPr sz="1600" b="0">
                <a:solidFill>
                  <a:srgbClr val="244A30"/>
                </a:solidFill>
                <a:latin typeface="Open Sans"/>
              </a:rPr>
              <a:t>(ievelc Canva)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3EA"/>
        </a:solidFill>
        <a:effectLst/>
      </p:bgPr>
    </p:bg>
    <p:spTree>
      <p:nvGrpSpPr>
        <p:cNvPr id="1" name=""/>
        <p:cNvGrpSpPr/>
        <p:nvPr/>
      </p:nvGrpSpPr>
      <p:grpSpPr/>
      <p:sp>
        <p:nvSpPr>
          <p:cNvPr id="2" name="TextBox 1"/>
          <p:cNvSpPr txBox="1"/>
          <p:nvPr/>
        </p:nvSpPr>
        <p:spPr>
          <a:xfrm>
            <a:off x="640080" y="548640"/>
            <a:ext cx="7315200" cy="365760"/>
          </a:xfrm>
          <a:prstGeom prst="rect">
            <a:avLst/>
          </a:prstGeom>
          <a:noFill/>
        </p:spPr>
        <p:txBody>
          <a:bodyPr wrap="square" anchor="t" lIns="0" rIns="0" tIns="0" bIns="0">
            <a:spAutoFit/>
          </a:bodyPr>
          <a:lstStyle/>
          <a:p>
            <a:pPr algn="l">
              <a:lnSpc>
                <a:spcPct val="110000"/>
              </a:lnSpc>
              <a:spcAft>
                <a:spcPts val="600"/>
              </a:spcAft>
            </a:pPr>
            <a:r>
              <a:rPr sz="1300" b="1">
                <a:solidFill>
                  <a:srgbClr val="5E8C5A"/>
                </a:solidFill>
                <a:latin typeface="Montserrat"/>
              </a:rPr>
              <a:t>EKONOMIKA</a:t>
            </a:r>
          </a:p>
        </p:txBody>
      </p:sp>
      <p:sp>
        <p:nvSpPr>
          <p:cNvPr id="3" name="TextBox 2"/>
          <p:cNvSpPr txBox="1"/>
          <p:nvPr/>
        </p:nvSpPr>
        <p:spPr>
          <a:xfrm>
            <a:off x="640080" y="914400"/>
            <a:ext cx="10972800" cy="822960"/>
          </a:xfrm>
          <a:prstGeom prst="rect">
            <a:avLst/>
          </a:prstGeom>
          <a:noFill/>
        </p:spPr>
        <p:txBody>
          <a:bodyPr wrap="square" anchor="t" lIns="0" rIns="0" tIns="0" bIns="0">
            <a:spAutoFit/>
          </a:bodyPr>
          <a:lstStyle/>
          <a:p>
            <a:pPr algn="l">
              <a:lnSpc>
                <a:spcPct val="110000"/>
              </a:lnSpc>
              <a:spcAft>
                <a:spcPts val="600"/>
              </a:spcAft>
            </a:pPr>
            <a:r>
              <a:rPr sz="4000" b="1">
                <a:solidFill>
                  <a:srgbClr val="244A30"/>
                </a:solidFill>
                <a:latin typeface="Montserrat"/>
              </a:rPr>
              <a:t>Cik var maksāt — godīgi</a:t>
            </a:r>
          </a:p>
        </p:txBody>
      </p:sp>
      <p:sp>
        <p:nvSpPr>
          <p:cNvPr id="4" name="Rounded Rectangle 3"/>
          <p:cNvSpPr/>
          <p:nvPr/>
        </p:nvSpPr>
        <p:spPr>
          <a:xfrm>
            <a:off x="640080" y="2011680"/>
            <a:ext cx="3291840" cy="4206240"/>
          </a:xfrm>
          <a:prstGeom prst="roundRect">
            <a:avLst>
              <a:gd name="adj" fmla="val 8000"/>
            </a:avLst>
          </a:prstGeom>
          <a:solidFill>
            <a:srgbClr val="244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377440"/>
            <a:ext cx="2743200" cy="1097280"/>
          </a:xfrm>
          <a:prstGeom prst="rect">
            <a:avLst/>
          </a:prstGeom>
          <a:noFill/>
        </p:spPr>
        <p:txBody>
          <a:bodyPr wrap="square" anchor="t" lIns="0" rIns="0" tIns="0" bIns="0">
            <a:spAutoFit/>
          </a:bodyPr>
          <a:lstStyle/>
          <a:p>
            <a:pPr algn="l">
              <a:lnSpc>
                <a:spcPct val="110000"/>
              </a:lnSpc>
              <a:spcAft>
                <a:spcPts val="600"/>
              </a:spcAft>
            </a:pPr>
            <a:r>
              <a:rPr sz="6400" b="1">
                <a:solidFill>
                  <a:srgbClr val="FFFFFF"/>
                </a:solidFill>
                <a:latin typeface="Montserrat"/>
              </a:rPr>
              <a:t>~2 %</a:t>
            </a:r>
          </a:p>
        </p:txBody>
      </p:sp>
      <p:sp>
        <p:nvSpPr>
          <p:cNvPr id="6" name="TextBox 5"/>
          <p:cNvSpPr txBox="1"/>
          <p:nvPr/>
        </p:nvSpPr>
        <p:spPr>
          <a:xfrm>
            <a:off x="914400" y="3566160"/>
            <a:ext cx="2743200" cy="1463040"/>
          </a:xfrm>
          <a:prstGeom prst="rect">
            <a:avLst/>
          </a:prstGeom>
          <a:noFill/>
        </p:spPr>
        <p:txBody>
          <a:bodyPr wrap="square" anchor="t" lIns="0" rIns="0" tIns="0" bIns="0">
            <a:spAutoFit/>
          </a:bodyPr>
          <a:lstStyle/>
          <a:p>
            <a:pPr algn="l">
              <a:lnSpc>
                <a:spcPct val="110000"/>
              </a:lnSpc>
              <a:spcAft>
                <a:spcPts val="600"/>
              </a:spcAft>
            </a:pPr>
            <a:r>
              <a:rPr sz="1600" b="0">
                <a:solidFill>
                  <a:srgbClr val="CFE0C8"/>
                </a:solidFill>
                <a:latin typeface="Open Sans"/>
              </a:rPr>
              <a:t>pārstrādātāju peļņa — tāpēc par betonu lielu naudu nesolām</a:t>
            </a:r>
          </a:p>
        </p:txBody>
      </p:sp>
      <p:sp>
        <p:nvSpPr>
          <p:cNvPr id="7" name="TextBox 6"/>
          <p:cNvSpPr txBox="1"/>
          <p:nvPr/>
        </p:nvSpPr>
        <p:spPr>
          <a:xfrm>
            <a:off x="914400" y="5257800"/>
            <a:ext cx="2743200" cy="822960"/>
          </a:xfrm>
          <a:prstGeom prst="rect">
            <a:avLst/>
          </a:prstGeom>
          <a:noFill/>
        </p:spPr>
        <p:txBody>
          <a:bodyPr wrap="square" anchor="t" lIns="0" rIns="0" tIns="0" bIns="0">
            <a:spAutoFit/>
          </a:bodyPr>
          <a:lstStyle/>
          <a:p>
            <a:pPr algn="l">
              <a:lnSpc>
                <a:spcPct val="110000"/>
              </a:lnSpc>
              <a:spcAft>
                <a:spcPts val="600"/>
              </a:spcAft>
            </a:pPr>
            <a:r>
              <a:rPr sz="1100" b="0">
                <a:solidFill>
                  <a:srgbClr val="CFE0C8"/>
                </a:solidFill>
                <a:latin typeface="Open Sans"/>
              </a:rPr>
              <a:t>SIA Būvgružu Pārstrāde 2024: 869 tūkst. € apgrozījums, 13,7 tūkst. € peļņa</a:t>
            </a:r>
          </a:p>
        </p:txBody>
      </p:sp>
      <p:sp>
        <p:nvSpPr>
          <p:cNvPr id="8" name="Rounded Rectangle 7"/>
          <p:cNvSpPr/>
          <p:nvPr/>
        </p:nvSpPr>
        <p:spPr>
          <a:xfrm>
            <a:off x="4206240" y="2011680"/>
            <a:ext cx="7360920"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011680"/>
            <a:ext cx="2377440" cy="731520"/>
          </a:xfrm>
          <a:prstGeom prst="rect">
            <a:avLst/>
          </a:prstGeom>
          <a:noFill/>
        </p:spPr>
        <p:txBody>
          <a:bodyPr wrap="square" anchor="ctr" lIns="0" rIns="0" tIns="0" bIns="0">
            <a:spAutoFit/>
          </a:bodyPr>
          <a:lstStyle/>
          <a:p>
            <a:pPr algn="l">
              <a:lnSpc>
                <a:spcPct val="110000"/>
              </a:lnSpc>
              <a:spcAft>
                <a:spcPts val="600"/>
              </a:spcAft>
            </a:pPr>
            <a:r>
              <a:rPr sz="2000" b="1">
                <a:solidFill>
                  <a:srgbClr val="1C261E"/>
                </a:solidFill>
                <a:latin typeface="Montserrat"/>
              </a:rPr>
              <a:t>Koksne</a:t>
            </a:r>
          </a:p>
        </p:txBody>
      </p:sp>
      <p:sp>
        <p:nvSpPr>
          <p:cNvPr id="10" name="TextBox 9"/>
          <p:cNvSpPr txBox="1"/>
          <p:nvPr/>
        </p:nvSpPr>
        <p:spPr>
          <a:xfrm>
            <a:off x="6766560" y="2011680"/>
            <a:ext cx="2194560" cy="731520"/>
          </a:xfrm>
          <a:prstGeom prst="rect">
            <a:avLst/>
          </a:prstGeom>
          <a:noFill/>
        </p:spPr>
        <p:txBody>
          <a:bodyPr wrap="square" anchor="ctr" lIns="0" rIns="0" tIns="0" bIns="0">
            <a:spAutoFit/>
          </a:bodyPr>
          <a:lstStyle/>
          <a:p>
            <a:pPr algn="l">
              <a:lnSpc>
                <a:spcPct val="110000"/>
              </a:lnSpc>
              <a:spcAft>
                <a:spcPts val="600"/>
              </a:spcAft>
            </a:pPr>
            <a:r>
              <a:rPr sz="2200" b="1">
                <a:solidFill>
                  <a:srgbClr val="244A30"/>
                </a:solidFill>
                <a:latin typeface="Montserrat"/>
              </a:rPr>
              <a:t>15–30 €/t</a:t>
            </a:r>
          </a:p>
        </p:txBody>
      </p:sp>
      <p:sp>
        <p:nvSpPr>
          <p:cNvPr id="11" name="TextBox 10"/>
          <p:cNvSpPr txBox="1"/>
          <p:nvPr/>
        </p:nvSpPr>
        <p:spPr>
          <a:xfrm>
            <a:off x="9052560" y="2011680"/>
            <a:ext cx="2377440" cy="731520"/>
          </a:xfrm>
          <a:prstGeom prst="rect">
            <a:avLst/>
          </a:prstGeom>
          <a:noFill/>
        </p:spPr>
        <p:txBody>
          <a:bodyPr wrap="square" anchor="ctr" lIns="0" rIns="0" tIns="0" bIns="0">
            <a:spAutoFit/>
          </a:bodyPr>
          <a:lstStyle/>
          <a:p>
            <a:pPr algn="l">
              <a:lnSpc>
                <a:spcPct val="110000"/>
              </a:lnSpc>
              <a:spcAft>
                <a:spcPts val="600"/>
              </a:spcAft>
            </a:pPr>
            <a:r>
              <a:rPr sz="1500" b="0">
                <a:solidFill>
                  <a:srgbClr val="5B665D"/>
                </a:solidFill>
                <a:latin typeface="Open Sans"/>
              </a:rPr>
              <a:t>nauda</a:t>
            </a:r>
          </a:p>
        </p:txBody>
      </p:sp>
      <p:sp>
        <p:nvSpPr>
          <p:cNvPr id="12" name="Rounded Rectangle 11"/>
          <p:cNvSpPr/>
          <p:nvPr/>
        </p:nvSpPr>
        <p:spPr>
          <a:xfrm>
            <a:off x="4206240" y="2880360"/>
            <a:ext cx="7360920"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880360"/>
            <a:ext cx="2377440" cy="731520"/>
          </a:xfrm>
          <a:prstGeom prst="rect">
            <a:avLst/>
          </a:prstGeom>
          <a:noFill/>
        </p:spPr>
        <p:txBody>
          <a:bodyPr wrap="square" anchor="ctr" lIns="0" rIns="0" tIns="0" bIns="0">
            <a:spAutoFit/>
          </a:bodyPr>
          <a:lstStyle/>
          <a:p>
            <a:pPr algn="l">
              <a:lnSpc>
                <a:spcPct val="110000"/>
              </a:lnSpc>
              <a:spcAft>
                <a:spcPts val="600"/>
              </a:spcAft>
            </a:pPr>
            <a:r>
              <a:rPr sz="2000" b="1">
                <a:solidFill>
                  <a:srgbClr val="1C261E"/>
                </a:solidFill>
                <a:latin typeface="Montserrat"/>
              </a:rPr>
              <a:t>Betons</a:t>
            </a:r>
          </a:p>
        </p:txBody>
      </p:sp>
      <p:sp>
        <p:nvSpPr>
          <p:cNvPr id="14" name="TextBox 13"/>
          <p:cNvSpPr txBox="1"/>
          <p:nvPr/>
        </p:nvSpPr>
        <p:spPr>
          <a:xfrm>
            <a:off x="6766560" y="2880360"/>
            <a:ext cx="2194560" cy="731520"/>
          </a:xfrm>
          <a:prstGeom prst="rect">
            <a:avLst/>
          </a:prstGeom>
          <a:noFill/>
        </p:spPr>
        <p:txBody>
          <a:bodyPr wrap="square" anchor="ctr" lIns="0" rIns="0" tIns="0" bIns="0">
            <a:spAutoFit/>
          </a:bodyPr>
          <a:lstStyle/>
          <a:p>
            <a:pPr algn="l">
              <a:lnSpc>
                <a:spcPct val="110000"/>
              </a:lnSpc>
              <a:spcAft>
                <a:spcPts val="600"/>
              </a:spcAft>
            </a:pPr>
            <a:r>
              <a:rPr sz="2200" b="1">
                <a:solidFill>
                  <a:srgbClr val="244A30"/>
                </a:solidFill>
                <a:latin typeface="Montserrat"/>
              </a:rPr>
              <a:t>1–3 €/t</a:t>
            </a:r>
          </a:p>
        </p:txBody>
      </p:sp>
      <p:sp>
        <p:nvSpPr>
          <p:cNvPr id="15" name="TextBox 14"/>
          <p:cNvSpPr txBox="1"/>
          <p:nvPr/>
        </p:nvSpPr>
        <p:spPr>
          <a:xfrm>
            <a:off x="9052560" y="2880360"/>
            <a:ext cx="2377440" cy="731520"/>
          </a:xfrm>
          <a:prstGeom prst="rect">
            <a:avLst/>
          </a:prstGeom>
          <a:noFill/>
        </p:spPr>
        <p:txBody>
          <a:bodyPr wrap="square" anchor="ctr" lIns="0" rIns="0" tIns="0" bIns="0">
            <a:spAutoFit/>
          </a:bodyPr>
          <a:lstStyle/>
          <a:p>
            <a:pPr algn="l">
              <a:lnSpc>
                <a:spcPct val="110000"/>
              </a:lnSpc>
              <a:spcAft>
                <a:spcPts val="600"/>
              </a:spcAft>
            </a:pPr>
            <a:r>
              <a:rPr sz="1500" b="0">
                <a:solidFill>
                  <a:srgbClr val="5B665D"/>
                </a:solidFill>
                <a:latin typeface="Open Sans"/>
              </a:rPr>
              <a:t>punkti / šķembas</a:t>
            </a:r>
          </a:p>
        </p:txBody>
      </p:sp>
      <p:sp>
        <p:nvSpPr>
          <p:cNvPr id="16" name="Rounded Rectangle 15"/>
          <p:cNvSpPr/>
          <p:nvPr/>
        </p:nvSpPr>
        <p:spPr>
          <a:xfrm>
            <a:off x="4206240" y="3749039"/>
            <a:ext cx="7360920"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749039"/>
            <a:ext cx="2377440" cy="731520"/>
          </a:xfrm>
          <a:prstGeom prst="rect">
            <a:avLst/>
          </a:prstGeom>
          <a:noFill/>
        </p:spPr>
        <p:txBody>
          <a:bodyPr wrap="square" anchor="ctr" lIns="0" rIns="0" tIns="0" bIns="0">
            <a:spAutoFit/>
          </a:bodyPr>
          <a:lstStyle/>
          <a:p>
            <a:pPr algn="l">
              <a:lnSpc>
                <a:spcPct val="110000"/>
              </a:lnSpc>
              <a:spcAft>
                <a:spcPts val="600"/>
              </a:spcAft>
            </a:pPr>
            <a:r>
              <a:rPr sz="2000" b="1">
                <a:solidFill>
                  <a:srgbClr val="1C261E"/>
                </a:solidFill>
                <a:latin typeface="Montserrat"/>
              </a:rPr>
              <a:t>Ķieģeļi</a:t>
            </a:r>
          </a:p>
        </p:txBody>
      </p:sp>
      <p:sp>
        <p:nvSpPr>
          <p:cNvPr id="18" name="TextBox 17"/>
          <p:cNvSpPr txBox="1"/>
          <p:nvPr/>
        </p:nvSpPr>
        <p:spPr>
          <a:xfrm>
            <a:off x="6766560" y="3749039"/>
            <a:ext cx="2194560" cy="731520"/>
          </a:xfrm>
          <a:prstGeom prst="rect">
            <a:avLst/>
          </a:prstGeom>
          <a:noFill/>
        </p:spPr>
        <p:txBody>
          <a:bodyPr wrap="square" anchor="ctr" lIns="0" rIns="0" tIns="0" bIns="0">
            <a:spAutoFit/>
          </a:bodyPr>
          <a:lstStyle/>
          <a:p>
            <a:pPr algn="l">
              <a:lnSpc>
                <a:spcPct val="110000"/>
              </a:lnSpc>
              <a:spcAft>
                <a:spcPts val="600"/>
              </a:spcAft>
            </a:pPr>
            <a:r>
              <a:rPr sz="2200" b="1">
                <a:solidFill>
                  <a:srgbClr val="244A30"/>
                </a:solidFill>
                <a:latin typeface="Montserrat"/>
              </a:rPr>
              <a:t>0,5–1,5 €/t</a:t>
            </a:r>
          </a:p>
        </p:txBody>
      </p:sp>
      <p:sp>
        <p:nvSpPr>
          <p:cNvPr id="19" name="TextBox 18"/>
          <p:cNvSpPr txBox="1"/>
          <p:nvPr/>
        </p:nvSpPr>
        <p:spPr>
          <a:xfrm>
            <a:off x="9052560" y="3749039"/>
            <a:ext cx="2377440" cy="731520"/>
          </a:xfrm>
          <a:prstGeom prst="rect">
            <a:avLst/>
          </a:prstGeom>
          <a:noFill/>
        </p:spPr>
        <p:txBody>
          <a:bodyPr wrap="square" anchor="ctr" lIns="0" rIns="0" tIns="0" bIns="0">
            <a:spAutoFit/>
          </a:bodyPr>
          <a:lstStyle/>
          <a:p>
            <a:pPr algn="l">
              <a:lnSpc>
                <a:spcPct val="110000"/>
              </a:lnSpc>
              <a:spcAft>
                <a:spcPts val="600"/>
              </a:spcAft>
            </a:pPr>
            <a:r>
              <a:rPr sz="1500" b="0">
                <a:solidFill>
                  <a:srgbClr val="5B665D"/>
                </a:solidFill>
                <a:latin typeface="Open Sans"/>
              </a:rPr>
              <a:t>punkti / šķembas</a:t>
            </a:r>
          </a:p>
        </p:txBody>
      </p:sp>
      <p:sp>
        <p:nvSpPr>
          <p:cNvPr id="20" name="Rounded Rectangle 19"/>
          <p:cNvSpPr/>
          <p:nvPr/>
        </p:nvSpPr>
        <p:spPr>
          <a:xfrm>
            <a:off x="4206240" y="4709160"/>
            <a:ext cx="7360920" cy="685800"/>
          </a:xfrm>
          <a:prstGeom prst="roundRect">
            <a:avLst>
              <a:gd name="adj" fmla="val 8000"/>
            </a:avLst>
          </a:prstGeom>
          <a:solidFill>
            <a:srgbClr val="5E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4709160"/>
            <a:ext cx="6949440" cy="685800"/>
          </a:xfrm>
          <a:prstGeom prst="rect">
            <a:avLst/>
          </a:prstGeom>
          <a:noFill/>
        </p:spPr>
        <p:txBody>
          <a:bodyPr wrap="square" anchor="ctr" lIns="0" rIns="0" tIns="0" bIns="0">
            <a:spAutoFit/>
          </a:bodyPr>
          <a:lstStyle/>
          <a:p>
            <a:pPr algn="l">
              <a:lnSpc>
                <a:spcPct val="110000"/>
              </a:lnSpc>
              <a:spcAft>
                <a:spcPts val="600"/>
              </a:spcAft>
            </a:pPr>
            <a:r>
              <a:rPr sz="1500" b="1">
                <a:solidFill>
                  <a:srgbClr val="FFFFFF"/>
                </a:solidFill>
                <a:latin typeface="Montserrat"/>
              </a:rPr>
              <a:t>Atlīdzība = svars × bāzes cena × kvalitāte (A = 1 · B = 0,3–0,5 · C = 0)</a:t>
            </a:r>
          </a:p>
        </p:txBody>
      </p:sp>
      <p:sp>
        <p:nvSpPr>
          <p:cNvPr id="22" name="TextBox 21"/>
          <p:cNvSpPr txBox="1"/>
          <p:nvPr/>
        </p:nvSpPr>
        <p:spPr>
          <a:xfrm>
            <a:off x="4206240" y="5577840"/>
            <a:ext cx="7360920" cy="731520"/>
          </a:xfrm>
          <a:prstGeom prst="rect">
            <a:avLst/>
          </a:prstGeom>
          <a:noFill/>
        </p:spPr>
        <p:txBody>
          <a:bodyPr wrap="square" anchor="t" lIns="0" rIns="0" tIns="0" bIns="0">
            <a:spAutoFit/>
          </a:bodyPr>
          <a:lstStyle/>
          <a:p>
            <a:pPr algn="l">
              <a:lnSpc>
                <a:spcPct val="110000"/>
              </a:lnSpc>
              <a:spcAft>
                <a:spcPts val="600"/>
              </a:spcAft>
            </a:pPr>
            <a:r>
              <a:rPr sz="1400" b="0">
                <a:solidFill>
                  <a:srgbClr val="1C261E"/>
                </a:solidFill>
                <a:latin typeface="Open Sans"/>
              </a:rPr>
              <a:t>Lietotne nepelna — uzturēšanu sedz pašvaldība, kas ietaupa uz izgāztuvju sakopšanu. Sākums: pilotprojekts vienā pašvaldībā.</a:t>
            </a:r>
          </a:p>
          <a:p>
            <a:pPr algn="l">
              <a:lnSpc>
                <a:spcPct val="110000"/>
              </a:lnSpc>
              <a:spcAft>
                <a:spcPts val="600"/>
              </a:spcAft>
            </a:pPr>
            <a:r>
              <a:rPr sz="1000" b="0">
                <a:solidFill>
                  <a:srgbClr val="5B665D"/>
                </a:solidFill>
                <a:latin typeface="Open Sans"/>
              </a:rPr>
              <a:t>€/t — aplēses, jāpārbauda ar uzņēmumiem.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44A30"/>
        </a:solidFill>
        <a:effectLst/>
      </p:bgPr>
    </p:bg>
    <p:spTree>
      <p:nvGrpSpPr>
        <p:cNvPr id="1" name=""/>
        <p:cNvGrpSpPr/>
        <p:nvPr/>
      </p:nvGrpSpPr>
      <p:grpSpPr/>
      <p:sp>
        <p:nvSpPr>
          <p:cNvPr id="2" name="TextBox 1"/>
          <p:cNvSpPr txBox="1"/>
          <p:nvPr/>
        </p:nvSpPr>
        <p:spPr>
          <a:xfrm>
            <a:off x="640080" y="1463040"/>
            <a:ext cx="10881360" cy="2377440"/>
          </a:xfrm>
          <a:prstGeom prst="rect">
            <a:avLst/>
          </a:prstGeom>
          <a:noFill/>
        </p:spPr>
        <p:txBody>
          <a:bodyPr wrap="square" anchor="t" lIns="0" rIns="0" tIns="0" bIns="0">
            <a:spAutoFit/>
          </a:bodyPr>
          <a:lstStyle/>
          <a:p>
            <a:pPr algn="ctr">
              <a:lnSpc>
                <a:spcPct val="100000"/>
              </a:lnSpc>
              <a:spcAft>
                <a:spcPts val="600"/>
              </a:spcAft>
            </a:pPr>
            <a:r>
              <a:rPr sz="4800" b="1">
                <a:solidFill>
                  <a:srgbClr val="FFFFFF"/>
                </a:solidFill>
                <a:latin typeface="Montserrat"/>
              </a:rPr>
              <a:t>Lai būvgruži atgrieztos būvniecībā, nevis mežā</a:t>
            </a:r>
          </a:p>
        </p:txBody>
      </p:sp>
      <p:sp>
        <p:nvSpPr>
          <p:cNvPr id="3" name="TextBox 2"/>
          <p:cNvSpPr txBox="1"/>
          <p:nvPr/>
        </p:nvSpPr>
        <p:spPr>
          <a:xfrm>
            <a:off x="640080" y="3931920"/>
            <a:ext cx="10881360" cy="640080"/>
          </a:xfrm>
          <a:prstGeom prst="rect">
            <a:avLst/>
          </a:prstGeom>
          <a:noFill/>
        </p:spPr>
        <p:txBody>
          <a:bodyPr wrap="square" anchor="t" lIns="0" rIns="0" tIns="0" bIns="0">
            <a:spAutoFit/>
          </a:bodyPr>
          <a:lstStyle/>
          <a:p>
            <a:pPr algn="ctr">
              <a:lnSpc>
                <a:spcPct val="110000"/>
              </a:lnSpc>
              <a:spcAft>
                <a:spcPts val="600"/>
              </a:spcAft>
            </a:pPr>
            <a:r>
              <a:rPr sz="2800" b="1">
                <a:solidFill>
                  <a:srgbClr val="CFE0C8"/>
                </a:solidFill>
                <a:latin typeface="Montserrat"/>
              </a:rPr>
              <a:t>Būvgružu birža</a:t>
            </a:r>
          </a:p>
        </p:txBody>
      </p:sp>
      <p:sp>
        <p:nvSpPr>
          <p:cNvPr id="4" name="TextBox 3"/>
          <p:cNvSpPr txBox="1"/>
          <p:nvPr/>
        </p:nvSpPr>
        <p:spPr>
          <a:xfrm>
            <a:off x="640080" y="4572000"/>
            <a:ext cx="10881360" cy="457200"/>
          </a:xfrm>
          <a:prstGeom prst="rect">
            <a:avLst/>
          </a:prstGeom>
          <a:noFill/>
        </p:spPr>
        <p:txBody>
          <a:bodyPr wrap="square" anchor="t" lIns="0" rIns="0" tIns="0" bIns="0">
            <a:spAutoFit/>
          </a:bodyPr>
          <a:lstStyle/>
          <a:p>
            <a:pPr algn="ctr">
              <a:lnSpc>
                <a:spcPct val="110000"/>
              </a:lnSpc>
              <a:spcAft>
                <a:spcPts val="600"/>
              </a:spcAft>
            </a:pPr>
            <a:r>
              <a:rPr sz="1800" b="0">
                <a:solidFill>
                  <a:srgbClr val="CFE0C8"/>
                </a:solidFill>
                <a:latin typeface="Open Sans"/>
              </a:rPr>
              <a:t>Komanda Alanguka</a:t>
            </a:r>
          </a:p>
        </p:txBody>
      </p:sp>
      <p:sp>
        <p:nvSpPr>
          <p:cNvPr id="5" name="TextBox 4"/>
          <p:cNvSpPr txBox="1"/>
          <p:nvPr/>
        </p:nvSpPr>
        <p:spPr>
          <a:xfrm>
            <a:off x="640080" y="5669280"/>
            <a:ext cx="10881360" cy="548640"/>
          </a:xfrm>
          <a:prstGeom prst="rect">
            <a:avLst/>
          </a:prstGeom>
          <a:noFill/>
        </p:spPr>
        <p:txBody>
          <a:bodyPr wrap="square" anchor="t" lIns="0" rIns="0" tIns="0" bIns="0">
            <a:spAutoFit/>
          </a:bodyPr>
          <a:lstStyle/>
          <a:p>
            <a:pPr algn="ctr">
              <a:lnSpc>
                <a:spcPct val="110000"/>
              </a:lnSpc>
              <a:spcAft>
                <a:spcPts val="600"/>
              </a:spcAft>
            </a:pPr>
            <a:r>
              <a:rPr sz="2200" b="0">
                <a:solidFill>
                  <a:srgbClr val="FFFFFF"/>
                </a:solidFill>
                <a:latin typeface="Open Sans"/>
              </a:rPr>
              <a:t>Paldies! Jautājumi?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
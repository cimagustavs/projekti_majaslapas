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 Iedomājieties: jūs remontējat dzīvokli, un jums ir 30 maisi ar betonu un flīzēm. Nav piekabes, nezināt, kur tos nodot. Internetā — "izvedam būvgružus lēti". Viens zvans, un problēma atrisināta. Bet daļa šo gružu nonāk mežā. Būvniecība patērē pusi no visiem zemē iegūtajiem resursiem, un būvgruži ir vairāk nekā trešdaļa no visiem ES atkritumiem. Problēma nav cilvēkos. Problēma ir tā, ka nelegālais ceļš ir lētāks un vienkāršāks.</a:t>
            </a:r>
          </a:p>
          <a:p/>
          <a:p>
            <a:r>
              <a:t>Foto avots: https://iauto.lv/zinas/latvija/49412-izg-atkritumus-me-k-tdus-cilvkus-nosaukt-foto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Mūsu risinājums ir Būvgružu birža — aprites ekonomikas platforma, kas savieno cilvēkus, kuriem ir būvgruži, ar uzņēmumiem, kas tos pārstrādā. Princips kā pudeļu depozītam — nodod un saņem. Cilvēkiem: bezmaksas nodošana un atlīdzība — par koksni nauda, par betonu punkti. Uzņēmumiem: tīrs materiāls bez šķirošanas izmaksām. Videi: mazāk izgāztuvju mežos un mazāk jaunu izejvielu ieguves.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 Paskatīsimies ar Annas acīm. Viņa nofotografē gružus un uzreiz redz, cik saņems — vēl pirms reģistrācijas. Kartē redz tikai tos punktus, kur braukt atmaksājas. Parādīšu.</a:t>
            </a:r>
          </a:p>
          <a:p/>
          <a:p>
            <a:r>
              <a:t>[VIDEO 1:00 — Gustavs komentē]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Kāpēc tieši mūsu risinājums? Pirmkārt, tas ir izdevīgi, nevis tikai pareizi — mēs nepaļaujamies uz cilvēku apziņu. Otrkārt, mēs to aprēķinājām: pārstrādātāju peļņa ir ap diviem procentiem, tāpēc par koksni maksājam naudu, par betonu — punktus. Treškārt, lietotne rāda tikai tos punktus, kur braukt atmaksājas. Un mums nevajag jaunu infrastruktūru — sākam ar pilotprojektu vienā pašvaldībā.</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 Būvgružu birža — lai būvgruži atgrieztos būvniecībā, nevis mežā. Paldies! Labprāt atbildēsim uz jautājumiem.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CFE0C8"/>
                </a:solidFill>
                <a:latin typeface="Montserrat"/>
              </a:rPr>
              <a:t>PROBLĒMA</a:t>
            </a:r>
          </a:p>
        </p:txBody>
      </p:sp>
      <p:sp>
        <p:nvSpPr>
          <p:cNvPr id="3" name="TextBox 2"/>
          <p:cNvSpPr txBox="1"/>
          <p:nvPr/>
        </p:nvSpPr>
        <p:spPr>
          <a:xfrm>
            <a:off x="640080" y="960120"/>
            <a:ext cx="6035040" cy="2194560"/>
          </a:xfrm>
          <a:prstGeom prst="rect">
            <a:avLst/>
          </a:prstGeom>
          <a:noFill/>
        </p:spPr>
        <p:txBody>
          <a:bodyPr wrap="square" anchor="t" lIns="0" rIns="0" tIns="0" bIns="0">
            <a:spAutoFit/>
          </a:bodyPr>
          <a:lstStyle/>
          <a:p>
            <a:pPr algn="l">
              <a:lnSpc>
                <a:spcPct val="100000"/>
              </a:lnSpc>
              <a:spcAft>
                <a:spcPts val="600"/>
              </a:spcAft>
            </a:pPr>
            <a:r>
              <a:rPr sz="4000" b="1">
                <a:solidFill>
                  <a:srgbClr val="FFFFFF"/>
                </a:solidFill>
                <a:latin typeface="Montserrat"/>
              </a:rPr>
              <a:t>Būvgruži mežā ir lētāki nekā būvgruži pārstrādē</a:t>
            </a:r>
          </a:p>
        </p:txBody>
      </p:sp>
      <p:sp>
        <p:nvSpPr>
          <p:cNvPr id="4" name="TextBox 3"/>
          <p:cNvSpPr txBox="1"/>
          <p:nvPr/>
        </p:nvSpPr>
        <p:spPr>
          <a:xfrm>
            <a:off x="640080" y="3246120"/>
            <a:ext cx="5760720" cy="914400"/>
          </a:xfrm>
          <a:prstGeom prst="rect">
            <a:avLst/>
          </a:prstGeom>
          <a:noFill/>
        </p:spPr>
        <p:txBody>
          <a:bodyPr wrap="square" anchor="t" lIns="0" rIns="0" tIns="0" bIns="0">
            <a:spAutoFit/>
          </a:bodyPr>
          <a:lstStyle/>
          <a:p>
            <a:pPr algn="l">
              <a:lnSpc>
                <a:spcPct val="110000"/>
              </a:lnSpc>
              <a:spcAft>
                <a:spcPts val="600"/>
              </a:spcAft>
            </a:pPr>
            <a:r>
              <a:rPr sz="1800" b="0">
                <a:solidFill>
                  <a:srgbClr val="CFE0C8"/>
                </a:solidFill>
                <a:latin typeface="Open Sans"/>
              </a:rPr>
              <a:t>Nelegāli izmest būvgružus ir lētāk un vienkāršāk nekā tos sašķirot un nodot legāli.</a:t>
            </a:r>
          </a:p>
        </p:txBody>
      </p:sp>
      <p:sp>
        <p:nvSpPr>
          <p:cNvPr id="5" name="TextBox 4"/>
          <p:cNvSpPr txBox="1"/>
          <p:nvPr/>
        </p:nvSpPr>
        <p:spPr>
          <a:xfrm>
            <a:off x="6400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~½</a:t>
            </a:r>
          </a:p>
        </p:txBody>
      </p:sp>
      <p:sp>
        <p:nvSpPr>
          <p:cNvPr id="6" name="TextBox 5"/>
          <p:cNvSpPr txBox="1"/>
          <p:nvPr/>
        </p:nvSpPr>
        <p:spPr>
          <a:xfrm>
            <a:off x="6400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zemes dzīlēs iegūtajiem resursiem patērē būvniecība</a:t>
            </a:r>
          </a:p>
        </p:txBody>
      </p:sp>
      <p:sp>
        <p:nvSpPr>
          <p:cNvPr id="7" name="TextBox 6"/>
          <p:cNvSpPr txBox="1"/>
          <p:nvPr/>
        </p:nvSpPr>
        <p:spPr>
          <a:xfrm>
            <a:off x="3611880" y="4343400"/>
            <a:ext cx="2743200" cy="731520"/>
          </a:xfrm>
          <a:prstGeom prst="rect">
            <a:avLst/>
          </a:prstGeom>
          <a:noFill/>
        </p:spPr>
        <p:txBody>
          <a:bodyPr wrap="square" anchor="t" lIns="0" rIns="0" tIns="0" bIns="0">
            <a:spAutoFit/>
          </a:bodyPr>
          <a:lstStyle/>
          <a:p>
            <a:pPr algn="l">
              <a:lnSpc>
                <a:spcPct val="110000"/>
              </a:lnSpc>
              <a:spcAft>
                <a:spcPts val="600"/>
              </a:spcAft>
            </a:pPr>
            <a:r>
              <a:rPr sz="4000" b="1">
                <a:solidFill>
                  <a:srgbClr val="FFFFFF"/>
                </a:solidFill>
                <a:latin typeface="Montserrat"/>
              </a:rPr>
              <a:t>&gt; ⅓</a:t>
            </a:r>
          </a:p>
        </p:txBody>
      </p:sp>
      <p:sp>
        <p:nvSpPr>
          <p:cNvPr id="8" name="TextBox 7"/>
          <p:cNvSpPr txBox="1"/>
          <p:nvPr/>
        </p:nvSpPr>
        <p:spPr>
          <a:xfrm>
            <a:off x="3611880" y="5074920"/>
            <a:ext cx="2651760" cy="822960"/>
          </a:xfrm>
          <a:prstGeom prst="rect">
            <a:avLst/>
          </a:prstGeom>
          <a:noFill/>
        </p:spPr>
        <p:txBody>
          <a:bodyPr wrap="square" anchor="t" lIns="0" rIns="0" tIns="0" bIns="0">
            <a:spAutoFit/>
          </a:bodyPr>
          <a:lstStyle/>
          <a:p>
            <a:pPr algn="l">
              <a:lnSpc>
                <a:spcPct val="110000"/>
              </a:lnSpc>
              <a:spcAft>
                <a:spcPts val="600"/>
              </a:spcAft>
            </a:pPr>
            <a:r>
              <a:rPr sz="1400" b="0">
                <a:solidFill>
                  <a:srgbClr val="CFE0C8"/>
                </a:solidFill>
                <a:latin typeface="Open Sans"/>
              </a:rPr>
              <a:t>no visiem ES atkritumiem ir būvniecības atkritumi</a:t>
            </a:r>
          </a:p>
        </p:txBody>
      </p:sp>
      <p:sp>
        <p:nvSpPr>
          <p:cNvPr id="9" name="TextBox 8"/>
          <p:cNvSpPr txBox="1"/>
          <p:nvPr/>
        </p:nvSpPr>
        <p:spPr>
          <a:xfrm>
            <a:off x="640080" y="6172200"/>
            <a:ext cx="5943600" cy="365760"/>
          </a:xfrm>
          <a:prstGeom prst="rect">
            <a:avLst/>
          </a:prstGeom>
          <a:noFill/>
        </p:spPr>
        <p:txBody>
          <a:bodyPr wrap="square" anchor="t" lIns="0" rIns="0" tIns="0" bIns="0">
            <a:spAutoFit/>
          </a:bodyPr>
          <a:lstStyle/>
          <a:p>
            <a:pPr algn="l">
              <a:lnSpc>
                <a:spcPct val="110000"/>
              </a:lnSpc>
              <a:spcAft>
                <a:spcPts val="600"/>
              </a:spcAft>
            </a:pPr>
            <a:r>
              <a:rPr sz="1000" b="0">
                <a:solidFill>
                  <a:srgbClr val="CFE0C8"/>
                </a:solidFill>
                <a:latin typeface="Open Sans"/>
              </a:rPr>
              <a:t>Avots: hakatona izaicinājums (SCHWENK, RTU, Green Liberty)</a:t>
            </a:r>
          </a:p>
        </p:txBody>
      </p:sp>
      <p:pic>
        <p:nvPicPr>
          <p:cNvPr id="10" name="Picture 9" descr="foto-mezs.jpg"/>
          <p:cNvPicPr>
            <a:picLocks noChangeAspect="1"/>
          </p:cNvPicPr>
          <p:nvPr/>
        </p:nvPicPr>
        <p:blipFill>
          <a:blip r:embed="rId2"/>
          <a:stretch>
            <a:fillRect/>
          </a:stretch>
        </p:blipFill>
        <p:spPr>
          <a:xfrm>
            <a:off x="7086600" y="548640"/>
            <a:ext cx="4526280" cy="4206240"/>
          </a:xfrm>
          <a:prstGeom prst="rect">
            <a:avLst/>
          </a:prstGeom>
        </p:spPr>
      </p:pic>
      <p:sp>
        <p:nvSpPr>
          <p:cNvPr id="11" name="TextBox 10"/>
          <p:cNvSpPr txBox="1"/>
          <p:nvPr/>
        </p:nvSpPr>
        <p:spPr>
          <a:xfrm>
            <a:off x="7086600" y="4773168"/>
            <a:ext cx="4526280" cy="182880"/>
          </a:xfrm>
          <a:prstGeom prst="rect">
            <a:avLst/>
          </a:prstGeom>
          <a:noFill/>
        </p:spPr>
        <p:txBody>
          <a:bodyPr wrap="square" anchor="t" lIns="0" rIns="0" tIns="0" bIns="0">
            <a:spAutoFit/>
          </a:bodyPr>
          <a:lstStyle/>
          <a:p>
            <a:pPr algn="r">
              <a:lnSpc>
                <a:spcPct val="110000"/>
              </a:lnSpc>
              <a:spcAft>
                <a:spcPts val="600"/>
              </a:spcAft>
            </a:pPr>
            <a:r>
              <a:rPr sz="800" b="0">
                <a:solidFill>
                  <a:srgbClr val="5E8C5A"/>
                </a:solidFill>
                <a:latin typeface="Open Sans"/>
              </a:rPr>
              <a:t>Foto: iauto.lv</a:t>
            </a:r>
          </a:p>
        </p:txBody>
      </p:sp>
      <p:sp>
        <p:nvSpPr>
          <p:cNvPr id="12" name="Rounded Rectangle 11"/>
          <p:cNvSpPr/>
          <p:nvPr/>
        </p:nvSpPr>
        <p:spPr>
          <a:xfrm>
            <a:off x="7086600" y="4983480"/>
            <a:ext cx="4526280" cy="13258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5120640"/>
            <a:ext cx="4023360" cy="1097280"/>
          </a:xfrm>
          <a:prstGeom prst="rect">
            <a:avLst/>
          </a:prstGeom>
          <a:noFill/>
        </p:spPr>
        <p:txBody>
          <a:bodyPr wrap="square" anchor="ctr" lIns="0" rIns="0" tIns="0" bIns="0">
            <a:spAutoFit/>
          </a:bodyPr>
          <a:lstStyle/>
          <a:p>
            <a:pPr algn="l">
              <a:lnSpc>
                <a:spcPct val="110000"/>
              </a:lnSpc>
              <a:spcAft>
                <a:spcPts val="600"/>
              </a:spcAft>
            </a:pPr>
            <a:r>
              <a:rPr sz="2000" b="1">
                <a:solidFill>
                  <a:srgbClr val="244A30"/>
                </a:solidFill>
                <a:latin typeface="Montserrat"/>
              </a:rPr>
              <a:t>„Izvedam būvgružus lēti!”</a:t>
            </a:r>
          </a:p>
          <a:p>
            <a:pPr algn="l">
              <a:lnSpc>
                <a:spcPct val="110000"/>
              </a:lnSpc>
              <a:spcAft>
                <a:spcPts val="600"/>
              </a:spcAft>
            </a:pPr>
            <a:r>
              <a:rPr sz="1400" b="0">
                <a:solidFill>
                  <a:srgbClr val="5B665D"/>
                </a:solidFill>
                <a:latin typeface="Open Sans"/>
              </a:rPr>
              <a:t>Viens zvans — un gruži nonāk mežā.</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RISINĀJUMS</a:t>
            </a:r>
          </a:p>
        </p:txBody>
      </p:sp>
      <p:sp>
        <p:nvSpPr>
          <p:cNvPr id="3" name="TextBox 2"/>
          <p:cNvSpPr txBox="1"/>
          <p:nvPr/>
        </p:nvSpPr>
        <p:spPr>
          <a:xfrm>
            <a:off x="640080" y="914400"/>
            <a:ext cx="9144000" cy="822960"/>
          </a:xfrm>
          <a:prstGeom prst="rect">
            <a:avLst/>
          </a:prstGeom>
          <a:noFill/>
        </p:spPr>
        <p:txBody>
          <a:bodyPr wrap="square" anchor="t" lIns="0" rIns="0" tIns="0" bIns="0">
            <a:spAutoFit/>
          </a:bodyPr>
          <a:lstStyle/>
          <a:p>
            <a:pPr algn="l">
              <a:lnSpc>
                <a:spcPct val="110000"/>
              </a:lnSpc>
              <a:spcAft>
                <a:spcPts val="600"/>
              </a:spcAft>
            </a:pPr>
            <a:r>
              <a:rPr sz="4400" b="1">
                <a:solidFill>
                  <a:srgbClr val="244A30"/>
                </a:solidFill>
                <a:latin typeface="Montserrat"/>
              </a:rPr>
              <a:t>Būvgružu birža</a:t>
            </a:r>
          </a:p>
        </p:txBody>
      </p:sp>
      <p:sp>
        <p:nvSpPr>
          <p:cNvPr id="4" name="TextBox 3"/>
          <p:cNvSpPr txBox="1"/>
          <p:nvPr/>
        </p:nvSpPr>
        <p:spPr>
          <a:xfrm>
            <a:off x="640080" y="1691640"/>
            <a:ext cx="9326880" cy="548640"/>
          </a:xfrm>
          <a:prstGeom prst="rect">
            <a:avLst/>
          </a:prstGeom>
          <a:noFill/>
        </p:spPr>
        <p:txBody>
          <a:bodyPr wrap="square" anchor="t" lIns="0" rIns="0" tIns="0" bIns="0">
            <a:spAutoFit/>
          </a:bodyPr>
          <a:lstStyle/>
          <a:p>
            <a:pPr algn="l">
              <a:lnSpc>
                <a:spcPct val="110000"/>
              </a:lnSpc>
              <a:spcAft>
                <a:spcPts val="600"/>
              </a:spcAft>
            </a:pPr>
            <a:r>
              <a:rPr sz="1800" b="0">
                <a:solidFill>
                  <a:srgbClr val="5B665D"/>
                </a:solidFill>
                <a:latin typeface="Open Sans"/>
              </a:rPr>
              <a:t>Aprites ekonomikas platforma būvgružiem — savieno cilvēkus, kuriem ir būvgruži, ar uzņēmumiem, kas tos pārstrādā.</a:t>
            </a:r>
          </a:p>
        </p:txBody>
      </p:sp>
      <p:pic>
        <p:nvPicPr>
          <p:cNvPr id="5" name="Picture 4" descr="logo.png"/>
          <p:cNvPicPr>
            <a:picLocks noChangeAspect="1"/>
          </p:cNvPicPr>
          <p:nvPr/>
        </p:nvPicPr>
        <p:blipFill>
          <a:blip r:embed="rId2"/>
          <a:stretch>
            <a:fillRect/>
          </a:stretch>
        </p:blipFill>
        <p:spPr>
          <a:xfrm>
            <a:off x="10241280" y="502920"/>
            <a:ext cx="1325880" cy="1290912"/>
          </a:xfrm>
          <a:prstGeom prst="rect">
            <a:avLst/>
          </a:prstGeom>
        </p:spPr>
      </p:pic>
      <p:sp>
        <p:nvSpPr>
          <p:cNvPr id="6" name="Rounded Rectangle 5"/>
          <p:cNvSpPr/>
          <p:nvPr/>
        </p:nvSpPr>
        <p:spPr>
          <a:xfrm>
            <a:off x="64008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Cilvēkiem</a:t>
            </a:r>
          </a:p>
        </p:txBody>
      </p:sp>
      <p:sp>
        <p:nvSpPr>
          <p:cNvPr id="9" name="TextBox 8"/>
          <p:cNvSpPr txBox="1"/>
          <p:nvPr/>
        </p:nvSpPr>
        <p:spPr>
          <a:xfrm>
            <a:off x="96011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Nodod sašķirotus gružus bez maksas</a:t>
            </a:r>
          </a:p>
          <a:p>
            <a:pPr algn="l">
              <a:lnSpc>
                <a:spcPct val="110000"/>
              </a:lnSpc>
              <a:spcAft>
                <a:spcPts val="1200"/>
              </a:spcAft>
            </a:pPr>
            <a:r>
              <a:rPr sz="1600" b="0">
                <a:solidFill>
                  <a:srgbClr val="1C261E"/>
                </a:solidFill>
                <a:latin typeface="Open Sans"/>
              </a:rPr>
              <a:t>— Par koksni — nauda</a:t>
            </a:r>
          </a:p>
          <a:p>
            <a:pPr algn="l">
              <a:lnSpc>
                <a:spcPct val="110000"/>
              </a:lnSpc>
              <a:spcAft>
                <a:spcPts val="1200"/>
              </a:spcAft>
            </a:pPr>
            <a:r>
              <a:rPr sz="1600" b="0">
                <a:solidFill>
                  <a:srgbClr val="1C261E"/>
                </a:solidFill>
                <a:latin typeface="Open Sans"/>
              </a:rPr>
              <a:t>— Par betonu un ķieģeļiem — punkti vai pārstrādātas šķembas</a:t>
            </a:r>
          </a:p>
        </p:txBody>
      </p:sp>
      <p:sp>
        <p:nvSpPr>
          <p:cNvPr id="10" name="Rounded Rectangle 9"/>
          <p:cNvSpPr/>
          <p:nvPr/>
        </p:nvSpPr>
        <p:spPr>
          <a:xfrm>
            <a:off x="4343400"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Uzņēmumiem</a:t>
            </a:r>
          </a:p>
        </p:txBody>
      </p:sp>
      <p:sp>
        <p:nvSpPr>
          <p:cNvPr id="13" name="TextBox 12"/>
          <p:cNvSpPr txBox="1"/>
          <p:nvPr/>
        </p:nvSpPr>
        <p:spPr>
          <a:xfrm>
            <a:off x="4663440"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Tīrs, sašķirots materiāls</a:t>
            </a:r>
          </a:p>
          <a:p>
            <a:pPr algn="l">
              <a:lnSpc>
                <a:spcPct val="110000"/>
              </a:lnSpc>
              <a:spcAft>
                <a:spcPts val="1200"/>
              </a:spcAft>
            </a:pPr>
            <a:r>
              <a:rPr sz="1600" b="0">
                <a:solidFill>
                  <a:srgbClr val="1C261E"/>
                </a:solidFill>
                <a:latin typeface="Open Sans"/>
              </a:rPr>
              <a:t>— Bez šķirošanas izmaksām</a:t>
            </a:r>
          </a:p>
          <a:p>
            <a:pPr algn="l">
              <a:lnSpc>
                <a:spcPct val="110000"/>
              </a:lnSpc>
              <a:spcAft>
                <a:spcPts val="1200"/>
              </a:spcAft>
            </a:pPr>
            <a:r>
              <a:rPr sz="1600" b="0">
                <a:solidFill>
                  <a:srgbClr val="1C261E"/>
                </a:solidFill>
                <a:latin typeface="Open Sans"/>
              </a:rPr>
              <a:t>— Lētāka izejviela nekā jauna</a:t>
            </a:r>
          </a:p>
        </p:txBody>
      </p:sp>
      <p:sp>
        <p:nvSpPr>
          <p:cNvPr id="14" name="Rounded Rectangle 13"/>
          <p:cNvSpPr/>
          <p:nvPr/>
        </p:nvSpPr>
        <p:spPr>
          <a:xfrm>
            <a:off x="8046719" y="2743200"/>
            <a:ext cx="3474720" cy="3474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9" y="2743200"/>
            <a:ext cx="3474720" cy="109728"/>
          </a:xfrm>
          <a:prstGeom prst="rect">
            <a:avLst/>
          </a:prstGeom>
          <a:solidFill>
            <a:srgbClr val="5E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59" y="3108960"/>
            <a:ext cx="2834640" cy="548640"/>
          </a:xfrm>
          <a:prstGeom prst="rect">
            <a:avLst/>
          </a:prstGeom>
          <a:noFill/>
        </p:spPr>
        <p:txBody>
          <a:bodyPr wrap="square" anchor="t" lIns="0" rIns="0" tIns="0" bIns="0">
            <a:spAutoFit/>
          </a:bodyPr>
          <a:lstStyle/>
          <a:p>
            <a:pPr algn="l">
              <a:lnSpc>
                <a:spcPct val="110000"/>
              </a:lnSpc>
              <a:spcAft>
                <a:spcPts val="600"/>
              </a:spcAft>
            </a:pPr>
            <a:r>
              <a:rPr sz="2400" b="1">
                <a:solidFill>
                  <a:srgbClr val="244A30"/>
                </a:solidFill>
                <a:latin typeface="Montserrat"/>
              </a:rPr>
              <a:t>Videi</a:t>
            </a:r>
          </a:p>
        </p:txBody>
      </p:sp>
      <p:sp>
        <p:nvSpPr>
          <p:cNvPr id="17" name="TextBox 16"/>
          <p:cNvSpPr txBox="1"/>
          <p:nvPr/>
        </p:nvSpPr>
        <p:spPr>
          <a:xfrm>
            <a:off x="8366759" y="3840480"/>
            <a:ext cx="2834640" cy="2286000"/>
          </a:xfrm>
          <a:prstGeom prst="rect">
            <a:avLst/>
          </a:prstGeom>
          <a:noFill/>
        </p:spPr>
        <p:txBody>
          <a:bodyPr wrap="square" anchor="t" lIns="0" rIns="0" tIns="0" bIns="0">
            <a:spAutoFit/>
          </a:bodyPr>
          <a:lstStyle/>
          <a:p>
            <a:pPr algn="l">
              <a:lnSpc>
                <a:spcPct val="110000"/>
              </a:lnSpc>
              <a:spcAft>
                <a:spcPts val="1200"/>
              </a:spcAft>
            </a:pPr>
            <a:r>
              <a:rPr sz="1600" b="0">
                <a:solidFill>
                  <a:srgbClr val="1C261E"/>
                </a:solidFill>
                <a:latin typeface="Open Sans"/>
              </a:rPr>
              <a:t>— Mazāk izgāztuvju mežos</a:t>
            </a:r>
          </a:p>
          <a:p>
            <a:pPr algn="l">
              <a:lnSpc>
                <a:spcPct val="110000"/>
              </a:lnSpc>
              <a:spcAft>
                <a:spcPts val="1200"/>
              </a:spcAft>
            </a:pPr>
            <a:r>
              <a:rPr sz="1600" b="0">
                <a:solidFill>
                  <a:srgbClr val="1C261E"/>
                </a:solidFill>
                <a:latin typeface="Open Sans"/>
              </a:rPr>
              <a:t>— Mazāk jaunu izejvielu ieguves</a:t>
            </a:r>
          </a:p>
          <a:p>
            <a:pPr algn="l">
              <a:lnSpc>
                <a:spcPct val="110000"/>
              </a:lnSpc>
              <a:spcAft>
                <a:spcPts val="1200"/>
              </a:spcAft>
            </a:pPr>
            <a:r>
              <a:rPr sz="1600" b="0">
                <a:solidFill>
                  <a:srgbClr val="1C261E"/>
                </a:solidFill>
                <a:latin typeface="Open Sans"/>
              </a:rPr>
              <a:t>— Pašvaldība ietaupa uz sakopšanu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LIETOTĀJA PIEREDZE</a:t>
            </a:r>
          </a:p>
        </p:txBody>
      </p:sp>
      <p:sp>
        <p:nvSpPr>
          <p:cNvPr id="3" name="TextBox 2"/>
          <p:cNvSpPr txBox="1"/>
          <p:nvPr/>
        </p:nvSpPr>
        <p:spPr>
          <a:xfrm>
            <a:off x="640080" y="914400"/>
            <a:ext cx="658368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Anna remontē māju</a:t>
            </a:r>
          </a:p>
        </p:txBody>
      </p:sp>
      <p:sp>
        <p:nvSpPr>
          <p:cNvPr id="4" name="TextBox 3"/>
          <p:cNvSpPr txBox="1"/>
          <p:nvPr/>
        </p:nvSpPr>
        <p:spPr>
          <a:xfrm>
            <a:off x="640080" y="1600200"/>
            <a:ext cx="6583680" cy="457200"/>
          </a:xfrm>
          <a:prstGeom prst="rect">
            <a:avLst/>
          </a:prstGeom>
          <a:noFill/>
        </p:spPr>
        <p:txBody>
          <a:bodyPr wrap="square" anchor="t" lIns="0" rIns="0" tIns="0" bIns="0">
            <a:spAutoFit/>
          </a:bodyPr>
          <a:lstStyle/>
          <a:p>
            <a:pPr algn="l">
              <a:lnSpc>
                <a:spcPct val="110000"/>
              </a:lnSpc>
              <a:spcAft>
                <a:spcPts val="600"/>
              </a:spcAft>
            </a:pPr>
            <a:r>
              <a:rPr sz="1700" b="0">
                <a:solidFill>
                  <a:srgbClr val="5B665D"/>
                </a:solidFill>
                <a:latin typeface="Open Sans"/>
              </a:rPr>
              <a:t>Vecie grīdas dēļi un betona lauskas — ko darīt?</a:t>
            </a:r>
          </a:p>
        </p:txBody>
      </p:sp>
      <p:sp>
        <p:nvSpPr>
          <p:cNvPr id="5" name="Oval 4"/>
          <p:cNvSpPr/>
          <p:nvPr/>
        </p:nvSpPr>
        <p:spPr>
          <a:xfrm>
            <a:off x="640080" y="2331720"/>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31720"/>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1</a:t>
            </a:r>
          </a:p>
        </p:txBody>
      </p:sp>
      <p:sp>
        <p:nvSpPr>
          <p:cNvPr id="7" name="TextBox 6"/>
          <p:cNvSpPr txBox="1"/>
          <p:nvPr/>
        </p:nvSpPr>
        <p:spPr>
          <a:xfrm>
            <a:off x="1554480" y="2313432"/>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Nofotografē</a:t>
            </a:r>
          </a:p>
        </p:txBody>
      </p:sp>
      <p:sp>
        <p:nvSpPr>
          <p:cNvPr id="8" name="TextBox 7"/>
          <p:cNvSpPr txBox="1"/>
          <p:nvPr/>
        </p:nvSpPr>
        <p:spPr>
          <a:xfrm>
            <a:off x="1554480" y="2715768"/>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Izvēlas veidu un daudzumu maisos — lietotne parāda, kā šķirot</a:t>
            </a:r>
          </a:p>
        </p:txBody>
      </p:sp>
      <p:sp>
        <p:nvSpPr>
          <p:cNvPr id="9" name="Oval 8"/>
          <p:cNvSpPr/>
          <p:nvPr/>
        </p:nvSpPr>
        <p:spPr>
          <a:xfrm>
            <a:off x="640080" y="3319272"/>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319272"/>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2</a:t>
            </a:r>
          </a:p>
        </p:txBody>
      </p:sp>
      <p:sp>
        <p:nvSpPr>
          <p:cNvPr id="11" name="TextBox 10"/>
          <p:cNvSpPr txBox="1"/>
          <p:nvPr/>
        </p:nvSpPr>
        <p:spPr>
          <a:xfrm>
            <a:off x="1554480" y="3300984"/>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Uzreiz redz atlīdzību</a:t>
            </a:r>
          </a:p>
        </p:txBody>
      </p:sp>
      <p:sp>
        <p:nvSpPr>
          <p:cNvPr id="12" name="TextBox 11"/>
          <p:cNvSpPr txBox="1"/>
          <p:nvPr/>
        </p:nvSpPr>
        <p:spPr>
          <a:xfrm>
            <a:off x="1554480" y="3703320"/>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Vēl pirms reģistrācijas — bez riska, bez pūlēm</a:t>
            </a:r>
          </a:p>
        </p:txBody>
      </p:sp>
      <p:sp>
        <p:nvSpPr>
          <p:cNvPr id="13" name="Oval 12"/>
          <p:cNvSpPr/>
          <p:nvPr/>
        </p:nvSpPr>
        <p:spPr>
          <a:xfrm>
            <a:off x="640080" y="4306824"/>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306824"/>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3</a:t>
            </a:r>
          </a:p>
        </p:txBody>
      </p:sp>
      <p:sp>
        <p:nvSpPr>
          <p:cNvPr id="15" name="TextBox 14"/>
          <p:cNvSpPr txBox="1"/>
          <p:nvPr/>
        </p:nvSpPr>
        <p:spPr>
          <a:xfrm>
            <a:off x="1554480" y="4288536"/>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Izvēlas punktu kartē</a:t>
            </a:r>
          </a:p>
        </p:txBody>
      </p:sp>
      <p:sp>
        <p:nvSpPr>
          <p:cNvPr id="16" name="TextBox 15"/>
          <p:cNvSpPr txBox="1"/>
          <p:nvPr/>
        </p:nvSpPr>
        <p:spPr>
          <a:xfrm>
            <a:off x="1554480" y="4690872"/>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Tikai tur, kur atlīdzība &gt; degvielas izmaksas</a:t>
            </a:r>
          </a:p>
        </p:txBody>
      </p:sp>
      <p:sp>
        <p:nvSpPr>
          <p:cNvPr id="17" name="Oval 16"/>
          <p:cNvSpPr/>
          <p:nvPr/>
        </p:nvSpPr>
        <p:spPr>
          <a:xfrm>
            <a:off x="640080" y="5294376"/>
            <a:ext cx="685800" cy="68580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294376"/>
            <a:ext cx="685800" cy="68580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4</a:t>
            </a:r>
          </a:p>
        </p:txBody>
      </p:sp>
      <p:sp>
        <p:nvSpPr>
          <p:cNvPr id="19" name="TextBox 18"/>
          <p:cNvSpPr txBox="1"/>
          <p:nvPr/>
        </p:nvSpPr>
        <p:spPr>
          <a:xfrm>
            <a:off x="1554480" y="5276088"/>
            <a:ext cx="5669280" cy="457200"/>
          </a:xfrm>
          <a:prstGeom prst="rect">
            <a:avLst/>
          </a:prstGeom>
          <a:noFill/>
        </p:spPr>
        <p:txBody>
          <a:bodyPr wrap="square" anchor="t" lIns="0" rIns="0" tIns="0" bIns="0">
            <a:spAutoFit/>
          </a:bodyPr>
          <a:lstStyle/>
          <a:p>
            <a:pPr algn="l">
              <a:lnSpc>
                <a:spcPct val="110000"/>
              </a:lnSpc>
              <a:spcAft>
                <a:spcPts val="600"/>
              </a:spcAft>
            </a:pPr>
            <a:r>
              <a:rPr sz="2100" b="1">
                <a:solidFill>
                  <a:srgbClr val="1C261E"/>
                </a:solidFill>
                <a:latin typeface="Montserrat"/>
              </a:rPr>
              <a:t>Nodod un saņem</a:t>
            </a:r>
          </a:p>
        </p:txBody>
      </p:sp>
      <p:sp>
        <p:nvSpPr>
          <p:cNvPr id="20" name="TextBox 19"/>
          <p:cNvSpPr txBox="1"/>
          <p:nvPr/>
        </p:nvSpPr>
        <p:spPr>
          <a:xfrm>
            <a:off x="1554480" y="5678424"/>
            <a:ext cx="5669280" cy="36576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Nosver, pārbauda — atlīdzība kontā</a:t>
            </a:r>
          </a:p>
        </p:txBody>
      </p:sp>
      <p:sp>
        <p:nvSpPr>
          <p:cNvPr id="21" name="Rounded Rectangle 20"/>
          <p:cNvSpPr/>
          <p:nvPr/>
        </p:nvSpPr>
        <p:spPr>
          <a:xfrm>
            <a:off x="7589520" y="548640"/>
            <a:ext cx="3291840" cy="576072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26679" y="685800"/>
            <a:ext cx="3017520" cy="5486400"/>
          </a:xfrm>
          <a:prstGeom prst="roundRect">
            <a:avLst>
              <a:gd name="adj" fmla="val 8000"/>
            </a:avLst>
          </a:prstGeom>
          <a:solidFill>
            <a:srgbClr val="CF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79" y="685800"/>
            <a:ext cx="3017520" cy="5486400"/>
          </a:xfrm>
          <a:prstGeom prst="rect">
            <a:avLst/>
          </a:prstGeom>
          <a:noFill/>
        </p:spPr>
        <p:txBody>
          <a:bodyPr wrap="square" anchor="ctr" lIns="0" rIns="0" tIns="0" bIns="0">
            <a:spAutoFit/>
          </a:bodyPr>
          <a:lstStyle/>
          <a:p>
            <a:pPr algn="ctr">
              <a:lnSpc>
                <a:spcPct val="110000"/>
              </a:lnSpc>
              <a:spcAft>
                <a:spcPts val="600"/>
              </a:spcAft>
            </a:pPr>
            <a:r>
              <a:rPr sz="1600" b="0">
                <a:solidFill>
                  <a:srgbClr val="244A30"/>
                </a:solidFill>
                <a:latin typeface="Open Sans"/>
              </a:rPr>
              <a:t>VIDEO</a:t>
            </a:r>
          </a:p>
          <a:p>
            <a:pPr algn="ctr">
              <a:lnSpc>
                <a:spcPct val="110000"/>
              </a:lnSpc>
              <a:spcAft>
                <a:spcPts val="600"/>
              </a:spcAft>
            </a:pPr>
            <a:r>
              <a:rPr sz="1600" b="0">
                <a:solidFill>
                  <a:srgbClr val="244A30"/>
                </a:solidFill>
                <a:latin typeface="Open Sans"/>
              </a:rPr>
              <a:t>no lietotnes</a:t>
            </a:r>
          </a:p>
          <a:p>
            <a:pPr algn="ctr">
              <a:lnSpc>
                <a:spcPct val="110000"/>
              </a:lnSpc>
              <a:spcAft>
                <a:spcPts val="600"/>
              </a:spcAft>
            </a:pPr>
            <a:r>
              <a:rPr sz="1600" b="0">
                <a:solidFill>
                  <a:srgbClr val="244A30"/>
                </a:solidFill>
                <a:latin typeface="Open Sans"/>
              </a:rPr>
              <a:t>(ievelc Canva)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3EA"/>
        </a:solidFill>
        <a:effectLst/>
      </p:bgPr>
    </p:bg>
    <p:spTree>
      <p:nvGrpSpPr>
        <p:cNvPr id="1" name=""/>
        <p:cNvGrpSpPr/>
        <p:nvPr/>
      </p:nvGrpSpPr>
      <p:grpSpPr/>
      <p:sp>
        <p:nvSpPr>
          <p:cNvPr id="2" name="TextBox 1"/>
          <p:cNvSpPr txBox="1"/>
          <p:nvPr/>
        </p:nvSpPr>
        <p:spPr>
          <a:xfrm>
            <a:off x="640080" y="548640"/>
            <a:ext cx="7315200" cy="365760"/>
          </a:xfrm>
          <a:prstGeom prst="rect">
            <a:avLst/>
          </a:prstGeom>
          <a:noFill/>
        </p:spPr>
        <p:txBody>
          <a:bodyPr wrap="square" anchor="t" lIns="0" rIns="0" tIns="0" bIns="0">
            <a:spAutoFit/>
          </a:bodyPr>
          <a:lstStyle/>
          <a:p>
            <a:pPr algn="l">
              <a:lnSpc>
                <a:spcPct val="110000"/>
              </a:lnSpc>
              <a:spcAft>
                <a:spcPts val="600"/>
              </a:spcAft>
            </a:pPr>
            <a:r>
              <a:rPr sz="1300" b="1">
                <a:solidFill>
                  <a:srgbClr val="5E8C5A"/>
                </a:solidFill>
                <a:latin typeface="Montserrat"/>
              </a:rPr>
              <a:t>KĀPĒC TIEŠI MŪSU RISINĀJUMS</a:t>
            </a:r>
          </a:p>
        </p:txBody>
      </p:sp>
      <p:sp>
        <p:nvSpPr>
          <p:cNvPr id="3" name="TextBox 2"/>
          <p:cNvSpPr txBox="1"/>
          <p:nvPr/>
        </p:nvSpPr>
        <p:spPr>
          <a:xfrm>
            <a:off x="640080" y="914400"/>
            <a:ext cx="10972800" cy="822960"/>
          </a:xfrm>
          <a:prstGeom prst="rect">
            <a:avLst/>
          </a:prstGeom>
          <a:noFill/>
        </p:spPr>
        <p:txBody>
          <a:bodyPr wrap="square" anchor="t" lIns="0" rIns="0" tIns="0" bIns="0">
            <a:spAutoFit/>
          </a:bodyPr>
          <a:lstStyle/>
          <a:p>
            <a:pPr algn="l">
              <a:lnSpc>
                <a:spcPct val="110000"/>
              </a:lnSpc>
              <a:spcAft>
                <a:spcPts val="600"/>
              </a:spcAft>
            </a:pPr>
            <a:r>
              <a:rPr sz="4000" b="1">
                <a:solidFill>
                  <a:srgbClr val="244A30"/>
                </a:solidFill>
                <a:latin typeface="Montserrat"/>
              </a:rPr>
              <a:t>Izdevīgi, nevis tikai pareizi</a:t>
            </a:r>
          </a:p>
        </p:txBody>
      </p:sp>
      <p:sp>
        <p:nvSpPr>
          <p:cNvPr id="4" name="Rounded Rectangle 3"/>
          <p:cNvSpPr/>
          <p:nvPr/>
        </p:nvSpPr>
        <p:spPr>
          <a:xfrm>
            <a:off x="640080" y="1965960"/>
            <a:ext cx="5349240" cy="12801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2240279"/>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240279"/>
            <a:ext cx="731520" cy="73152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1</a:t>
            </a:r>
          </a:p>
        </p:txBody>
      </p:sp>
      <p:sp>
        <p:nvSpPr>
          <p:cNvPr id="7" name="TextBox 6"/>
          <p:cNvSpPr txBox="1"/>
          <p:nvPr/>
        </p:nvSpPr>
        <p:spPr>
          <a:xfrm>
            <a:off x="1874519" y="2167128"/>
            <a:ext cx="3931920" cy="457200"/>
          </a:xfrm>
          <a:prstGeom prst="rect">
            <a:avLst/>
          </a:prstGeom>
          <a:noFill/>
        </p:spPr>
        <p:txBody>
          <a:bodyPr wrap="square" anchor="t" lIns="0" rIns="0" tIns="0" bIns="0">
            <a:spAutoFit/>
          </a:bodyPr>
          <a:lstStyle/>
          <a:p>
            <a:pPr algn="l">
              <a:lnSpc>
                <a:spcPct val="110000"/>
              </a:lnSpc>
              <a:spcAft>
                <a:spcPts val="600"/>
              </a:spcAft>
            </a:pPr>
            <a:r>
              <a:rPr sz="2000" b="1">
                <a:solidFill>
                  <a:srgbClr val="1C261E"/>
                </a:solidFill>
                <a:latin typeface="Montserrat"/>
              </a:rPr>
              <a:t>Izdevīgi</a:t>
            </a:r>
          </a:p>
        </p:txBody>
      </p:sp>
      <p:sp>
        <p:nvSpPr>
          <p:cNvPr id="8" name="TextBox 7"/>
          <p:cNvSpPr txBox="1"/>
          <p:nvPr/>
        </p:nvSpPr>
        <p:spPr>
          <a:xfrm>
            <a:off x="1874519" y="2606039"/>
            <a:ext cx="3931920" cy="54864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Nepaļaujamies uz apziņu — legālais ceļš kļūst lētāks par mežu</a:t>
            </a:r>
          </a:p>
        </p:txBody>
      </p:sp>
      <p:sp>
        <p:nvSpPr>
          <p:cNvPr id="9" name="Rounded Rectangle 8"/>
          <p:cNvSpPr/>
          <p:nvPr/>
        </p:nvSpPr>
        <p:spPr>
          <a:xfrm>
            <a:off x="6172200" y="1965960"/>
            <a:ext cx="5349240" cy="12801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46520" y="2240279"/>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240279"/>
            <a:ext cx="731520" cy="73152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2</a:t>
            </a:r>
          </a:p>
        </p:txBody>
      </p:sp>
      <p:sp>
        <p:nvSpPr>
          <p:cNvPr id="12" name="TextBox 11"/>
          <p:cNvSpPr txBox="1"/>
          <p:nvPr/>
        </p:nvSpPr>
        <p:spPr>
          <a:xfrm>
            <a:off x="7406640" y="2167128"/>
            <a:ext cx="3931920" cy="457200"/>
          </a:xfrm>
          <a:prstGeom prst="rect">
            <a:avLst/>
          </a:prstGeom>
          <a:noFill/>
        </p:spPr>
        <p:txBody>
          <a:bodyPr wrap="square" anchor="t" lIns="0" rIns="0" tIns="0" bIns="0">
            <a:spAutoFit/>
          </a:bodyPr>
          <a:lstStyle/>
          <a:p>
            <a:pPr algn="l">
              <a:lnSpc>
                <a:spcPct val="110000"/>
              </a:lnSpc>
              <a:spcAft>
                <a:spcPts val="600"/>
              </a:spcAft>
            </a:pPr>
            <a:r>
              <a:rPr sz="2000" b="1">
                <a:solidFill>
                  <a:srgbClr val="1C261E"/>
                </a:solidFill>
                <a:latin typeface="Montserrat"/>
              </a:rPr>
              <a:t>Reāli aprēķināts</a:t>
            </a:r>
          </a:p>
        </p:txBody>
      </p:sp>
      <p:sp>
        <p:nvSpPr>
          <p:cNvPr id="13" name="TextBox 12"/>
          <p:cNvSpPr txBox="1"/>
          <p:nvPr/>
        </p:nvSpPr>
        <p:spPr>
          <a:xfrm>
            <a:off x="7406640" y="2606039"/>
            <a:ext cx="3931920" cy="54864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Atlīdzība balstīta uz pārstrādātāju cenām un peļņu (~2 %)</a:t>
            </a:r>
          </a:p>
        </p:txBody>
      </p:sp>
      <p:sp>
        <p:nvSpPr>
          <p:cNvPr id="14" name="Rounded Rectangle 13"/>
          <p:cNvSpPr/>
          <p:nvPr/>
        </p:nvSpPr>
        <p:spPr>
          <a:xfrm>
            <a:off x="640080" y="3429000"/>
            <a:ext cx="5349240" cy="12801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70332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03320"/>
            <a:ext cx="731520" cy="73152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3</a:t>
            </a:r>
          </a:p>
        </p:txBody>
      </p:sp>
      <p:sp>
        <p:nvSpPr>
          <p:cNvPr id="17" name="TextBox 16"/>
          <p:cNvSpPr txBox="1"/>
          <p:nvPr/>
        </p:nvSpPr>
        <p:spPr>
          <a:xfrm>
            <a:off x="1874519" y="3630168"/>
            <a:ext cx="3931920" cy="457200"/>
          </a:xfrm>
          <a:prstGeom prst="rect">
            <a:avLst/>
          </a:prstGeom>
          <a:noFill/>
        </p:spPr>
        <p:txBody>
          <a:bodyPr wrap="square" anchor="t" lIns="0" rIns="0" tIns="0" bIns="0">
            <a:spAutoFit/>
          </a:bodyPr>
          <a:lstStyle/>
          <a:p>
            <a:pPr algn="l">
              <a:lnSpc>
                <a:spcPct val="110000"/>
              </a:lnSpc>
              <a:spcAft>
                <a:spcPts val="600"/>
              </a:spcAft>
            </a:pPr>
            <a:r>
              <a:rPr sz="2000" b="1">
                <a:solidFill>
                  <a:srgbClr val="1C261E"/>
                </a:solidFill>
                <a:latin typeface="Montserrat"/>
              </a:rPr>
              <a:t>Atmaksājas braukt</a:t>
            </a:r>
          </a:p>
        </p:txBody>
      </p:sp>
      <p:sp>
        <p:nvSpPr>
          <p:cNvPr id="18" name="TextBox 17"/>
          <p:cNvSpPr txBox="1"/>
          <p:nvPr/>
        </p:nvSpPr>
        <p:spPr>
          <a:xfrm>
            <a:off x="1874519" y="4069080"/>
            <a:ext cx="3931920" cy="54864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Lietotne rāda tikai punktus, kur atlīdzība &gt; degvielas izmaksas</a:t>
            </a:r>
          </a:p>
        </p:txBody>
      </p:sp>
      <p:sp>
        <p:nvSpPr>
          <p:cNvPr id="19" name="Rounded Rectangle 18"/>
          <p:cNvSpPr/>
          <p:nvPr/>
        </p:nvSpPr>
        <p:spPr>
          <a:xfrm>
            <a:off x="6172200" y="3429000"/>
            <a:ext cx="5349240" cy="12801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46520" y="3703320"/>
            <a:ext cx="731520" cy="731520"/>
          </a:xfrm>
          <a:prstGeom prst="ellipse">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3703320"/>
            <a:ext cx="731520" cy="731520"/>
          </a:xfrm>
          <a:prstGeom prst="rect">
            <a:avLst/>
          </a:prstGeom>
          <a:noFill/>
        </p:spPr>
        <p:txBody>
          <a:bodyPr wrap="square" anchor="ctr" lIns="0" rIns="0" tIns="0" bIns="0">
            <a:spAutoFit/>
          </a:bodyPr>
          <a:lstStyle/>
          <a:p>
            <a:pPr algn="ctr">
              <a:lnSpc>
                <a:spcPct val="110000"/>
              </a:lnSpc>
              <a:spcAft>
                <a:spcPts val="600"/>
              </a:spcAft>
            </a:pPr>
            <a:r>
              <a:rPr sz="2200" b="1">
                <a:solidFill>
                  <a:srgbClr val="FFFFFF"/>
                </a:solidFill>
                <a:latin typeface="Montserrat"/>
              </a:rPr>
              <a:t>4</a:t>
            </a:r>
          </a:p>
        </p:txBody>
      </p:sp>
      <p:sp>
        <p:nvSpPr>
          <p:cNvPr id="22" name="TextBox 21"/>
          <p:cNvSpPr txBox="1"/>
          <p:nvPr/>
        </p:nvSpPr>
        <p:spPr>
          <a:xfrm>
            <a:off x="7406640" y="3630168"/>
            <a:ext cx="3931920" cy="457200"/>
          </a:xfrm>
          <a:prstGeom prst="rect">
            <a:avLst/>
          </a:prstGeom>
          <a:noFill/>
        </p:spPr>
        <p:txBody>
          <a:bodyPr wrap="square" anchor="t" lIns="0" rIns="0" tIns="0" bIns="0">
            <a:spAutoFit/>
          </a:bodyPr>
          <a:lstStyle/>
          <a:p>
            <a:pPr algn="l">
              <a:lnSpc>
                <a:spcPct val="110000"/>
              </a:lnSpc>
              <a:spcAft>
                <a:spcPts val="600"/>
              </a:spcAft>
            </a:pPr>
            <a:r>
              <a:rPr sz="2000" b="1">
                <a:solidFill>
                  <a:srgbClr val="1C261E"/>
                </a:solidFill>
                <a:latin typeface="Montserrat"/>
              </a:rPr>
              <a:t>Bez jaunas infrastruktūras</a:t>
            </a:r>
          </a:p>
        </p:txBody>
      </p:sp>
      <p:sp>
        <p:nvSpPr>
          <p:cNvPr id="23" name="TextBox 22"/>
          <p:cNvSpPr txBox="1"/>
          <p:nvPr/>
        </p:nvSpPr>
        <p:spPr>
          <a:xfrm>
            <a:off x="7406640" y="4069080"/>
            <a:ext cx="3931920" cy="548640"/>
          </a:xfrm>
          <a:prstGeom prst="rect">
            <a:avLst/>
          </a:prstGeom>
          <a:noFill/>
        </p:spPr>
        <p:txBody>
          <a:bodyPr wrap="square" anchor="t" lIns="0" rIns="0" tIns="0" bIns="0">
            <a:spAutoFit/>
          </a:bodyPr>
          <a:lstStyle/>
          <a:p>
            <a:pPr algn="l">
              <a:lnSpc>
                <a:spcPct val="110000"/>
              </a:lnSpc>
              <a:spcAft>
                <a:spcPts val="600"/>
              </a:spcAft>
            </a:pPr>
            <a:r>
              <a:rPr sz="1400" b="0">
                <a:solidFill>
                  <a:srgbClr val="5B665D"/>
                </a:solidFill>
                <a:latin typeface="Open Sans"/>
              </a:rPr>
              <a:t>Izmanto esošos licencētos punktus — sākam ar vienu pašvaldību</a:t>
            </a:r>
          </a:p>
        </p:txBody>
      </p:sp>
      <p:sp>
        <p:nvSpPr>
          <p:cNvPr id="24" name="Rounded Rectangle 23"/>
          <p:cNvSpPr/>
          <p:nvPr/>
        </p:nvSpPr>
        <p:spPr>
          <a:xfrm>
            <a:off x="640080" y="4983480"/>
            <a:ext cx="10881360" cy="1005840"/>
          </a:xfrm>
          <a:prstGeom prst="roundRect">
            <a:avLst>
              <a:gd name="adj" fmla="val 8000"/>
            </a:avLst>
          </a:prstGeom>
          <a:solidFill>
            <a:srgbClr val="244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074920"/>
            <a:ext cx="2377440" cy="365760"/>
          </a:xfrm>
          <a:prstGeom prst="rect">
            <a:avLst/>
          </a:prstGeom>
          <a:noFill/>
        </p:spPr>
        <p:txBody>
          <a:bodyPr wrap="square" anchor="t" lIns="0" rIns="0" tIns="0" bIns="0">
            <a:spAutoFit/>
          </a:bodyPr>
          <a:lstStyle/>
          <a:p>
            <a:pPr algn="l">
              <a:lnSpc>
                <a:spcPct val="110000"/>
              </a:lnSpc>
              <a:spcAft>
                <a:spcPts val="600"/>
              </a:spcAft>
            </a:pPr>
            <a:r>
              <a:rPr sz="1300" b="0">
                <a:solidFill>
                  <a:srgbClr val="CFE0C8"/>
                </a:solidFill>
                <a:latin typeface="Open Sans"/>
              </a:rPr>
              <a:t>Koksne</a:t>
            </a:r>
          </a:p>
        </p:txBody>
      </p:sp>
      <p:sp>
        <p:nvSpPr>
          <p:cNvPr id="26" name="TextBox 25"/>
          <p:cNvSpPr txBox="1"/>
          <p:nvPr/>
        </p:nvSpPr>
        <p:spPr>
          <a:xfrm>
            <a:off x="914400" y="5394960"/>
            <a:ext cx="2377440" cy="457200"/>
          </a:xfrm>
          <a:prstGeom prst="rect">
            <a:avLst/>
          </a:prstGeom>
          <a:noFill/>
        </p:spPr>
        <p:txBody>
          <a:bodyPr wrap="square" anchor="t" lIns="0" rIns="0" tIns="0" bIns="0">
            <a:spAutoFit/>
          </a:bodyPr>
          <a:lstStyle/>
          <a:p>
            <a:pPr algn="l">
              <a:lnSpc>
                <a:spcPct val="110000"/>
              </a:lnSpc>
              <a:spcAft>
                <a:spcPts val="600"/>
              </a:spcAft>
            </a:pPr>
            <a:r>
              <a:rPr sz="2200" b="1">
                <a:solidFill>
                  <a:srgbClr val="FFFFFF"/>
                </a:solidFill>
                <a:latin typeface="Montserrat"/>
              </a:rPr>
              <a:t>15–30 €/t</a:t>
            </a:r>
          </a:p>
        </p:txBody>
      </p:sp>
      <p:sp>
        <p:nvSpPr>
          <p:cNvPr id="27" name="TextBox 26"/>
          <p:cNvSpPr txBox="1"/>
          <p:nvPr/>
        </p:nvSpPr>
        <p:spPr>
          <a:xfrm>
            <a:off x="3429000" y="5074920"/>
            <a:ext cx="2377440" cy="365760"/>
          </a:xfrm>
          <a:prstGeom prst="rect">
            <a:avLst/>
          </a:prstGeom>
          <a:noFill/>
        </p:spPr>
        <p:txBody>
          <a:bodyPr wrap="square" anchor="t" lIns="0" rIns="0" tIns="0" bIns="0">
            <a:spAutoFit/>
          </a:bodyPr>
          <a:lstStyle/>
          <a:p>
            <a:pPr algn="l">
              <a:lnSpc>
                <a:spcPct val="110000"/>
              </a:lnSpc>
              <a:spcAft>
                <a:spcPts val="600"/>
              </a:spcAft>
            </a:pPr>
            <a:r>
              <a:rPr sz="1300" b="0">
                <a:solidFill>
                  <a:srgbClr val="CFE0C8"/>
                </a:solidFill>
                <a:latin typeface="Open Sans"/>
              </a:rPr>
              <a:t>Betons</a:t>
            </a:r>
          </a:p>
        </p:txBody>
      </p:sp>
      <p:sp>
        <p:nvSpPr>
          <p:cNvPr id="28" name="TextBox 27"/>
          <p:cNvSpPr txBox="1"/>
          <p:nvPr/>
        </p:nvSpPr>
        <p:spPr>
          <a:xfrm>
            <a:off x="3429000" y="5394960"/>
            <a:ext cx="2377440" cy="457200"/>
          </a:xfrm>
          <a:prstGeom prst="rect">
            <a:avLst/>
          </a:prstGeom>
          <a:noFill/>
        </p:spPr>
        <p:txBody>
          <a:bodyPr wrap="square" anchor="t" lIns="0" rIns="0" tIns="0" bIns="0">
            <a:spAutoFit/>
          </a:bodyPr>
          <a:lstStyle/>
          <a:p>
            <a:pPr algn="l">
              <a:lnSpc>
                <a:spcPct val="110000"/>
              </a:lnSpc>
              <a:spcAft>
                <a:spcPts val="600"/>
              </a:spcAft>
            </a:pPr>
            <a:r>
              <a:rPr sz="2200" b="1">
                <a:solidFill>
                  <a:srgbClr val="FFFFFF"/>
                </a:solidFill>
                <a:latin typeface="Montserrat"/>
              </a:rPr>
              <a:t>1–3 €/t</a:t>
            </a:r>
          </a:p>
        </p:txBody>
      </p:sp>
      <p:sp>
        <p:nvSpPr>
          <p:cNvPr id="29" name="TextBox 28"/>
          <p:cNvSpPr txBox="1"/>
          <p:nvPr/>
        </p:nvSpPr>
        <p:spPr>
          <a:xfrm>
            <a:off x="5943600" y="5074920"/>
            <a:ext cx="2377440" cy="365760"/>
          </a:xfrm>
          <a:prstGeom prst="rect">
            <a:avLst/>
          </a:prstGeom>
          <a:noFill/>
        </p:spPr>
        <p:txBody>
          <a:bodyPr wrap="square" anchor="t" lIns="0" rIns="0" tIns="0" bIns="0">
            <a:spAutoFit/>
          </a:bodyPr>
          <a:lstStyle/>
          <a:p>
            <a:pPr algn="l">
              <a:lnSpc>
                <a:spcPct val="110000"/>
              </a:lnSpc>
              <a:spcAft>
                <a:spcPts val="600"/>
              </a:spcAft>
            </a:pPr>
            <a:r>
              <a:rPr sz="1300" b="0">
                <a:solidFill>
                  <a:srgbClr val="CFE0C8"/>
                </a:solidFill>
                <a:latin typeface="Open Sans"/>
              </a:rPr>
              <a:t>Ķieģeļi</a:t>
            </a:r>
          </a:p>
        </p:txBody>
      </p:sp>
      <p:sp>
        <p:nvSpPr>
          <p:cNvPr id="30" name="TextBox 29"/>
          <p:cNvSpPr txBox="1"/>
          <p:nvPr/>
        </p:nvSpPr>
        <p:spPr>
          <a:xfrm>
            <a:off x="5943600" y="5394960"/>
            <a:ext cx="2377440" cy="457200"/>
          </a:xfrm>
          <a:prstGeom prst="rect">
            <a:avLst/>
          </a:prstGeom>
          <a:noFill/>
        </p:spPr>
        <p:txBody>
          <a:bodyPr wrap="square" anchor="t" lIns="0" rIns="0" tIns="0" bIns="0">
            <a:spAutoFit/>
          </a:bodyPr>
          <a:lstStyle/>
          <a:p>
            <a:pPr algn="l">
              <a:lnSpc>
                <a:spcPct val="110000"/>
              </a:lnSpc>
              <a:spcAft>
                <a:spcPts val="600"/>
              </a:spcAft>
            </a:pPr>
            <a:r>
              <a:rPr sz="2200" b="1">
                <a:solidFill>
                  <a:srgbClr val="FFFFFF"/>
                </a:solidFill>
                <a:latin typeface="Montserrat"/>
              </a:rPr>
              <a:t>0,5–1,5 €/t</a:t>
            </a:r>
          </a:p>
        </p:txBody>
      </p:sp>
      <p:sp>
        <p:nvSpPr>
          <p:cNvPr id="31" name="TextBox 30"/>
          <p:cNvSpPr txBox="1"/>
          <p:nvPr/>
        </p:nvSpPr>
        <p:spPr>
          <a:xfrm>
            <a:off x="8366760" y="5074920"/>
            <a:ext cx="3017520" cy="822960"/>
          </a:xfrm>
          <a:prstGeom prst="rect">
            <a:avLst/>
          </a:prstGeom>
          <a:noFill/>
        </p:spPr>
        <p:txBody>
          <a:bodyPr wrap="square" anchor="t" lIns="0" rIns="0" tIns="0" bIns="0">
            <a:spAutoFit/>
          </a:bodyPr>
          <a:lstStyle/>
          <a:p>
            <a:pPr algn="l">
              <a:lnSpc>
                <a:spcPct val="110000"/>
              </a:lnSpc>
              <a:spcAft>
                <a:spcPts val="600"/>
              </a:spcAft>
            </a:pPr>
            <a:r>
              <a:rPr sz="1300" b="0">
                <a:solidFill>
                  <a:srgbClr val="CFE0C8"/>
                </a:solidFill>
                <a:latin typeface="Open Sans"/>
              </a:rPr>
              <a:t>Atlīdzība =</a:t>
            </a:r>
          </a:p>
          <a:p>
            <a:pPr algn="l">
              <a:lnSpc>
                <a:spcPct val="110000"/>
              </a:lnSpc>
              <a:spcAft>
                <a:spcPts val="600"/>
              </a:spcAft>
            </a:pPr>
            <a:r>
              <a:rPr sz="1500" b="1">
                <a:solidFill>
                  <a:srgbClr val="FFFFFF"/>
                </a:solidFill>
                <a:latin typeface="Montserrat"/>
              </a:rPr>
              <a:t>svars × cena × kvalitāte</a:t>
            </a:r>
          </a:p>
        </p:txBody>
      </p:sp>
      <p:sp>
        <p:nvSpPr>
          <p:cNvPr id="32" name="TextBox 31"/>
          <p:cNvSpPr txBox="1"/>
          <p:nvPr/>
        </p:nvSpPr>
        <p:spPr>
          <a:xfrm>
            <a:off x="640080" y="6126480"/>
            <a:ext cx="10881360" cy="274320"/>
          </a:xfrm>
          <a:prstGeom prst="rect">
            <a:avLst/>
          </a:prstGeom>
          <a:noFill/>
        </p:spPr>
        <p:txBody>
          <a:bodyPr wrap="square" anchor="t" lIns="0" rIns="0" tIns="0" bIns="0">
            <a:spAutoFit/>
          </a:bodyPr>
          <a:lstStyle/>
          <a:p>
            <a:pPr algn="l">
              <a:lnSpc>
                <a:spcPct val="110000"/>
              </a:lnSpc>
              <a:spcAft>
                <a:spcPts val="600"/>
              </a:spcAft>
            </a:pPr>
            <a:r>
              <a:rPr sz="1000" b="0">
                <a:solidFill>
                  <a:srgbClr val="5B665D"/>
                </a:solidFill>
                <a:latin typeface="Open Sans"/>
              </a:rPr>
              <a:t>€/t — aplēses pēc uzņēmumu datiem, jāpārbauda pilotprojektā.</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44A30"/>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5413248" y="640080"/>
            <a:ext cx="1371600" cy="1335426"/>
          </a:xfrm>
          <a:prstGeom prst="rect">
            <a:avLst/>
          </a:prstGeom>
        </p:spPr>
      </p:pic>
      <p:sp>
        <p:nvSpPr>
          <p:cNvPr id="3" name="TextBox 2"/>
          <p:cNvSpPr txBox="1"/>
          <p:nvPr/>
        </p:nvSpPr>
        <p:spPr>
          <a:xfrm>
            <a:off x="640080" y="2286000"/>
            <a:ext cx="10881360" cy="1828800"/>
          </a:xfrm>
          <a:prstGeom prst="rect">
            <a:avLst/>
          </a:prstGeom>
          <a:noFill/>
        </p:spPr>
        <p:txBody>
          <a:bodyPr wrap="square" anchor="t" lIns="0" rIns="0" tIns="0" bIns="0">
            <a:spAutoFit/>
          </a:bodyPr>
          <a:lstStyle/>
          <a:p>
            <a:pPr algn="ctr">
              <a:lnSpc>
                <a:spcPct val="100000"/>
              </a:lnSpc>
              <a:spcAft>
                <a:spcPts val="600"/>
              </a:spcAft>
            </a:pPr>
            <a:r>
              <a:rPr sz="4400" b="1">
                <a:solidFill>
                  <a:srgbClr val="FFFFFF"/>
                </a:solidFill>
                <a:latin typeface="Montserrat"/>
              </a:rPr>
              <a:t>Lai būvgruži atgrieztos būvniecībā, nevis mežā</a:t>
            </a:r>
          </a:p>
        </p:txBody>
      </p:sp>
      <p:sp>
        <p:nvSpPr>
          <p:cNvPr id="4" name="TextBox 3"/>
          <p:cNvSpPr txBox="1"/>
          <p:nvPr/>
        </p:nvSpPr>
        <p:spPr>
          <a:xfrm>
            <a:off x="640080" y="4160520"/>
            <a:ext cx="10881360" cy="640080"/>
          </a:xfrm>
          <a:prstGeom prst="rect">
            <a:avLst/>
          </a:prstGeom>
          <a:noFill/>
        </p:spPr>
        <p:txBody>
          <a:bodyPr wrap="square" anchor="t" lIns="0" rIns="0" tIns="0" bIns="0">
            <a:spAutoFit/>
          </a:bodyPr>
          <a:lstStyle/>
          <a:p>
            <a:pPr algn="ctr">
              <a:lnSpc>
                <a:spcPct val="110000"/>
              </a:lnSpc>
              <a:spcAft>
                <a:spcPts val="600"/>
              </a:spcAft>
            </a:pPr>
            <a:r>
              <a:rPr sz="2800" b="1">
                <a:solidFill>
                  <a:srgbClr val="CFE0C8"/>
                </a:solidFill>
                <a:latin typeface="Montserrat"/>
              </a:rPr>
              <a:t>Būvgružu birža</a:t>
            </a:r>
          </a:p>
        </p:txBody>
      </p:sp>
      <p:sp>
        <p:nvSpPr>
          <p:cNvPr id="5" name="TextBox 4"/>
          <p:cNvSpPr txBox="1"/>
          <p:nvPr/>
        </p:nvSpPr>
        <p:spPr>
          <a:xfrm>
            <a:off x="640080" y="4754880"/>
            <a:ext cx="10881360" cy="457200"/>
          </a:xfrm>
          <a:prstGeom prst="rect">
            <a:avLst/>
          </a:prstGeom>
          <a:noFill/>
        </p:spPr>
        <p:txBody>
          <a:bodyPr wrap="square" anchor="t" lIns="0" rIns="0" tIns="0" bIns="0">
            <a:spAutoFit/>
          </a:bodyPr>
          <a:lstStyle/>
          <a:p>
            <a:pPr algn="ctr">
              <a:lnSpc>
                <a:spcPct val="110000"/>
              </a:lnSpc>
              <a:spcAft>
                <a:spcPts val="600"/>
              </a:spcAft>
            </a:pPr>
            <a:r>
              <a:rPr sz="1800" b="0">
                <a:solidFill>
                  <a:srgbClr val="CFE0C8"/>
                </a:solidFill>
                <a:latin typeface="Open Sans"/>
              </a:rPr>
              <a:t>Komanda Alanguka</a:t>
            </a:r>
          </a:p>
        </p:txBody>
      </p:sp>
      <p:sp>
        <p:nvSpPr>
          <p:cNvPr id="6" name="TextBox 5"/>
          <p:cNvSpPr txBox="1"/>
          <p:nvPr/>
        </p:nvSpPr>
        <p:spPr>
          <a:xfrm>
            <a:off x="640080" y="5760720"/>
            <a:ext cx="10881360" cy="548640"/>
          </a:xfrm>
          <a:prstGeom prst="rect">
            <a:avLst/>
          </a:prstGeom>
          <a:noFill/>
        </p:spPr>
        <p:txBody>
          <a:bodyPr wrap="square" anchor="t" lIns="0" rIns="0" tIns="0" bIns="0">
            <a:spAutoFit/>
          </a:bodyPr>
          <a:lstStyle/>
          <a:p>
            <a:pPr algn="ctr">
              <a:lnSpc>
                <a:spcPct val="110000"/>
              </a:lnSpc>
              <a:spcAft>
                <a:spcPts val="600"/>
              </a:spcAft>
            </a:pPr>
            <a:r>
              <a:rPr sz="2200" b="0">
                <a:solidFill>
                  <a:srgbClr val="FFFFFF"/>
                </a:solidFill>
                <a:latin typeface="Open Sans"/>
              </a:rPr>
              <a:t>Paldies! Jautājumi?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
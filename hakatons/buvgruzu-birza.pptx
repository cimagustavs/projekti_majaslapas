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Iedomājieties: jūs remontējat dzīvokli, un jums ir 30 maisi ar betonu un flīzēm. Nav piekabes, nezināt, kur tos nodot. Internetā — "izvedam būvgružus lēti". Viens zvans, un problēma atrisināta. Bet daļa šo gružu nonāk mežā. Būvniecība patērē pusi no visiem zemē iegūtajiem resursiem, un būvgruži ir vairāk nekā trešdaļa no visiem ES atkritumiem. Problēma nav cilvēkos. Problēma ir tā, ka nelegālais ceļš ir lētāks un vienkāršāks.</a:t>
            </a:r>
          </a:p>
          <a:p/>
          <a:p>
            <a:r>
              <a:t>Foto avots: https://iauto.lv/zinas/latvija/49412-izg-atkritumus-me-k-tdus-cilvkus-nosaukt-foto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Mūsu risinājums ir Būvgružu birža — aprites ekonomikas platforma, kas savieno cilvēkus, kuriem ir būvgruži, ar uzņēmumiem, kas tos pārstrādā. Princips kā pudeļu depozītam — nodod un saņem. Cilvēkiem: bezmaksas nodošana un atlīdzība — par koksni nauda, par betonu punkti. Uzņēmumiem: tīrs materiāls bez šķirošanas izmaksām. Videi: mazāk izgāztuvju mežos un mazāk jaunu izejvielu ieguves.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Paskatīsimies ar Annas acīm. Viņa nofotografē gružus un uzreiz redz, cik saņems — vēl pirms reģistrācijas. Kartē redz tikai tos punktus, kur braukt atmaksājas. Parādīšu.</a:t>
            </a:r>
          </a:p>
          <a:p/>
          <a:p>
            <a:r>
              <a:t>[VIDEO 1:00 — Gustavs komentē]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Šodien Annai ir trīs iespējas. Sludinājums — lēti, bet gruži bieži nonāk mežā. Konteiners — legāli, bet dārgi. Šķirošanas laukums — jāzina, kur, jāved pašam, un nekas par to netiek. No šīm iespējām tikai Būvgružu biržā nodot ir bez maksas, ar atlīdzību un pārstrādē. Un mūsu galvenā funkcija: nofotografē — un uzreiz redzi, cik saņemsi un kur nodot atmaksājas. To aprēķinājām pēc pārstrādātāju reālajām cenām.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 Būvgružu birža —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6035040" cy="2194560"/>
          </a:xfrm>
          <a:prstGeom prst="rect">
            <a:avLst/>
          </a:prstGeom>
          <a:noFill/>
        </p:spPr>
        <p:txBody>
          <a:bodyPr wrap="square" anchor="t" lIns="0" rIns="0" tIns="0" bIns="0">
            <a:spAutoFit/>
          </a:bodyPr>
          <a:lstStyle/>
          <a:p>
            <a:pPr algn="l">
              <a:lnSpc>
                <a:spcPct val="100000"/>
              </a:lnSpc>
              <a:spcAft>
                <a:spcPts val="600"/>
              </a:spcAft>
            </a:pPr>
            <a:r>
              <a:rPr sz="4000" b="1">
                <a:solidFill>
                  <a:srgbClr val="FFFFFF"/>
                </a:solidFill>
                <a:latin typeface="Montserrat"/>
              </a:rPr>
              <a:t>Būvgruži mežā ir lētāki nekā būvgruži pārstrādē</a:t>
            </a:r>
          </a:p>
        </p:txBody>
      </p:sp>
      <p:sp>
        <p:nvSpPr>
          <p:cNvPr id="4" name="TextBox 3"/>
          <p:cNvSpPr txBox="1"/>
          <p:nvPr/>
        </p:nvSpPr>
        <p:spPr>
          <a:xfrm>
            <a:off x="640080" y="3246120"/>
            <a:ext cx="5760720" cy="91440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Nelegāli izmest būvgružus ir lētāk un vienkāršāk nekā tos sašķirot un nodot legāli.</a:t>
            </a:r>
          </a:p>
        </p:txBody>
      </p:sp>
      <p:sp>
        <p:nvSpPr>
          <p:cNvPr id="5" name="TextBox 4"/>
          <p:cNvSpPr txBox="1"/>
          <p:nvPr/>
        </p:nvSpPr>
        <p:spPr>
          <a:xfrm>
            <a:off x="6400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~½</a:t>
            </a:r>
          </a:p>
        </p:txBody>
      </p:sp>
      <p:sp>
        <p:nvSpPr>
          <p:cNvPr id="6" name="TextBox 5"/>
          <p:cNvSpPr txBox="1"/>
          <p:nvPr/>
        </p:nvSpPr>
        <p:spPr>
          <a:xfrm>
            <a:off x="6400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zemes dzīlēs iegūtajiem resursiem patērē būvniecība</a:t>
            </a:r>
          </a:p>
        </p:txBody>
      </p:sp>
      <p:sp>
        <p:nvSpPr>
          <p:cNvPr id="7" name="TextBox 6"/>
          <p:cNvSpPr txBox="1"/>
          <p:nvPr/>
        </p:nvSpPr>
        <p:spPr>
          <a:xfrm>
            <a:off x="36118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&gt; ⅓</a:t>
            </a:r>
          </a:p>
        </p:txBody>
      </p:sp>
      <p:sp>
        <p:nvSpPr>
          <p:cNvPr id="8" name="TextBox 7"/>
          <p:cNvSpPr txBox="1"/>
          <p:nvPr/>
        </p:nvSpPr>
        <p:spPr>
          <a:xfrm>
            <a:off x="36118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visiem ES atkritumiem ir būvniecības atkritumi</a:t>
            </a:r>
          </a:p>
        </p:txBody>
      </p:sp>
      <p:sp>
        <p:nvSpPr>
          <p:cNvPr id="9" name="TextBox 8"/>
          <p:cNvSpPr txBox="1"/>
          <p:nvPr/>
        </p:nvSpPr>
        <p:spPr>
          <a:xfrm>
            <a:off x="640080" y="6172200"/>
            <a:ext cx="5943600" cy="365760"/>
          </a:xfrm>
          <a:prstGeom prst="rect">
            <a:avLst/>
          </a:prstGeom>
          <a:noFill/>
        </p:spPr>
        <p:txBody>
          <a:bodyPr wrap="square" anchor="t" lIns="0" rIns="0" tIns="0" bIns="0">
            <a:spAutoFit/>
          </a:bodyPr>
          <a:lstStyle/>
          <a:p>
            <a:pPr algn="l">
              <a:lnSpc>
                <a:spcPct val="110000"/>
              </a:lnSpc>
              <a:spcAft>
                <a:spcPts val="600"/>
              </a:spcAft>
            </a:pPr>
            <a:r>
              <a:rPr sz="1000" b="0">
                <a:solidFill>
                  <a:srgbClr val="CFE0C8"/>
                </a:solidFill>
                <a:latin typeface="Open Sans"/>
              </a:rPr>
              <a:t>Avots: hakatona izaicinājums (SCHWENK, RTU, Green Liberty)</a:t>
            </a:r>
          </a:p>
        </p:txBody>
      </p:sp>
      <p:pic>
        <p:nvPicPr>
          <p:cNvPr id="10" name="Picture 9" descr="foto-mezs.jpg"/>
          <p:cNvPicPr>
            <a:picLocks noChangeAspect="1"/>
          </p:cNvPicPr>
          <p:nvPr/>
        </p:nvPicPr>
        <p:blipFill>
          <a:blip r:embed="rId2"/>
          <a:stretch>
            <a:fillRect/>
          </a:stretch>
        </p:blipFill>
        <p:spPr>
          <a:xfrm>
            <a:off x="7086600" y="548640"/>
            <a:ext cx="4526280" cy="4206240"/>
          </a:xfrm>
          <a:prstGeom prst="rect">
            <a:avLst/>
          </a:prstGeom>
        </p:spPr>
      </p:pic>
      <p:sp>
        <p:nvSpPr>
          <p:cNvPr id="11" name="TextBox 10"/>
          <p:cNvSpPr txBox="1"/>
          <p:nvPr/>
        </p:nvSpPr>
        <p:spPr>
          <a:xfrm>
            <a:off x="7086600" y="4773168"/>
            <a:ext cx="4526280" cy="182880"/>
          </a:xfrm>
          <a:prstGeom prst="rect">
            <a:avLst/>
          </a:prstGeom>
          <a:noFill/>
        </p:spPr>
        <p:txBody>
          <a:bodyPr wrap="square" anchor="t" lIns="0" rIns="0" tIns="0" bIns="0">
            <a:spAutoFit/>
          </a:bodyPr>
          <a:lstStyle/>
          <a:p>
            <a:pPr algn="r">
              <a:lnSpc>
                <a:spcPct val="110000"/>
              </a:lnSpc>
              <a:spcAft>
                <a:spcPts val="600"/>
              </a:spcAft>
            </a:pPr>
            <a:r>
              <a:rPr sz="800" b="0">
                <a:solidFill>
                  <a:srgbClr val="5E8C5A"/>
                </a:solidFill>
                <a:latin typeface="Open Sans"/>
              </a:rPr>
              <a:t>Foto: iauto.lv</a:t>
            </a:r>
          </a:p>
        </p:txBody>
      </p:sp>
      <p:sp>
        <p:nvSpPr>
          <p:cNvPr id="12" name="Rounded Rectangle 11"/>
          <p:cNvSpPr/>
          <p:nvPr/>
        </p:nvSpPr>
        <p:spPr>
          <a:xfrm>
            <a:off x="7086600" y="4983480"/>
            <a:ext cx="4526280" cy="13258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5120640"/>
            <a:ext cx="4023360" cy="1097280"/>
          </a:xfrm>
          <a:prstGeom prst="rect">
            <a:avLst/>
          </a:prstGeom>
          <a:noFill/>
        </p:spPr>
        <p:txBody>
          <a:bodyPr wrap="square" anchor="ctr" lIns="0" rIns="0" tIns="0" bIns="0">
            <a:spAutoFit/>
          </a:bodyPr>
          <a:lstStyle/>
          <a:p>
            <a:pPr algn="l">
              <a:lnSpc>
                <a:spcPct val="110000"/>
              </a:lnSpc>
              <a:spcAft>
                <a:spcPts val="600"/>
              </a:spcAft>
            </a:pPr>
            <a:r>
              <a:rPr sz="2000" b="1">
                <a:solidFill>
                  <a:srgbClr val="244A30"/>
                </a:solidFill>
                <a:latin typeface="Montserrat"/>
              </a:rPr>
              <a:t>„Izvedam būvgružus lēti!”</a:t>
            </a:r>
          </a:p>
          <a:p>
            <a:pPr algn="l">
              <a:lnSpc>
                <a:spcPct val="110000"/>
              </a:lnSpc>
              <a:spcAft>
                <a:spcPts val="600"/>
              </a:spcAft>
            </a:pPr>
            <a:r>
              <a:rPr sz="1400" b="0">
                <a:solidFill>
                  <a:srgbClr val="5B665D"/>
                </a:solidFill>
                <a:latin typeface="Open Sans"/>
              </a:rPr>
              <a:t>Viens zvans — un gruži nonāk mežā.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a:t>
            </a:r>
          </a:p>
        </p:txBody>
      </p:sp>
      <p:sp>
        <p:nvSpPr>
          <p:cNvPr id="3" name="TextBox 2"/>
          <p:cNvSpPr txBox="1"/>
          <p:nvPr/>
        </p:nvSpPr>
        <p:spPr>
          <a:xfrm>
            <a:off x="640080" y="914400"/>
            <a:ext cx="91440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91640"/>
            <a:ext cx="9326880" cy="548640"/>
          </a:xfrm>
          <a:prstGeom prst="rect">
            <a:avLst/>
          </a:prstGeom>
          <a:noFill/>
        </p:spPr>
        <p:txBody>
          <a:bodyPr wrap="square" anchor="t" lIns="0" rIns="0" tIns="0" bIns="0">
            <a:spAutoFit/>
          </a:bodyPr>
          <a:lstStyle/>
          <a:p>
            <a:pPr algn="l">
              <a:lnSpc>
                <a:spcPct val="110000"/>
              </a:lnSpc>
              <a:spcAft>
                <a:spcPts val="600"/>
              </a:spcAft>
            </a:pPr>
            <a:r>
              <a:rPr sz="1800" b="0">
                <a:solidFill>
                  <a:srgbClr val="5B665D"/>
                </a:solidFill>
                <a:latin typeface="Open Sans"/>
              </a:rPr>
              <a:t>Aprites ekonomikas platforma būvgružiem. Savieno cilvēkus, kuriem ir būvgruži, ar uzņēmumiem, kas tos pārstrādā.</a:t>
            </a:r>
          </a:p>
        </p:txBody>
      </p:sp>
      <p:pic>
        <p:nvPicPr>
          <p:cNvPr id="5" name="Picture 4" descr="logo.png"/>
          <p:cNvPicPr>
            <a:picLocks noChangeAspect="1"/>
          </p:cNvPicPr>
          <p:nvPr/>
        </p:nvPicPr>
        <p:blipFill>
          <a:blip r:embed="rId2"/>
          <a:stretch>
            <a:fillRect/>
          </a:stretch>
        </p:blipFill>
        <p:spPr>
          <a:xfrm>
            <a:off x="10241280" y="502920"/>
            <a:ext cx="1325880" cy="1290912"/>
          </a:xfrm>
          <a:prstGeom prst="rect">
            <a:avLst/>
          </a:prstGeom>
        </p:spPr>
      </p:pic>
      <p:sp>
        <p:nvSpPr>
          <p:cNvPr id="6" name="Rounded Rectangle 5"/>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Cilvēkiem</a:t>
            </a:r>
          </a:p>
        </p:txBody>
      </p:sp>
      <p:sp>
        <p:nvSpPr>
          <p:cNvPr id="9" name="TextBox 8"/>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nauda</a:t>
            </a:r>
          </a:p>
          <a:p>
            <a:pPr algn="l">
              <a:lnSpc>
                <a:spcPct val="110000"/>
              </a:lnSpc>
              <a:spcAft>
                <a:spcPts val="1200"/>
              </a:spcAft>
            </a:pPr>
            <a:r>
              <a:rPr sz="1600" b="0">
                <a:solidFill>
                  <a:srgbClr val="1C261E"/>
                </a:solidFill>
                <a:latin typeface="Open Sans"/>
              </a:rPr>
              <a:t>•  Par betonu un ķieģeļiem: punkti vai šķembas</a:t>
            </a:r>
          </a:p>
        </p:txBody>
      </p:sp>
      <p:sp>
        <p:nvSpPr>
          <p:cNvPr id="10" name="Rounded Rectangle 9"/>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Uzņēmumiem</a:t>
            </a:r>
          </a:p>
        </p:txBody>
      </p:sp>
      <p:sp>
        <p:nvSpPr>
          <p:cNvPr id="13" name="TextBox 12"/>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Tīrs, sašķirots materiāls</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Lētāka izejviela nekā jauna</a:t>
            </a:r>
          </a:p>
        </p:txBody>
      </p:sp>
      <p:sp>
        <p:nvSpPr>
          <p:cNvPr id="14" name="Rounded Rectangle 13"/>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Videi</a:t>
            </a:r>
          </a:p>
        </p:txBody>
      </p:sp>
      <p:sp>
        <p:nvSpPr>
          <p:cNvPr id="17" name="TextBox 16"/>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jaunu izejvielu ieguves</a:t>
            </a:r>
          </a:p>
          <a:p>
            <a:pPr algn="l">
              <a:lnSpc>
                <a:spcPct val="110000"/>
              </a:lnSpc>
              <a:spcAft>
                <a:spcPts val="1200"/>
              </a:spcAft>
            </a:pPr>
            <a:r>
              <a:rPr sz="1600" b="0">
                <a:solidFill>
                  <a:srgbClr val="1C261E"/>
                </a:solidFill>
                <a:latin typeface="Open Sans"/>
              </a:rPr>
              <a:t>•  Pašvaldība ietaupa uz sakopšanu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LIETOTĀJA PIEREDZE</a:t>
            </a:r>
          </a:p>
        </p:txBody>
      </p:sp>
      <p:sp>
        <p:nvSpPr>
          <p:cNvPr id="3" name="TextBox 2"/>
          <p:cNvSpPr txBox="1"/>
          <p:nvPr/>
        </p:nvSpPr>
        <p:spPr>
          <a:xfrm>
            <a:off x="640080" y="914400"/>
            <a:ext cx="658368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Anna remontē māju</a:t>
            </a:r>
          </a:p>
        </p:txBody>
      </p:sp>
      <p:sp>
        <p:nvSpPr>
          <p:cNvPr id="4" name="TextBox 3"/>
          <p:cNvSpPr txBox="1"/>
          <p:nvPr/>
        </p:nvSpPr>
        <p:spPr>
          <a:xfrm>
            <a:off x="640080" y="1600200"/>
            <a:ext cx="6583680" cy="457200"/>
          </a:xfrm>
          <a:prstGeom prst="rect">
            <a:avLst/>
          </a:prstGeom>
          <a:noFill/>
        </p:spPr>
        <p:txBody>
          <a:bodyPr wrap="square" anchor="t" lIns="0" rIns="0" tIns="0" bIns="0">
            <a:spAutoFit/>
          </a:bodyPr>
          <a:lstStyle/>
          <a:p>
            <a:pPr algn="l">
              <a:lnSpc>
                <a:spcPct val="110000"/>
              </a:lnSpc>
              <a:spcAft>
                <a:spcPts val="600"/>
              </a:spcAft>
            </a:pPr>
            <a:r>
              <a:rPr sz="1700" b="0">
                <a:solidFill>
                  <a:srgbClr val="5B665D"/>
                </a:solidFill>
                <a:latin typeface="Open Sans"/>
              </a:rPr>
              <a:t>Vecie grīdas dēļi un betona lauskas — ko darīt?</a:t>
            </a:r>
          </a:p>
        </p:txBody>
      </p:sp>
      <p:sp>
        <p:nvSpPr>
          <p:cNvPr id="5" name="Rounded Rectangle 4"/>
          <p:cNvSpPr/>
          <p:nvPr/>
        </p:nvSpPr>
        <p:spPr>
          <a:xfrm>
            <a:off x="457200" y="3191256"/>
            <a:ext cx="6858000" cy="941832"/>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94960" y="3273552"/>
            <a:ext cx="1783080" cy="274320"/>
          </a:xfrm>
          <a:prstGeom prst="rect">
            <a:avLst/>
          </a:prstGeom>
          <a:noFill/>
        </p:spPr>
        <p:txBody>
          <a:bodyPr wrap="square" anchor="t" lIns="0" rIns="0" tIns="0" bIns="0">
            <a:spAutoFit/>
          </a:bodyPr>
          <a:lstStyle/>
          <a:p>
            <a:pPr algn="r">
              <a:lnSpc>
                <a:spcPct val="110000"/>
              </a:lnSpc>
              <a:spcAft>
                <a:spcPts val="600"/>
              </a:spcAft>
            </a:pPr>
            <a:r>
              <a:rPr sz="1000" b="1">
                <a:solidFill>
                  <a:srgbClr val="244A30"/>
                </a:solidFill>
                <a:latin typeface="Montserrat"/>
              </a:rPr>
              <a:t>GALVENĀ FUNKCIJA</a:t>
            </a:r>
          </a:p>
        </p:txBody>
      </p:sp>
      <p:sp>
        <p:nvSpPr>
          <p:cNvPr id="7" name="Oval 6"/>
          <p:cNvSpPr/>
          <p:nvPr/>
        </p:nvSpPr>
        <p:spPr>
          <a:xfrm>
            <a:off x="640080" y="2331720"/>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31720"/>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1</a:t>
            </a:r>
          </a:p>
        </p:txBody>
      </p:sp>
      <p:sp>
        <p:nvSpPr>
          <p:cNvPr id="9" name="TextBox 8"/>
          <p:cNvSpPr txBox="1"/>
          <p:nvPr/>
        </p:nvSpPr>
        <p:spPr>
          <a:xfrm>
            <a:off x="1554480" y="2313432"/>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Nofotografē</a:t>
            </a:r>
          </a:p>
        </p:txBody>
      </p:sp>
      <p:sp>
        <p:nvSpPr>
          <p:cNvPr id="10" name="TextBox 9"/>
          <p:cNvSpPr txBox="1"/>
          <p:nvPr/>
        </p:nvSpPr>
        <p:spPr>
          <a:xfrm>
            <a:off x="1554480" y="2715768"/>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Izvēlas veidu un daudzumu maisos — lietotne parāda, kā šķirot</a:t>
            </a:r>
          </a:p>
        </p:txBody>
      </p:sp>
      <p:sp>
        <p:nvSpPr>
          <p:cNvPr id="11" name="Oval 10"/>
          <p:cNvSpPr/>
          <p:nvPr/>
        </p:nvSpPr>
        <p:spPr>
          <a:xfrm>
            <a:off x="640080" y="3319272"/>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9272"/>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2</a:t>
            </a:r>
          </a:p>
        </p:txBody>
      </p:sp>
      <p:sp>
        <p:nvSpPr>
          <p:cNvPr id="13" name="TextBox 12"/>
          <p:cNvSpPr txBox="1"/>
          <p:nvPr/>
        </p:nvSpPr>
        <p:spPr>
          <a:xfrm>
            <a:off x="1554480" y="3300984"/>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Uzreiz redz atlīdzību</a:t>
            </a:r>
          </a:p>
        </p:txBody>
      </p:sp>
      <p:sp>
        <p:nvSpPr>
          <p:cNvPr id="14" name="TextBox 13"/>
          <p:cNvSpPr txBox="1"/>
          <p:nvPr/>
        </p:nvSpPr>
        <p:spPr>
          <a:xfrm>
            <a:off x="1554480" y="3703320"/>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Cik saņems un vai braukt atmaksājas — vēl pirms reģistrācijas</a:t>
            </a:r>
          </a:p>
        </p:txBody>
      </p:sp>
      <p:sp>
        <p:nvSpPr>
          <p:cNvPr id="15" name="Oval 14"/>
          <p:cNvSpPr/>
          <p:nvPr/>
        </p:nvSpPr>
        <p:spPr>
          <a:xfrm>
            <a:off x="640080" y="4306824"/>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306824"/>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3</a:t>
            </a:r>
          </a:p>
        </p:txBody>
      </p:sp>
      <p:sp>
        <p:nvSpPr>
          <p:cNvPr id="17" name="TextBox 16"/>
          <p:cNvSpPr txBox="1"/>
          <p:nvPr/>
        </p:nvSpPr>
        <p:spPr>
          <a:xfrm>
            <a:off x="1554480" y="4288536"/>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Izvēlas punktu kartē</a:t>
            </a:r>
          </a:p>
        </p:txBody>
      </p:sp>
      <p:sp>
        <p:nvSpPr>
          <p:cNvPr id="18" name="TextBox 17"/>
          <p:cNvSpPr txBox="1"/>
          <p:nvPr/>
        </p:nvSpPr>
        <p:spPr>
          <a:xfrm>
            <a:off x="1554480" y="4690872"/>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Tikai tur, kur atlīdzība &gt; degvielas izmaksas</a:t>
            </a:r>
          </a:p>
        </p:txBody>
      </p:sp>
      <p:sp>
        <p:nvSpPr>
          <p:cNvPr id="19" name="Oval 18"/>
          <p:cNvSpPr/>
          <p:nvPr/>
        </p:nvSpPr>
        <p:spPr>
          <a:xfrm>
            <a:off x="640080" y="5294376"/>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294376"/>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4</a:t>
            </a:r>
          </a:p>
        </p:txBody>
      </p:sp>
      <p:sp>
        <p:nvSpPr>
          <p:cNvPr id="21" name="TextBox 20"/>
          <p:cNvSpPr txBox="1"/>
          <p:nvPr/>
        </p:nvSpPr>
        <p:spPr>
          <a:xfrm>
            <a:off x="1554480" y="5276088"/>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Nodod un saņem</a:t>
            </a:r>
          </a:p>
        </p:txBody>
      </p:sp>
      <p:sp>
        <p:nvSpPr>
          <p:cNvPr id="22" name="TextBox 21"/>
          <p:cNvSpPr txBox="1"/>
          <p:nvPr/>
        </p:nvSpPr>
        <p:spPr>
          <a:xfrm>
            <a:off x="1554480" y="5678424"/>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Nosver, pārbauda — atlīdzība kontā</a:t>
            </a:r>
          </a:p>
        </p:txBody>
      </p:sp>
      <p:sp>
        <p:nvSpPr>
          <p:cNvPr id="23" name="Rounded Rectangle 22"/>
          <p:cNvSpPr/>
          <p:nvPr/>
        </p:nvSpPr>
        <p:spPr>
          <a:xfrm>
            <a:off x="7589520" y="548640"/>
            <a:ext cx="3291840" cy="576072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26679" y="685800"/>
            <a:ext cx="3017520" cy="548640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26679" y="685800"/>
            <a:ext cx="3017520" cy="548640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VIDEO</a:t>
            </a:r>
          </a:p>
          <a:p>
            <a:pPr algn="ctr">
              <a:lnSpc>
                <a:spcPct val="110000"/>
              </a:lnSpc>
              <a:spcAft>
                <a:spcPts val="600"/>
              </a:spcAft>
            </a:pPr>
            <a:r>
              <a:rPr sz="1600" b="0">
                <a:solidFill>
                  <a:srgbClr val="244A30"/>
                </a:solidFill>
                <a:latin typeface="Open Sans"/>
              </a:rPr>
              <a:t>no lietotnes</a:t>
            </a:r>
          </a:p>
          <a:p>
            <a:pPr algn="ctr">
              <a:lnSpc>
                <a:spcPct val="110000"/>
              </a:lnSpc>
              <a:spcAft>
                <a:spcPts val="600"/>
              </a:spcAft>
            </a:pPr>
            <a:r>
              <a:rPr sz="1600" b="0">
                <a:solidFill>
                  <a:srgbClr val="244A30"/>
                </a:solidFill>
                <a:latin typeface="Open Sans"/>
              </a:rPr>
              <a:t>(ievelc Canva)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KĀPĒC TIEŠI MŪSU 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Annas iespējas šodien</a:t>
            </a:r>
          </a:p>
        </p:txBody>
      </p:sp>
      <p:sp>
        <p:nvSpPr>
          <p:cNvPr id="4" name="TextBox 3"/>
          <p:cNvSpPr txBox="1"/>
          <p:nvPr/>
        </p:nvSpPr>
        <p:spPr>
          <a:xfrm>
            <a:off x="393192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Bez maksas</a:t>
            </a:r>
          </a:p>
        </p:txBody>
      </p:sp>
      <p:sp>
        <p:nvSpPr>
          <p:cNvPr id="5" name="TextBox 4"/>
          <p:cNvSpPr txBox="1"/>
          <p:nvPr/>
        </p:nvSpPr>
        <p:spPr>
          <a:xfrm>
            <a:off x="585216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Ērti</a:t>
            </a:r>
          </a:p>
        </p:txBody>
      </p:sp>
      <p:sp>
        <p:nvSpPr>
          <p:cNvPr id="6" name="TextBox 5"/>
          <p:cNvSpPr txBox="1"/>
          <p:nvPr/>
        </p:nvSpPr>
        <p:spPr>
          <a:xfrm>
            <a:off x="800100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Atlīdzība</a:t>
            </a:r>
          </a:p>
        </p:txBody>
      </p:sp>
      <p:sp>
        <p:nvSpPr>
          <p:cNvPr id="7" name="TextBox 6"/>
          <p:cNvSpPr txBox="1"/>
          <p:nvPr/>
        </p:nvSpPr>
        <p:spPr>
          <a:xfrm>
            <a:off x="969264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Nonāk pārstrādē</a:t>
            </a:r>
          </a:p>
        </p:txBody>
      </p:sp>
      <p:sp>
        <p:nvSpPr>
          <p:cNvPr id="8" name="Rounded Rectangle 7"/>
          <p:cNvSpPr/>
          <p:nvPr/>
        </p:nvSpPr>
        <p:spPr>
          <a:xfrm>
            <a:off x="640080" y="2286000"/>
            <a:ext cx="1092708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86000"/>
            <a:ext cx="3017520" cy="603504"/>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Sludinājums „izvedam lēti”</a:t>
            </a:r>
          </a:p>
        </p:txBody>
      </p:sp>
      <p:sp>
        <p:nvSpPr>
          <p:cNvPr id="10" name="TextBox 9"/>
          <p:cNvSpPr txBox="1"/>
          <p:nvPr/>
        </p:nvSpPr>
        <p:spPr>
          <a:xfrm>
            <a:off x="3931920" y="2286000"/>
            <a:ext cx="2011680" cy="603504"/>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Lēti</a:t>
            </a:r>
          </a:p>
        </p:txBody>
      </p:sp>
      <p:sp>
        <p:nvSpPr>
          <p:cNvPr id="11" name="TextBox 10"/>
          <p:cNvSpPr txBox="1"/>
          <p:nvPr/>
        </p:nvSpPr>
        <p:spPr>
          <a:xfrm>
            <a:off x="5852160" y="2286000"/>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2" name="TextBox 11"/>
          <p:cNvSpPr txBox="1"/>
          <p:nvPr/>
        </p:nvSpPr>
        <p:spPr>
          <a:xfrm>
            <a:off x="8001000" y="2286000"/>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3" name="TextBox 12"/>
          <p:cNvSpPr txBox="1"/>
          <p:nvPr/>
        </p:nvSpPr>
        <p:spPr>
          <a:xfrm>
            <a:off x="9692640" y="2286000"/>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Bieži mežā</a:t>
            </a:r>
          </a:p>
        </p:txBody>
      </p:sp>
      <p:sp>
        <p:nvSpPr>
          <p:cNvPr id="14" name="Rounded Rectangle 13"/>
          <p:cNvSpPr/>
          <p:nvPr/>
        </p:nvSpPr>
        <p:spPr>
          <a:xfrm>
            <a:off x="640080" y="2999232"/>
            <a:ext cx="1092708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99232"/>
            <a:ext cx="3017520" cy="603504"/>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Konteinera noma</a:t>
            </a:r>
          </a:p>
        </p:txBody>
      </p:sp>
      <p:sp>
        <p:nvSpPr>
          <p:cNvPr id="16" name="TextBox 15"/>
          <p:cNvSpPr txBox="1"/>
          <p:nvPr/>
        </p:nvSpPr>
        <p:spPr>
          <a:xfrm>
            <a:off x="3931920" y="2999232"/>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Dārgi</a:t>
            </a:r>
          </a:p>
        </p:txBody>
      </p:sp>
      <p:sp>
        <p:nvSpPr>
          <p:cNvPr id="17" name="TextBox 16"/>
          <p:cNvSpPr txBox="1"/>
          <p:nvPr/>
        </p:nvSpPr>
        <p:spPr>
          <a:xfrm>
            <a:off x="5852160" y="2999232"/>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8" name="TextBox 17"/>
          <p:cNvSpPr txBox="1"/>
          <p:nvPr/>
        </p:nvSpPr>
        <p:spPr>
          <a:xfrm>
            <a:off x="8001000" y="2999232"/>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9" name="TextBox 18"/>
          <p:cNvSpPr txBox="1"/>
          <p:nvPr/>
        </p:nvSpPr>
        <p:spPr>
          <a:xfrm>
            <a:off x="9692640" y="2999232"/>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0" name="Rounded Rectangle 19"/>
          <p:cNvSpPr/>
          <p:nvPr/>
        </p:nvSpPr>
        <p:spPr>
          <a:xfrm>
            <a:off x="640080" y="3712464"/>
            <a:ext cx="1092708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712464"/>
            <a:ext cx="3017520" cy="603504"/>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Šķirošanas laukums</a:t>
            </a:r>
          </a:p>
        </p:txBody>
      </p:sp>
      <p:sp>
        <p:nvSpPr>
          <p:cNvPr id="22" name="TextBox 21"/>
          <p:cNvSpPr txBox="1"/>
          <p:nvPr/>
        </p:nvSpPr>
        <p:spPr>
          <a:xfrm>
            <a:off x="3931920" y="3712464"/>
            <a:ext cx="2011680" cy="603504"/>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Daļēji</a:t>
            </a:r>
          </a:p>
        </p:txBody>
      </p:sp>
      <p:sp>
        <p:nvSpPr>
          <p:cNvPr id="23" name="TextBox 22"/>
          <p:cNvSpPr txBox="1"/>
          <p:nvPr/>
        </p:nvSpPr>
        <p:spPr>
          <a:xfrm>
            <a:off x="5852160" y="3712464"/>
            <a:ext cx="2011680" cy="603504"/>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Jāved pašam</a:t>
            </a:r>
          </a:p>
        </p:txBody>
      </p:sp>
      <p:sp>
        <p:nvSpPr>
          <p:cNvPr id="24" name="TextBox 23"/>
          <p:cNvSpPr txBox="1"/>
          <p:nvPr/>
        </p:nvSpPr>
        <p:spPr>
          <a:xfrm>
            <a:off x="8001000" y="3712464"/>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25" name="TextBox 24"/>
          <p:cNvSpPr txBox="1"/>
          <p:nvPr/>
        </p:nvSpPr>
        <p:spPr>
          <a:xfrm>
            <a:off x="9692640" y="3712464"/>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6" name="Rounded Rectangle 25"/>
          <p:cNvSpPr/>
          <p:nvPr/>
        </p:nvSpPr>
        <p:spPr>
          <a:xfrm>
            <a:off x="640080" y="4425696"/>
            <a:ext cx="10927080" cy="603504"/>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425696"/>
            <a:ext cx="3017520" cy="603504"/>
          </a:xfrm>
          <a:prstGeom prst="rect">
            <a:avLst/>
          </a:prstGeom>
          <a:noFill/>
        </p:spPr>
        <p:txBody>
          <a:bodyPr wrap="square" anchor="ctr" lIns="0" rIns="0" tIns="0" bIns="0">
            <a:spAutoFit/>
          </a:bodyPr>
          <a:lstStyle/>
          <a:p>
            <a:pPr algn="l">
              <a:lnSpc>
                <a:spcPct val="110000"/>
              </a:lnSpc>
              <a:spcAft>
                <a:spcPts val="600"/>
              </a:spcAft>
            </a:pPr>
            <a:r>
              <a:rPr sz="1600" b="1">
                <a:solidFill>
                  <a:srgbClr val="FFFFFF"/>
                </a:solidFill>
                <a:latin typeface="Montserrat"/>
              </a:rPr>
              <a:t>Būvgružu birža</a:t>
            </a:r>
          </a:p>
        </p:txBody>
      </p:sp>
      <p:sp>
        <p:nvSpPr>
          <p:cNvPr id="28" name="TextBox 27"/>
          <p:cNvSpPr txBox="1"/>
          <p:nvPr/>
        </p:nvSpPr>
        <p:spPr>
          <a:xfrm>
            <a:off x="3931920" y="4425696"/>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29" name="TextBox 28"/>
          <p:cNvSpPr txBox="1"/>
          <p:nvPr/>
        </p:nvSpPr>
        <p:spPr>
          <a:xfrm>
            <a:off x="5852160" y="4425696"/>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Karte + pārvadātājs</a:t>
            </a:r>
          </a:p>
        </p:txBody>
      </p:sp>
      <p:sp>
        <p:nvSpPr>
          <p:cNvPr id="30" name="TextBox 29"/>
          <p:cNvSpPr txBox="1"/>
          <p:nvPr/>
        </p:nvSpPr>
        <p:spPr>
          <a:xfrm>
            <a:off x="8001000" y="4425696"/>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1" name="TextBox 30"/>
          <p:cNvSpPr txBox="1"/>
          <p:nvPr/>
        </p:nvSpPr>
        <p:spPr>
          <a:xfrm>
            <a:off x="9692640" y="4425696"/>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2" name="Rounded Rectangle 31"/>
          <p:cNvSpPr/>
          <p:nvPr/>
        </p:nvSpPr>
        <p:spPr>
          <a:xfrm>
            <a:off x="640080" y="5257800"/>
            <a:ext cx="10927080" cy="960120"/>
          </a:xfrm>
          <a:prstGeom prst="roundRect">
            <a:avLst>
              <a:gd name="adj" fmla="val 8000"/>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5257800"/>
            <a:ext cx="10424160" cy="960120"/>
          </a:xfrm>
          <a:prstGeom prst="rect">
            <a:avLst/>
          </a:prstGeom>
          <a:noFill/>
        </p:spPr>
        <p:txBody>
          <a:bodyPr wrap="square" anchor="ctr" lIns="0" rIns="0" tIns="0" bIns="0">
            <a:spAutoFit/>
          </a:bodyPr>
          <a:lstStyle/>
          <a:p>
            <a:pPr algn="l">
              <a:lnSpc>
                <a:spcPct val="110000"/>
              </a:lnSpc>
              <a:spcAft>
                <a:spcPts val="200"/>
              </a:spcAft>
            </a:pPr>
            <a:r>
              <a:rPr sz="1200" b="0">
                <a:solidFill>
                  <a:srgbClr val="CFE0C8"/>
                </a:solidFill>
                <a:latin typeface="Open Sans"/>
              </a:rPr>
              <a:t>Galvenā funkcija</a:t>
            </a:r>
          </a:p>
          <a:p>
            <a:pPr algn="l">
              <a:lnSpc>
                <a:spcPct val="110000"/>
              </a:lnSpc>
              <a:spcAft>
                <a:spcPts val="600"/>
              </a:spcAft>
            </a:pPr>
            <a:r>
              <a:rPr sz="2100" b="1">
                <a:solidFill>
                  <a:srgbClr val="FFFFFF"/>
                </a:solidFill>
                <a:latin typeface="Montserrat"/>
              </a:rPr>
              <a:t>Nofotografē — uzreiz redzi, cik saņemsi un kur nodot atmaksājas</a:t>
            </a:r>
          </a:p>
        </p:txBody>
      </p:sp>
      <p:sp>
        <p:nvSpPr>
          <p:cNvPr id="34" name="TextBox 33"/>
          <p:cNvSpPr txBox="1"/>
          <p:nvPr/>
        </p:nvSpPr>
        <p:spPr>
          <a:xfrm>
            <a:off x="640080" y="6309360"/>
            <a:ext cx="10927080" cy="274320"/>
          </a:xfrm>
          <a:prstGeom prst="rect">
            <a:avLst/>
          </a:prstGeom>
          <a:noFill/>
        </p:spPr>
        <p:txBody>
          <a:bodyPr wrap="square" anchor="t" lIns="0" rIns="0" tIns="0" bIns="0">
            <a:spAutoFit/>
          </a:bodyPr>
          <a:lstStyle/>
          <a:p>
            <a:pPr algn="l">
              <a:lnSpc>
                <a:spcPct val="110000"/>
              </a:lnSpc>
              <a:spcAft>
                <a:spcPts val="600"/>
              </a:spcAft>
            </a:pPr>
            <a:r>
              <a:rPr sz="1000" b="0">
                <a:solidFill>
                  <a:srgbClr val="5B665D"/>
                </a:solidFill>
                <a:latin typeface="Open Sans"/>
              </a:rPr>
              <a:t>Atlīdzība pēc pārstrādātāju cenām: koksne 15–30 €/t, betons 1–3 €/t, ķieģeļi 0,5–1,5 €/t (aplēses, jāpārbauda pilotprojektā).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640080"/>
            <a:ext cx="1371600" cy="1335426"/>
          </a:xfrm>
          <a:prstGeom prst="rect">
            <a:avLst/>
          </a:prstGeom>
        </p:spPr>
      </p:pic>
      <p:sp>
        <p:nvSpPr>
          <p:cNvPr id="3" name="TextBox 2"/>
          <p:cNvSpPr txBox="1"/>
          <p:nvPr/>
        </p:nvSpPr>
        <p:spPr>
          <a:xfrm>
            <a:off x="640080" y="2286000"/>
            <a:ext cx="10881360" cy="1828800"/>
          </a:xfrm>
          <a:prstGeom prst="rect">
            <a:avLst/>
          </a:prstGeom>
          <a:noFill/>
        </p:spPr>
        <p:txBody>
          <a:bodyPr wrap="square" anchor="t" lIns="0" rIns="0" tIns="0" bIns="0">
            <a:spAutoFit/>
          </a:bodyPr>
          <a:lstStyle/>
          <a:p>
            <a:pPr algn="ctr">
              <a:lnSpc>
                <a:spcPct val="100000"/>
              </a:lnSpc>
              <a:spcAft>
                <a:spcPts val="600"/>
              </a:spcAft>
            </a:pPr>
            <a:r>
              <a:rPr sz="4400" b="1">
                <a:solidFill>
                  <a:srgbClr val="FFFFFF"/>
                </a:solidFill>
                <a:latin typeface="Montserrat"/>
              </a:rPr>
              <a:t>Lai būvgruži atgrieztos būvniecībā, nevis mežā</a:t>
            </a:r>
          </a:p>
        </p:txBody>
      </p:sp>
      <p:sp>
        <p:nvSpPr>
          <p:cNvPr id="4" name="TextBox 3"/>
          <p:cNvSpPr txBox="1"/>
          <p:nvPr/>
        </p:nvSpPr>
        <p:spPr>
          <a:xfrm>
            <a:off x="640080" y="41605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5" name="TextBox 4"/>
          <p:cNvSpPr txBox="1"/>
          <p:nvPr/>
        </p:nvSpPr>
        <p:spPr>
          <a:xfrm>
            <a:off x="640080" y="475488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 Alanguka</a:t>
            </a:r>
          </a:p>
        </p:txBody>
      </p:sp>
      <p:sp>
        <p:nvSpPr>
          <p:cNvPr id="6" name="TextBox 5"/>
          <p:cNvSpPr txBox="1"/>
          <p:nvPr/>
        </p:nvSpPr>
        <p:spPr>
          <a:xfrm>
            <a:off x="640080" y="576072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
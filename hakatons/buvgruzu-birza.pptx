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0:35. HOOK (lēni, ar pauzi): Izmest šo kaudzi mežā maksā nulle eiro. Nodot to legāli: līdz 500 eiro tonnā. Uzminiet, kurš ceļš uzvar. [pauze] Iedomājieties, ka remontējat māju: veci dēļi, betona lauskas, piekabes nav, kur nodot, nezināt. Internetā sludinājums: "izvedam būvgružus lēti". Viens zvans, un gruži nonāk mežā. Būvgruži ir vairāk nekā trešdaļa no visiem ES atkritumiem. Problēma nav cilvēkos. Nelegālais ceļš vienkārši ir lētāks.</a:t>
            </a:r>
          </a:p>
          <a:p/>
          <a:p>
            <a:r>
              <a:t>500 €/t: azbesta šīfera nodošana, LSM 27.11.2023 (avots nr. 17).</a:t>
            </a:r>
          </a:p>
          <a:p>
            <a:r>
              <a:t>Foto avots: https://iauto.lv/zinas/latvija/49412-izg-atkritumus-me-k-tdus-cilvkus-nosaukt-foto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0:30. Mūsu risinājums ir Būvgružu birža, aprites ekonomikas platforma, kas savieno cilvēkus, kuriem ir būvgruži, ar uzņēmumiem, kas tos pārstrādā. Princips kā pudeļu depozītam: nodod un saņem. Cilvēks nodod gružus bez maksas un saņem atlīdzību: par koksni naudu, par betonu punktus. Uzņēmumiem: tīrs materiāls bez šķirošanas izmaksām. Videi: mazāk izgāztuvju mežos un mazāk jaunu izejvielu ieguves.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0:15. Paskatīsimies ar lietotāja acīm. Tu nofotografē gružus un uzreiz redzi, cik saņemsi, vēl pirms reģistrācijas. Kartē redzi tikai tos punktus, kur braukt atmaksājas. Parādīšu.</a:t>
            </a:r>
          </a:p>
          <a:p/>
          <a:p>
            <a:r>
              <a:t>[VIDEO 1:00, Gustavs komentē]</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0:35. Šodien cilvēkam ir četras iespējas. Sludinājums: lēti, bet gruži bieži nonāk mežā. Konteiners: legāli, bet dārgi. Šķirošanas laukums: jāved pašam, un nekas par to netiek. CleanR apmaiņas punkts Stopiņos jau pieņem tīrus būvgružus bez maksas un dod šķembas, bet tas ir viens punkts, un par to maz kurš zina. Būvgružu birža savieno šādus punktus vienā kartē. Un galvenais: lietotne uzreiz parāda, cik saņemsi un vai braukt atmaksājas.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0:10. Būvgružu birža. Lai būvgruži atgrieztos būvniecībā, nevis mežā. Paldies! Labprāt atbildēsim uz jautājumiem.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Pielikums. Netiek rādīts prezentācijas laikā; atvērt tikai, ja žūrija jautā par avotiem.</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44A30"/>
        </a:solidFill>
        <a:effectLst/>
      </p:bgPr>
    </p:bg>
    <p:spTree>
      <p:nvGrpSpPr>
        <p:cNvPr id="1" name=""/>
        <p:cNvGrpSpPr/>
        <p:nvPr/>
      </p:nvGrpSpPr>
      <p:grpSpPr/>
      <p:sp>
        <p:nvSpPr>
          <p:cNvPr id="2" name="TextBox 1"/>
          <p:cNvSpPr txBox="1"/>
          <p:nvPr/>
        </p:nvSpPr>
        <p:spPr>
          <a:xfrm>
            <a:off x="640080" y="548640"/>
            <a:ext cx="7315200" cy="365760"/>
          </a:xfrm>
          <a:prstGeom prst="rect">
            <a:avLst/>
          </a:prstGeom>
          <a:noFill/>
        </p:spPr>
        <p:txBody>
          <a:bodyPr wrap="square" anchor="t" lIns="0" rIns="0" tIns="0" bIns="0">
            <a:spAutoFit/>
          </a:bodyPr>
          <a:lstStyle/>
          <a:p>
            <a:pPr algn="l">
              <a:lnSpc>
                <a:spcPct val="110000"/>
              </a:lnSpc>
              <a:spcAft>
                <a:spcPts val="600"/>
              </a:spcAft>
            </a:pPr>
            <a:r>
              <a:rPr sz="1300" b="1">
                <a:solidFill>
                  <a:srgbClr val="CFE0C8"/>
                </a:solidFill>
                <a:latin typeface="Montserrat"/>
              </a:rPr>
              <a:t>PROBLĒMA</a:t>
            </a:r>
          </a:p>
        </p:txBody>
      </p:sp>
      <p:sp>
        <p:nvSpPr>
          <p:cNvPr id="3" name="TextBox 2"/>
          <p:cNvSpPr txBox="1"/>
          <p:nvPr/>
        </p:nvSpPr>
        <p:spPr>
          <a:xfrm>
            <a:off x="640080" y="960120"/>
            <a:ext cx="5669280" cy="2743200"/>
          </a:xfrm>
          <a:prstGeom prst="rect">
            <a:avLst/>
          </a:prstGeom>
          <a:noFill/>
        </p:spPr>
        <p:txBody>
          <a:bodyPr wrap="square" anchor="t" lIns="0" rIns="0" tIns="0" bIns="0">
            <a:spAutoFit/>
          </a:bodyPr>
          <a:lstStyle/>
          <a:p>
            <a:pPr algn="l">
              <a:lnSpc>
                <a:spcPct val="100000"/>
              </a:lnSpc>
              <a:spcAft>
                <a:spcPts val="600"/>
              </a:spcAft>
            </a:pPr>
            <a:r>
              <a:rPr sz="4600" b="1">
                <a:solidFill>
                  <a:srgbClr val="FFFFFF"/>
                </a:solidFill>
                <a:latin typeface="Montserrat"/>
              </a:rPr>
              <a:t>Būvgruži mežā ir lētāki nekā būvgruži pārstrādē</a:t>
            </a:r>
          </a:p>
        </p:txBody>
      </p:sp>
      <p:sp>
        <p:nvSpPr>
          <p:cNvPr id="4" name="TextBox 3"/>
          <p:cNvSpPr txBox="1"/>
          <p:nvPr/>
        </p:nvSpPr>
        <p:spPr>
          <a:xfrm>
            <a:off x="640080" y="4343400"/>
            <a:ext cx="5029200" cy="914400"/>
          </a:xfrm>
          <a:prstGeom prst="rect">
            <a:avLst/>
          </a:prstGeom>
          <a:noFill/>
        </p:spPr>
        <p:txBody>
          <a:bodyPr wrap="square" anchor="t" lIns="0" rIns="0" tIns="0" bIns="0">
            <a:spAutoFit/>
          </a:bodyPr>
          <a:lstStyle/>
          <a:p>
            <a:pPr algn="l">
              <a:lnSpc>
                <a:spcPct val="110000"/>
              </a:lnSpc>
              <a:spcAft>
                <a:spcPts val="600"/>
              </a:spcAft>
            </a:pPr>
            <a:r>
              <a:rPr sz="6000" b="1">
                <a:solidFill>
                  <a:srgbClr val="FFFFFF"/>
                </a:solidFill>
                <a:latin typeface="Montserrat"/>
              </a:rPr>
              <a:t>&gt; ⅓</a:t>
            </a:r>
          </a:p>
        </p:txBody>
      </p:sp>
      <p:sp>
        <p:nvSpPr>
          <p:cNvPr id="5" name="TextBox 4"/>
          <p:cNvSpPr txBox="1"/>
          <p:nvPr/>
        </p:nvSpPr>
        <p:spPr>
          <a:xfrm>
            <a:off x="640080" y="5349240"/>
            <a:ext cx="5029200" cy="731520"/>
          </a:xfrm>
          <a:prstGeom prst="rect">
            <a:avLst/>
          </a:prstGeom>
          <a:noFill/>
        </p:spPr>
        <p:txBody>
          <a:bodyPr wrap="square" anchor="t" lIns="0" rIns="0" tIns="0" bIns="0">
            <a:spAutoFit/>
          </a:bodyPr>
          <a:lstStyle/>
          <a:p>
            <a:pPr algn="l">
              <a:lnSpc>
                <a:spcPct val="110000"/>
              </a:lnSpc>
              <a:spcAft>
                <a:spcPts val="600"/>
              </a:spcAft>
            </a:pPr>
            <a:r>
              <a:rPr sz="1800" b="0">
                <a:solidFill>
                  <a:srgbClr val="CFE0C8"/>
                </a:solidFill>
                <a:latin typeface="Open Sans"/>
              </a:rPr>
              <a:t>no visiem ES atkritumiem ir būvniecības atkritumi</a:t>
            </a:r>
          </a:p>
        </p:txBody>
      </p:sp>
      <p:pic>
        <p:nvPicPr>
          <p:cNvPr id="6" name="Picture 5" descr="foto-mezs.jpg"/>
          <p:cNvPicPr>
            <a:picLocks noChangeAspect="1"/>
          </p:cNvPicPr>
          <p:nvPr/>
        </p:nvPicPr>
        <p:blipFill>
          <a:blip r:embed="rId2"/>
          <a:stretch>
            <a:fillRect/>
          </a:stretch>
        </p:blipFill>
        <p:spPr>
          <a:xfrm>
            <a:off x="6720840" y="548640"/>
            <a:ext cx="4892040" cy="5760720"/>
          </a:xfrm>
          <a:prstGeom prst="roundRect">
            <a:avLst>
              <a:gd name="adj" fmla="val 7000"/>
            </a:avLst>
          </a:prstGeom>
        </p:spPr>
      </p:pic>
      <p:sp>
        <p:nvSpPr>
          <p:cNvPr id="7" name="TextBox 6"/>
          <p:cNvSpPr txBox="1"/>
          <p:nvPr/>
        </p:nvSpPr>
        <p:spPr>
          <a:xfrm>
            <a:off x="6720840" y="6355080"/>
            <a:ext cx="4892040" cy="182880"/>
          </a:xfrm>
          <a:prstGeom prst="rect">
            <a:avLst/>
          </a:prstGeom>
          <a:noFill/>
        </p:spPr>
        <p:txBody>
          <a:bodyPr wrap="square" anchor="t" lIns="0" rIns="0" tIns="0" bIns="0">
            <a:spAutoFit/>
          </a:bodyPr>
          <a:lstStyle/>
          <a:p>
            <a:pPr algn="r">
              <a:lnSpc>
                <a:spcPct val="110000"/>
              </a:lnSpc>
              <a:spcAft>
                <a:spcPts val="600"/>
              </a:spcAft>
            </a:pPr>
            <a:r>
              <a:rPr sz="800" b="0">
                <a:solidFill>
                  <a:srgbClr val="5E8C5A"/>
                </a:solidFill>
                <a:latin typeface="Open Sans"/>
              </a:rPr>
              <a:t>Foto: iauto.lv</a:t>
            </a:r>
          </a:p>
        </p:txBody>
      </p:sp>
      <p:sp>
        <p:nvSpPr>
          <p:cNvPr id="8" name="Rounded Rectangle 7"/>
          <p:cNvSpPr/>
          <p:nvPr/>
        </p:nvSpPr>
        <p:spPr>
          <a:xfrm>
            <a:off x="6949440" y="777240"/>
            <a:ext cx="2377440" cy="1051560"/>
          </a:xfrm>
          <a:prstGeom prst="roundRect">
            <a:avLst>
              <a:gd name="adj" fmla="val 8000"/>
            </a:avLst>
          </a:prstGeom>
          <a:solidFill>
            <a:srgbClr val="244A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949440" y="777240"/>
            <a:ext cx="2377440" cy="1051560"/>
          </a:xfrm>
          <a:prstGeom prst="rect">
            <a:avLst/>
          </a:prstGeom>
          <a:noFill/>
        </p:spPr>
        <p:txBody>
          <a:bodyPr wrap="square" anchor="ctr" lIns="0" rIns="0" tIns="0" bIns="0">
            <a:spAutoFit/>
          </a:bodyPr>
          <a:lstStyle/>
          <a:p>
            <a:pPr algn="ctr">
              <a:lnSpc>
                <a:spcPct val="100000"/>
              </a:lnSpc>
              <a:spcAft>
                <a:spcPts val="0"/>
              </a:spcAft>
            </a:pPr>
            <a:r>
              <a:rPr sz="1400" b="0">
                <a:solidFill>
                  <a:srgbClr val="CFE0C8"/>
                </a:solidFill>
                <a:latin typeface="Open Sans"/>
              </a:rPr>
              <a:t>Izmest mežā</a:t>
            </a:r>
          </a:p>
          <a:p>
            <a:pPr algn="ctr">
              <a:lnSpc>
                <a:spcPct val="100000"/>
              </a:lnSpc>
              <a:spcAft>
                <a:spcPts val="600"/>
              </a:spcAft>
            </a:pPr>
            <a:r>
              <a:rPr sz="3400" b="1">
                <a:solidFill>
                  <a:srgbClr val="FFFFFF"/>
                </a:solidFill>
                <a:latin typeface="Montserrat"/>
              </a:rPr>
              <a:t>0 €</a:t>
            </a:r>
          </a:p>
        </p:txBody>
      </p:sp>
      <p:sp>
        <p:nvSpPr>
          <p:cNvPr id="10" name="Rounded Rectangle 9"/>
          <p:cNvSpPr/>
          <p:nvPr/>
        </p:nvSpPr>
        <p:spPr>
          <a:xfrm>
            <a:off x="6949440" y="1965960"/>
            <a:ext cx="2377440" cy="105156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949440" y="1965960"/>
            <a:ext cx="2377440" cy="1051560"/>
          </a:xfrm>
          <a:prstGeom prst="rect">
            <a:avLst/>
          </a:prstGeom>
          <a:noFill/>
        </p:spPr>
        <p:txBody>
          <a:bodyPr wrap="square" anchor="ctr" lIns="0" rIns="0" tIns="0" bIns="0">
            <a:spAutoFit/>
          </a:bodyPr>
          <a:lstStyle/>
          <a:p>
            <a:pPr algn="ctr">
              <a:lnSpc>
                <a:spcPct val="100000"/>
              </a:lnSpc>
              <a:spcAft>
                <a:spcPts val="0"/>
              </a:spcAft>
            </a:pPr>
            <a:r>
              <a:rPr sz="1400" b="0">
                <a:solidFill>
                  <a:srgbClr val="5B665D"/>
                </a:solidFill>
                <a:latin typeface="Open Sans"/>
              </a:rPr>
              <a:t>Nodot legāli</a:t>
            </a:r>
          </a:p>
          <a:p>
            <a:pPr algn="ctr">
              <a:lnSpc>
                <a:spcPct val="100000"/>
              </a:lnSpc>
              <a:spcAft>
                <a:spcPts val="600"/>
              </a:spcAft>
            </a:pPr>
            <a:r>
              <a:rPr sz="2600" b="1">
                <a:solidFill>
                  <a:srgbClr val="244A30"/>
                </a:solidFill>
                <a:latin typeface="Montserrat"/>
              </a:rPr>
              <a:t>līdz 500 €/t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EEF3EA"/>
        </a:solidFill>
        <a:effectLst/>
      </p:bgPr>
    </p:bg>
    <p:spTree>
      <p:nvGrpSpPr>
        <p:cNvPr id="1" name=""/>
        <p:cNvGrpSpPr/>
        <p:nvPr/>
      </p:nvGrpSpPr>
      <p:grpSpPr/>
      <p:sp>
        <p:nvSpPr>
          <p:cNvPr id="2" name="TextBox 1"/>
          <p:cNvSpPr txBox="1"/>
          <p:nvPr/>
        </p:nvSpPr>
        <p:spPr>
          <a:xfrm>
            <a:off x="640080" y="548640"/>
            <a:ext cx="7315200" cy="365760"/>
          </a:xfrm>
          <a:prstGeom prst="rect">
            <a:avLst/>
          </a:prstGeom>
          <a:noFill/>
        </p:spPr>
        <p:txBody>
          <a:bodyPr wrap="square" anchor="t" lIns="0" rIns="0" tIns="0" bIns="0">
            <a:spAutoFit/>
          </a:bodyPr>
          <a:lstStyle/>
          <a:p>
            <a:pPr algn="l">
              <a:lnSpc>
                <a:spcPct val="110000"/>
              </a:lnSpc>
              <a:spcAft>
                <a:spcPts val="600"/>
              </a:spcAft>
            </a:pPr>
            <a:r>
              <a:rPr sz="1300" b="1">
                <a:solidFill>
                  <a:srgbClr val="5E8C5A"/>
                </a:solidFill>
                <a:latin typeface="Montserrat"/>
              </a:rPr>
              <a:t>RISINĀJUMS · APRITES EKONOMIKAS PLATFORMA</a:t>
            </a:r>
          </a:p>
        </p:txBody>
      </p:sp>
      <p:sp>
        <p:nvSpPr>
          <p:cNvPr id="3" name="TextBox 2"/>
          <p:cNvSpPr txBox="1"/>
          <p:nvPr/>
        </p:nvSpPr>
        <p:spPr>
          <a:xfrm>
            <a:off x="640080" y="914400"/>
            <a:ext cx="9144000" cy="822960"/>
          </a:xfrm>
          <a:prstGeom prst="rect">
            <a:avLst/>
          </a:prstGeom>
          <a:noFill/>
        </p:spPr>
        <p:txBody>
          <a:bodyPr wrap="square" anchor="t" lIns="0" rIns="0" tIns="0" bIns="0">
            <a:spAutoFit/>
          </a:bodyPr>
          <a:lstStyle/>
          <a:p>
            <a:pPr algn="l">
              <a:lnSpc>
                <a:spcPct val="110000"/>
              </a:lnSpc>
              <a:spcAft>
                <a:spcPts val="600"/>
              </a:spcAft>
            </a:pPr>
            <a:r>
              <a:rPr sz="4400" b="1">
                <a:solidFill>
                  <a:srgbClr val="244A30"/>
                </a:solidFill>
                <a:latin typeface="Montserrat"/>
              </a:rPr>
              <a:t>Būvgružu birža</a:t>
            </a:r>
          </a:p>
        </p:txBody>
      </p:sp>
      <p:sp>
        <p:nvSpPr>
          <p:cNvPr id="4" name="TextBox 3"/>
          <p:cNvSpPr txBox="1"/>
          <p:nvPr/>
        </p:nvSpPr>
        <p:spPr>
          <a:xfrm>
            <a:off x="640080" y="1645920"/>
            <a:ext cx="9326880" cy="914400"/>
          </a:xfrm>
          <a:prstGeom prst="rect">
            <a:avLst/>
          </a:prstGeom>
          <a:noFill/>
        </p:spPr>
        <p:txBody>
          <a:bodyPr wrap="square" anchor="t" lIns="0" rIns="0" tIns="0" bIns="0">
            <a:spAutoFit/>
          </a:bodyPr>
          <a:lstStyle/>
          <a:p>
            <a:pPr algn="l">
              <a:lnSpc>
                <a:spcPct val="110000"/>
              </a:lnSpc>
              <a:spcAft>
                <a:spcPts val="600"/>
              </a:spcAft>
            </a:pPr>
            <a:r>
              <a:rPr sz="1600" b="0">
                <a:solidFill>
                  <a:srgbClr val="5B665D"/>
                </a:solidFill>
                <a:latin typeface="Open Sans"/>
              </a:rPr>
              <a:t>Motivē cilvēkus viegli un bez maksas vai pat par atlīdzību šķirot būvgružus, bet uzņēmumiem ļauj atkārtoti izmantot materiālus jaunu produktu ražošanā.</a:t>
            </a:r>
          </a:p>
        </p:txBody>
      </p:sp>
      <p:pic>
        <p:nvPicPr>
          <p:cNvPr id="5" name="Picture 4" descr="logo.png"/>
          <p:cNvPicPr>
            <a:picLocks noChangeAspect="1"/>
          </p:cNvPicPr>
          <p:nvPr/>
        </p:nvPicPr>
        <p:blipFill>
          <a:blip r:embed="rId2"/>
          <a:stretch>
            <a:fillRect/>
          </a:stretch>
        </p:blipFill>
        <p:spPr>
          <a:xfrm>
            <a:off x="10241280" y="502920"/>
            <a:ext cx="1325880" cy="1290912"/>
          </a:xfrm>
          <a:prstGeom prst="rect">
            <a:avLst/>
          </a:prstGeom>
        </p:spPr>
      </p:pic>
      <p:sp>
        <p:nvSpPr>
          <p:cNvPr id="6" name="Rounded Rectangle 5"/>
          <p:cNvSpPr/>
          <p:nvPr/>
        </p:nvSpPr>
        <p:spPr>
          <a:xfrm>
            <a:off x="640080" y="2743200"/>
            <a:ext cx="3474720" cy="347472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2743200"/>
            <a:ext cx="3474720" cy="109728"/>
          </a:xfrm>
          <a:prstGeom prst="rect">
            <a:avLst/>
          </a:prstGeom>
          <a:solidFill>
            <a:srgbClr val="5E8C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19" y="3108960"/>
            <a:ext cx="2834640" cy="548640"/>
          </a:xfrm>
          <a:prstGeom prst="rect">
            <a:avLst/>
          </a:prstGeom>
          <a:noFill/>
        </p:spPr>
        <p:txBody>
          <a:bodyPr wrap="square" anchor="t" lIns="0" rIns="0" tIns="0" bIns="0">
            <a:spAutoFit/>
          </a:bodyPr>
          <a:lstStyle/>
          <a:p>
            <a:pPr algn="l">
              <a:lnSpc>
                <a:spcPct val="110000"/>
              </a:lnSpc>
              <a:spcAft>
                <a:spcPts val="600"/>
              </a:spcAft>
            </a:pPr>
            <a:r>
              <a:rPr sz="2400" b="1">
                <a:solidFill>
                  <a:srgbClr val="244A30"/>
                </a:solidFill>
                <a:latin typeface="Montserrat"/>
              </a:rPr>
              <a:t>Cilvēkiem</a:t>
            </a:r>
          </a:p>
        </p:txBody>
      </p:sp>
      <p:sp>
        <p:nvSpPr>
          <p:cNvPr id="9" name="TextBox 8"/>
          <p:cNvSpPr txBox="1"/>
          <p:nvPr/>
        </p:nvSpPr>
        <p:spPr>
          <a:xfrm>
            <a:off x="960119" y="3840480"/>
            <a:ext cx="2834640" cy="2286000"/>
          </a:xfrm>
          <a:prstGeom prst="rect">
            <a:avLst/>
          </a:prstGeom>
          <a:noFill/>
        </p:spPr>
        <p:txBody>
          <a:bodyPr wrap="square" anchor="t" lIns="0" rIns="0" tIns="0" bIns="0">
            <a:spAutoFit/>
          </a:bodyPr>
          <a:lstStyle/>
          <a:p>
            <a:pPr algn="l">
              <a:lnSpc>
                <a:spcPct val="110000"/>
              </a:lnSpc>
              <a:spcAft>
                <a:spcPts val="1200"/>
              </a:spcAft>
            </a:pPr>
            <a:r>
              <a:rPr sz="1600" b="0">
                <a:solidFill>
                  <a:srgbClr val="1C261E"/>
                </a:solidFill>
                <a:latin typeface="Open Sans"/>
              </a:rPr>
              <a:t>•  Nodod sašķirotus gružus bez maksas</a:t>
            </a:r>
          </a:p>
          <a:p>
            <a:pPr algn="l">
              <a:lnSpc>
                <a:spcPct val="110000"/>
              </a:lnSpc>
              <a:spcAft>
                <a:spcPts val="1200"/>
              </a:spcAft>
            </a:pPr>
            <a:r>
              <a:rPr sz="1600" b="0">
                <a:solidFill>
                  <a:srgbClr val="1C261E"/>
                </a:solidFill>
                <a:latin typeface="Open Sans"/>
              </a:rPr>
              <a:t>•  Par koksni: nauda</a:t>
            </a:r>
          </a:p>
          <a:p>
            <a:pPr algn="l">
              <a:lnSpc>
                <a:spcPct val="110000"/>
              </a:lnSpc>
              <a:spcAft>
                <a:spcPts val="1200"/>
              </a:spcAft>
            </a:pPr>
            <a:r>
              <a:rPr sz="1600" b="0">
                <a:solidFill>
                  <a:srgbClr val="1C261E"/>
                </a:solidFill>
                <a:latin typeface="Open Sans"/>
              </a:rPr>
              <a:t>•  Par betonu un ķieģeļiem: punkti vai šķembas</a:t>
            </a:r>
          </a:p>
        </p:txBody>
      </p:sp>
      <p:sp>
        <p:nvSpPr>
          <p:cNvPr id="10" name="Rounded Rectangle 9"/>
          <p:cNvSpPr/>
          <p:nvPr/>
        </p:nvSpPr>
        <p:spPr>
          <a:xfrm>
            <a:off x="4343400" y="2743200"/>
            <a:ext cx="3474720" cy="347472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43400" y="2743200"/>
            <a:ext cx="3474720" cy="109728"/>
          </a:xfrm>
          <a:prstGeom prst="rect">
            <a:avLst/>
          </a:prstGeom>
          <a:solidFill>
            <a:srgbClr val="5E8C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663440" y="3108960"/>
            <a:ext cx="2834640" cy="548640"/>
          </a:xfrm>
          <a:prstGeom prst="rect">
            <a:avLst/>
          </a:prstGeom>
          <a:noFill/>
        </p:spPr>
        <p:txBody>
          <a:bodyPr wrap="square" anchor="t" lIns="0" rIns="0" tIns="0" bIns="0">
            <a:spAutoFit/>
          </a:bodyPr>
          <a:lstStyle/>
          <a:p>
            <a:pPr algn="l">
              <a:lnSpc>
                <a:spcPct val="110000"/>
              </a:lnSpc>
              <a:spcAft>
                <a:spcPts val="600"/>
              </a:spcAft>
            </a:pPr>
            <a:r>
              <a:rPr sz="2400" b="1">
                <a:solidFill>
                  <a:srgbClr val="244A30"/>
                </a:solidFill>
                <a:latin typeface="Montserrat"/>
              </a:rPr>
              <a:t>Uzņēmumiem</a:t>
            </a:r>
          </a:p>
        </p:txBody>
      </p:sp>
      <p:sp>
        <p:nvSpPr>
          <p:cNvPr id="13" name="TextBox 12"/>
          <p:cNvSpPr txBox="1"/>
          <p:nvPr/>
        </p:nvSpPr>
        <p:spPr>
          <a:xfrm>
            <a:off x="4663440" y="3840480"/>
            <a:ext cx="2834640" cy="2286000"/>
          </a:xfrm>
          <a:prstGeom prst="rect">
            <a:avLst/>
          </a:prstGeom>
          <a:noFill/>
        </p:spPr>
        <p:txBody>
          <a:bodyPr wrap="square" anchor="t" lIns="0" rIns="0" tIns="0" bIns="0">
            <a:spAutoFit/>
          </a:bodyPr>
          <a:lstStyle/>
          <a:p>
            <a:pPr algn="l">
              <a:lnSpc>
                <a:spcPct val="110000"/>
              </a:lnSpc>
              <a:spcAft>
                <a:spcPts val="1200"/>
              </a:spcAft>
            </a:pPr>
            <a:r>
              <a:rPr sz="1600" b="0">
                <a:solidFill>
                  <a:srgbClr val="1C261E"/>
                </a:solidFill>
                <a:latin typeface="Open Sans"/>
              </a:rPr>
              <a:t>•  Tīrs, sašķirots materiāls</a:t>
            </a:r>
          </a:p>
          <a:p>
            <a:pPr algn="l">
              <a:lnSpc>
                <a:spcPct val="110000"/>
              </a:lnSpc>
              <a:spcAft>
                <a:spcPts val="1200"/>
              </a:spcAft>
            </a:pPr>
            <a:r>
              <a:rPr sz="1600" b="0">
                <a:solidFill>
                  <a:srgbClr val="1C261E"/>
                </a:solidFill>
                <a:latin typeface="Open Sans"/>
              </a:rPr>
              <a:t>•  Bez šķirošanas izmaksām</a:t>
            </a:r>
          </a:p>
          <a:p>
            <a:pPr algn="l">
              <a:lnSpc>
                <a:spcPct val="110000"/>
              </a:lnSpc>
              <a:spcAft>
                <a:spcPts val="1200"/>
              </a:spcAft>
            </a:pPr>
            <a:r>
              <a:rPr sz="1600" b="0">
                <a:solidFill>
                  <a:srgbClr val="1C261E"/>
                </a:solidFill>
                <a:latin typeface="Open Sans"/>
              </a:rPr>
              <a:t>•  Lētāka izejviela nekā jauna</a:t>
            </a:r>
          </a:p>
        </p:txBody>
      </p:sp>
      <p:sp>
        <p:nvSpPr>
          <p:cNvPr id="14" name="Rounded Rectangle 13"/>
          <p:cNvSpPr/>
          <p:nvPr/>
        </p:nvSpPr>
        <p:spPr>
          <a:xfrm>
            <a:off x="8046719" y="2743200"/>
            <a:ext cx="3474720" cy="347472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46719" y="2743200"/>
            <a:ext cx="3474720" cy="109728"/>
          </a:xfrm>
          <a:prstGeom prst="rect">
            <a:avLst/>
          </a:prstGeom>
          <a:solidFill>
            <a:srgbClr val="5E8C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66759" y="3108960"/>
            <a:ext cx="2834640" cy="548640"/>
          </a:xfrm>
          <a:prstGeom prst="rect">
            <a:avLst/>
          </a:prstGeom>
          <a:noFill/>
        </p:spPr>
        <p:txBody>
          <a:bodyPr wrap="square" anchor="t" lIns="0" rIns="0" tIns="0" bIns="0">
            <a:spAutoFit/>
          </a:bodyPr>
          <a:lstStyle/>
          <a:p>
            <a:pPr algn="l">
              <a:lnSpc>
                <a:spcPct val="110000"/>
              </a:lnSpc>
              <a:spcAft>
                <a:spcPts val="600"/>
              </a:spcAft>
            </a:pPr>
            <a:r>
              <a:rPr sz="2400" b="1">
                <a:solidFill>
                  <a:srgbClr val="244A30"/>
                </a:solidFill>
                <a:latin typeface="Montserrat"/>
              </a:rPr>
              <a:t>Videi</a:t>
            </a:r>
          </a:p>
        </p:txBody>
      </p:sp>
      <p:sp>
        <p:nvSpPr>
          <p:cNvPr id="17" name="TextBox 16"/>
          <p:cNvSpPr txBox="1"/>
          <p:nvPr/>
        </p:nvSpPr>
        <p:spPr>
          <a:xfrm>
            <a:off x="8366759" y="3840480"/>
            <a:ext cx="2834640" cy="2286000"/>
          </a:xfrm>
          <a:prstGeom prst="rect">
            <a:avLst/>
          </a:prstGeom>
          <a:noFill/>
        </p:spPr>
        <p:txBody>
          <a:bodyPr wrap="square" anchor="t" lIns="0" rIns="0" tIns="0" bIns="0">
            <a:spAutoFit/>
          </a:bodyPr>
          <a:lstStyle/>
          <a:p>
            <a:pPr algn="l">
              <a:lnSpc>
                <a:spcPct val="110000"/>
              </a:lnSpc>
              <a:spcAft>
                <a:spcPts val="1200"/>
              </a:spcAft>
            </a:pPr>
            <a:r>
              <a:rPr sz="1600" b="0">
                <a:solidFill>
                  <a:srgbClr val="1C261E"/>
                </a:solidFill>
                <a:latin typeface="Open Sans"/>
              </a:rPr>
              <a:t>•  Mazāk izgāztuvju mežos</a:t>
            </a:r>
          </a:p>
          <a:p>
            <a:pPr algn="l">
              <a:lnSpc>
                <a:spcPct val="110000"/>
              </a:lnSpc>
              <a:spcAft>
                <a:spcPts val="1200"/>
              </a:spcAft>
            </a:pPr>
            <a:r>
              <a:rPr sz="1600" b="0">
                <a:solidFill>
                  <a:srgbClr val="1C261E"/>
                </a:solidFill>
                <a:latin typeface="Open Sans"/>
              </a:rPr>
              <a:t>•  Mazāk jaunu izejvielu ieguves</a:t>
            </a:r>
          </a:p>
          <a:p>
            <a:pPr algn="l">
              <a:lnSpc>
                <a:spcPct val="110000"/>
              </a:lnSpc>
              <a:spcAft>
                <a:spcPts val="1200"/>
              </a:spcAft>
            </a:pPr>
            <a:r>
              <a:rPr sz="1600" b="0">
                <a:solidFill>
                  <a:srgbClr val="1C261E"/>
                </a:solidFill>
                <a:latin typeface="Open Sans"/>
              </a:rPr>
              <a:t>•  Pašvaldība ietaupa uz sakopšanu</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EEF3EA"/>
        </a:solidFill>
        <a:effectLst/>
      </p:bgPr>
    </p:bg>
    <p:spTree>
      <p:nvGrpSpPr>
        <p:cNvPr id="1" name=""/>
        <p:cNvGrpSpPr/>
        <p:nvPr/>
      </p:nvGrpSpPr>
      <p:grpSpPr/>
      <p:sp>
        <p:nvSpPr>
          <p:cNvPr id="2" name="TextBox 1"/>
          <p:cNvSpPr txBox="1"/>
          <p:nvPr/>
        </p:nvSpPr>
        <p:spPr>
          <a:xfrm>
            <a:off x="640080" y="548640"/>
            <a:ext cx="7315200" cy="365760"/>
          </a:xfrm>
          <a:prstGeom prst="rect">
            <a:avLst/>
          </a:prstGeom>
          <a:noFill/>
        </p:spPr>
        <p:txBody>
          <a:bodyPr wrap="square" anchor="t" lIns="0" rIns="0" tIns="0" bIns="0">
            <a:spAutoFit/>
          </a:bodyPr>
          <a:lstStyle/>
          <a:p>
            <a:pPr algn="l">
              <a:lnSpc>
                <a:spcPct val="110000"/>
              </a:lnSpc>
              <a:spcAft>
                <a:spcPts val="600"/>
              </a:spcAft>
            </a:pPr>
            <a:r>
              <a:rPr sz="1300" b="1">
                <a:solidFill>
                  <a:srgbClr val="5E8C5A"/>
                </a:solidFill>
                <a:latin typeface="Montserrat"/>
              </a:rPr>
              <a:t>LIETOTĀJA PIEREDZE</a:t>
            </a:r>
          </a:p>
        </p:txBody>
      </p:sp>
      <p:sp>
        <p:nvSpPr>
          <p:cNvPr id="3" name="TextBox 2"/>
          <p:cNvSpPr txBox="1"/>
          <p:nvPr/>
        </p:nvSpPr>
        <p:spPr>
          <a:xfrm>
            <a:off x="640080" y="914400"/>
            <a:ext cx="6583680" cy="822960"/>
          </a:xfrm>
          <a:prstGeom prst="rect">
            <a:avLst/>
          </a:prstGeom>
          <a:noFill/>
        </p:spPr>
        <p:txBody>
          <a:bodyPr wrap="square" anchor="t" lIns="0" rIns="0" tIns="0" bIns="0">
            <a:spAutoFit/>
          </a:bodyPr>
          <a:lstStyle/>
          <a:p>
            <a:pPr algn="l">
              <a:lnSpc>
                <a:spcPct val="110000"/>
              </a:lnSpc>
              <a:spcAft>
                <a:spcPts val="600"/>
              </a:spcAft>
            </a:pPr>
            <a:r>
              <a:rPr sz="4000" b="1">
                <a:solidFill>
                  <a:srgbClr val="244A30"/>
                </a:solidFill>
                <a:latin typeface="Montserrat"/>
              </a:rPr>
              <a:t>Lietotāja ceļš</a:t>
            </a:r>
          </a:p>
        </p:txBody>
      </p:sp>
      <p:sp>
        <p:nvSpPr>
          <p:cNvPr id="4" name="TextBox 3"/>
          <p:cNvSpPr txBox="1"/>
          <p:nvPr/>
        </p:nvSpPr>
        <p:spPr>
          <a:xfrm>
            <a:off x="640080" y="1600200"/>
            <a:ext cx="6583680" cy="457200"/>
          </a:xfrm>
          <a:prstGeom prst="rect">
            <a:avLst/>
          </a:prstGeom>
          <a:noFill/>
        </p:spPr>
        <p:txBody>
          <a:bodyPr wrap="square" anchor="t" lIns="0" rIns="0" tIns="0" bIns="0">
            <a:spAutoFit/>
          </a:bodyPr>
          <a:lstStyle/>
          <a:p>
            <a:pPr algn="l">
              <a:lnSpc>
                <a:spcPct val="110000"/>
              </a:lnSpc>
              <a:spcAft>
                <a:spcPts val="600"/>
              </a:spcAft>
            </a:pPr>
            <a:r>
              <a:rPr sz="1700" b="0">
                <a:solidFill>
                  <a:srgbClr val="5B665D"/>
                </a:solidFill>
                <a:latin typeface="Open Sans"/>
              </a:rPr>
              <a:t>No gružu kaudzes līdz atlīdzībai četros soļos</a:t>
            </a:r>
          </a:p>
        </p:txBody>
      </p:sp>
      <p:sp>
        <p:nvSpPr>
          <p:cNvPr id="5" name="Rounded Rectangle 4"/>
          <p:cNvSpPr/>
          <p:nvPr/>
        </p:nvSpPr>
        <p:spPr>
          <a:xfrm>
            <a:off x="457200" y="3191256"/>
            <a:ext cx="6858000" cy="941832"/>
          </a:xfrm>
          <a:prstGeom prst="roundRect">
            <a:avLst>
              <a:gd name="adj" fmla="val 8000"/>
            </a:avLst>
          </a:prstGeom>
          <a:solidFill>
            <a:srgbClr val="CFE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394960" y="3273552"/>
            <a:ext cx="1783080" cy="274320"/>
          </a:xfrm>
          <a:prstGeom prst="rect">
            <a:avLst/>
          </a:prstGeom>
          <a:noFill/>
        </p:spPr>
        <p:txBody>
          <a:bodyPr wrap="square" anchor="t" lIns="0" rIns="0" tIns="0" bIns="0">
            <a:spAutoFit/>
          </a:bodyPr>
          <a:lstStyle/>
          <a:p>
            <a:pPr algn="r">
              <a:lnSpc>
                <a:spcPct val="110000"/>
              </a:lnSpc>
              <a:spcAft>
                <a:spcPts val="600"/>
              </a:spcAft>
            </a:pPr>
            <a:r>
              <a:rPr sz="1000" b="1">
                <a:solidFill>
                  <a:srgbClr val="244A30"/>
                </a:solidFill>
                <a:latin typeface="Montserrat"/>
              </a:rPr>
              <a:t>GALVENĀ FUNKCIJA</a:t>
            </a:r>
          </a:p>
        </p:txBody>
      </p:sp>
      <p:sp>
        <p:nvSpPr>
          <p:cNvPr id="7" name="Oval 6"/>
          <p:cNvSpPr/>
          <p:nvPr/>
        </p:nvSpPr>
        <p:spPr>
          <a:xfrm>
            <a:off x="640080" y="2331720"/>
            <a:ext cx="685800" cy="685800"/>
          </a:xfrm>
          <a:prstGeom prst="ellipse">
            <a:avLst/>
          </a:prstGeom>
          <a:solidFill>
            <a:srgbClr val="244A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2331720"/>
            <a:ext cx="685800" cy="685800"/>
          </a:xfrm>
          <a:prstGeom prst="rect">
            <a:avLst/>
          </a:prstGeom>
          <a:noFill/>
        </p:spPr>
        <p:txBody>
          <a:bodyPr wrap="square" anchor="ctr" lIns="0" rIns="0" tIns="0" bIns="0">
            <a:spAutoFit/>
          </a:bodyPr>
          <a:lstStyle/>
          <a:p>
            <a:pPr algn="ctr">
              <a:lnSpc>
                <a:spcPct val="110000"/>
              </a:lnSpc>
              <a:spcAft>
                <a:spcPts val="600"/>
              </a:spcAft>
            </a:pPr>
            <a:r>
              <a:rPr sz="2200" b="1">
                <a:solidFill>
                  <a:srgbClr val="FFFFFF"/>
                </a:solidFill>
                <a:latin typeface="Montserrat"/>
              </a:rPr>
              <a:t>1</a:t>
            </a:r>
          </a:p>
        </p:txBody>
      </p:sp>
      <p:sp>
        <p:nvSpPr>
          <p:cNvPr id="9" name="TextBox 8"/>
          <p:cNvSpPr txBox="1"/>
          <p:nvPr/>
        </p:nvSpPr>
        <p:spPr>
          <a:xfrm>
            <a:off x="1554480" y="2313432"/>
            <a:ext cx="5669280" cy="457200"/>
          </a:xfrm>
          <a:prstGeom prst="rect">
            <a:avLst/>
          </a:prstGeom>
          <a:noFill/>
        </p:spPr>
        <p:txBody>
          <a:bodyPr wrap="square" anchor="t" lIns="0" rIns="0" tIns="0" bIns="0">
            <a:spAutoFit/>
          </a:bodyPr>
          <a:lstStyle/>
          <a:p>
            <a:pPr algn="l">
              <a:lnSpc>
                <a:spcPct val="110000"/>
              </a:lnSpc>
              <a:spcAft>
                <a:spcPts val="600"/>
              </a:spcAft>
            </a:pPr>
            <a:r>
              <a:rPr sz="2100" b="1">
                <a:solidFill>
                  <a:srgbClr val="1C261E"/>
                </a:solidFill>
                <a:latin typeface="Montserrat"/>
              </a:rPr>
              <a:t>Nofotografē</a:t>
            </a:r>
          </a:p>
        </p:txBody>
      </p:sp>
      <p:sp>
        <p:nvSpPr>
          <p:cNvPr id="10" name="TextBox 9"/>
          <p:cNvSpPr txBox="1"/>
          <p:nvPr/>
        </p:nvSpPr>
        <p:spPr>
          <a:xfrm>
            <a:off x="1554480" y="2715768"/>
            <a:ext cx="5669280" cy="365760"/>
          </a:xfrm>
          <a:prstGeom prst="rect">
            <a:avLst/>
          </a:prstGeom>
          <a:noFill/>
        </p:spPr>
        <p:txBody>
          <a:bodyPr wrap="square" anchor="t" lIns="0" rIns="0" tIns="0" bIns="0">
            <a:spAutoFit/>
          </a:bodyPr>
          <a:lstStyle/>
          <a:p>
            <a:pPr algn="l">
              <a:lnSpc>
                <a:spcPct val="110000"/>
              </a:lnSpc>
              <a:spcAft>
                <a:spcPts val="600"/>
              </a:spcAft>
            </a:pPr>
            <a:r>
              <a:rPr sz="1400" b="0">
                <a:solidFill>
                  <a:srgbClr val="5B665D"/>
                </a:solidFill>
                <a:latin typeface="Open Sans"/>
              </a:rPr>
              <a:t>Izvēlas veidu un daudzumu maisos</a:t>
            </a:r>
          </a:p>
        </p:txBody>
      </p:sp>
      <p:sp>
        <p:nvSpPr>
          <p:cNvPr id="11" name="Oval 10"/>
          <p:cNvSpPr/>
          <p:nvPr/>
        </p:nvSpPr>
        <p:spPr>
          <a:xfrm>
            <a:off x="640080" y="3319272"/>
            <a:ext cx="685800" cy="685800"/>
          </a:xfrm>
          <a:prstGeom prst="ellipse">
            <a:avLst/>
          </a:prstGeom>
          <a:solidFill>
            <a:srgbClr val="244A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319272"/>
            <a:ext cx="685800" cy="685800"/>
          </a:xfrm>
          <a:prstGeom prst="rect">
            <a:avLst/>
          </a:prstGeom>
          <a:noFill/>
        </p:spPr>
        <p:txBody>
          <a:bodyPr wrap="square" anchor="ctr" lIns="0" rIns="0" tIns="0" bIns="0">
            <a:spAutoFit/>
          </a:bodyPr>
          <a:lstStyle/>
          <a:p>
            <a:pPr algn="ctr">
              <a:lnSpc>
                <a:spcPct val="110000"/>
              </a:lnSpc>
              <a:spcAft>
                <a:spcPts val="600"/>
              </a:spcAft>
            </a:pPr>
            <a:r>
              <a:rPr sz="2200" b="1">
                <a:solidFill>
                  <a:srgbClr val="FFFFFF"/>
                </a:solidFill>
                <a:latin typeface="Montserrat"/>
              </a:rPr>
              <a:t>2</a:t>
            </a:r>
          </a:p>
        </p:txBody>
      </p:sp>
      <p:sp>
        <p:nvSpPr>
          <p:cNvPr id="13" name="TextBox 12"/>
          <p:cNvSpPr txBox="1"/>
          <p:nvPr/>
        </p:nvSpPr>
        <p:spPr>
          <a:xfrm>
            <a:off x="1554480" y="3300984"/>
            <a:ext cx="5669280" cy="457200"/>
          </a:xfrm>
          <a:prstGeom prst="rect">
            <a:avLst/>
          </a:prstGeom>
          <a:noFill/>
        </p:spPr>
        <p:txBody>
          <a:bodyPr wrap="square" anchor="t" lIns="0" rIns="0" tIns="0" bIns="0">
            <a:spAutoFit/>
          </a:bodyPr>
          <a:lstStyle/>
          <a:p>
            <a:pPr algn="l">
              <a:lnSpc>
                <a:spcPct val="110000"/>
              </a:lnSpc>
              <a:spcAft>
                <a:spcPts val="600"/>
              </a:spcAft>
            </a:pPr>
            <a:r>
              <a:rPr sz="2100" b="1">
                <a:solidFill>
                  <a:srgbClr val="1C261E"/>
                </a:solidFill>
                <a:latin typeface="Montserrat"/>
              </a:rPr>
              <a:t>Uzreiz redz atlīdzību</a:t>
            </a:r>
          </a:p>
        </p:txBody>
      </p:sp>
      <p:sp>
        <p:nvSpPr>
          <p:cNvPr id="14" name="TextBox 13"/>
          <p:cNvSpPr txBox="1"/>
          <p:nvPr/>
        </p:nvSpPr>
        <p:spPr>
          <a:xfrm>
            <a:off x="1554480" y="3703320"/>
            <a:ext cx="5669280" cy="365760"/>
          </a:xfrm>
          <a:prstGeom prst="rect">
            <a:avLst/>
          </a:prstGeom>
          <a:noFill/>
        </p:spPr>
        <p:txBody>
          <a:bodyPr wrap="square" anchor="t" lIns="0" rIns="0" tIns="0" bIns="0">
            <a:spAutoFit/>
          </a:bodyPr>
          <a:lstStyle/>
          <a:p>
            <a:pPr algn="l">
              <a:lnSpc>
                <a:spcPct val="110000"/>
              </a:lnSpc>
              <a:spcAft>
                <a:spcPts val="600"/>
              </a:spcAft>
            </a:pPr>
            <a:r>
              <a:rPr sz="1400" b="0">
                <a:solidFill>
                  <a:srgbClr val="5B665D"/>
                </a:solidFill>
                <a:latin typeface="Open Sans"/>
              </a:rPr>
              <a:t>Cik saņems un vai braukt atmaksājas</a:t>
            </a:r>
          </a:p>
        </p:txBody>
      </p:sp>
      <p:sp>
        <p:nvSpPr>
          <p:cNvPr id="15" name="Oval 14"/>
          <p:cNvSpPr/>
          <p:nvPr/>
        </p:nvSpPr>
        <p:spPr>
          <a:xfrm>
            <a:off x="640080" y="4306824"/>
            <a:ext cx="685800" cy="685800"/>
          </a:xfrm>
          <a:prstGeom prst="ellipse">
            <a:avLst/>
          </a:prstGeom>
          <a:solidFill>
            <a:srgbClr val="244A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306824"/>
            <a:ext cx="685800" cy="685800"/>
          </a:xfrm>
          <a:prstGeom prst="rect">
            <a:avLst/>
          </a:prstGeom>
          <a:noFill/>
        </p:spPr>
        <p:txBody>
          <a:bodyPr wrap="square" anchor="ctr" lIns="0" rIns="0" tIns="0" bIns="0">
            <a:spAutoFit/>
          </a:bodyPr>
          <a:lstStyle/>
          <a:p>
            <a:pPr algn="ctr">
              <a:lnSpc>
                <a:spcPct val="110000"/>
              </a:lnSpc>
              <a:spcAft>
                <a:spcPts val="600"/>
              </a:spcAft>
            </a:pPr>
            <a:r>
              <a:rPr sz="2200" b="1">
                <a:solidFill>
                  <a:srgbClr val="FFFFFF"/>
                </a:solidFill>
                <a:latin typeface="Montserrat"/>
              </a:rPr>
              <a:t>3</a:t>
            </a:r>
          </a:p>
        </p:txBody>
      </p:sp>
      <p:sp>
        <p:nvSpPr>
          <p:cNvPr id="17" name="TextBox 16"/>
          <p:cNvSpPr txBox="1"/>
          <p:nvPr/>
        </p:nvSpPr>
        <p:spPr>
          <a:xfrm>
            <a:off x="1554480" y="4288536"/>
            <a:ext cx="5669280" cy="457200"/>
          </a:xfrm>
          <a:prstGeom prst="rect">
            <a:avLst/>
          </a:prstGeom>
          <a:noFill/>
        </p:spPr>
        <p:txBody>
          <a:bodyPr wrap="square" anchor="t" lIns="0" rIns="0" tIns="0" bIns="0">
            <a:spAutoFit/>
          </a:bodyPr>
          <a:lstStyle/>
          <a:p>
            <a:pPr algn="l">
              <a:lnSpc>
                <a:spcPct val="110000"/>
              </a:lnSpc>
              <a:spcAft>
                <a:spcPts val="600"/>
              </a:spcAft>
            </a:pPr>
            <a:r>
              <a:rPr sz="2100" b="1">
                <a:solidFill>
                  <a:srgbClr val="1C261E"/>
                </a:solidFill>
                <a:latin typeface="Montserrat"/>
              </a:rPr>
              <a:t>Izvēlas punktu kartē</a:t>
            </a:r>
          </a:p>
        </p:txBody>
      </p:sp>
      <p:sp>
        <p:nvSpPr>
          <p:cNvPr id="18" name="TextBox 17"/>
          <p:cNvSpPr txBox="1"/>
          <p:nvPr/>
        </p:nvSpPr>
        <p:spPr>
          <a:xfrm>
            <a:off x="1554480" y="4690872"/>
            <a:ext cx="5669280" cy="365760"/>
          </a:xfrm>
          <a:prstGeom prst="rect">
            <a:avLst/>
          </a:prstGeom>
          <a:noFill/>
        </p:spPr>
        <p:txBody>
          <a:bodyPr wrap="square" anchor="t" lIns="0" rIns="0" tIns="0" bIns="0">
            <a:spAutoFit/>
          </a:bodyPr>
          <a:lstStyle/>
          <a:p>
            <a:pPr algn="l">
              <a:lnSpc>
                <a:spcPct val="110000"/>
              </a:lnSpc>
              <a:spcAft>
                <a:spcPts val="600"/>
              </a:spcAft>
            </a:pPr>
            <a:r>
              <a:rPr sz="1400" b="0">
                <a:solidFill>
                  <a:srgbClr val="5B665D"/>
                </a:solidFill>
                <a:latin typeface="Open Sans"/>
              </a:rPr>
              <a:t>Tikai tur, kur atlīdzība &gt; degvielas izmaksas</a:t>
            </a:r>
          </a:p>
        </p:txBody>
      </p:sp>
      <p:sp>
        <p:nvSpPr>
          <p:cNvPr id="19" name="Oval 18"/>
          <p:cNvSpPr/>
          <p:nvPr/>
        </p:nvSpPr>
        <p:spPr>
          <a:xfrm>
            <a:off x="640080" y="5294376"/>
            <a:ext cx="685800" cy="685800"/>
          </a:xfrm>
          <a:prstGeom prst="ellipse">
            <a:avLst/>
          </a:prstGeom>
          <a:solidFill>
            <a:srgbClr val="244A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5294376"/>
            <a:ext cx="685800" cy="685800"/>
          </a:xfrm>
          <a:prstGeom prst="rect">
            <a:avLst/>
          </a:prstGeom>
          <a:noFill/>
        </p:spPr>
        <p:txBody>
          <a:bodyPr wrap="square" anchor="ctr" lIns="0" rIns="0" tIns="0" bIns="0">
            <a:spAutoFit/>
          </a:bodyPr>
          <a:lstStyle/>
          <a:p>
            <a:pPr algn="ctr">
              <a:lnSpc>
                <a:spcPct val="110000"/>
              </a:lnSpc>
              <a:spcAft>
                <a:spcPts val="600"/>
              </a:spcAft>
            </a:pPr>
            <a:r>
              <a:rPr sz="2200" b="1">
                <a:solidFill>
                  <a:srgbClr val="FFFFFF"/>
                </a:solidFill>
                <a:latin typeface="Montserrat"/>
              </a:rPr>
              <a:t>4</a:t>
            </a:r>
          </a:p>
        </p:txBody>
      </p:sp>
      <p:sp>
        <p:nvSpPr>
          <p:cNvPr id="21" name="TextBox 20"/>
          <p:cNvSpPr txBox="1"/>
          <p:nvPr/>
        </p:nvSpPr>
        <p:spPr>
          <a:xfrm>
            <a:off x="1554480" y="5276088"/>
            <a:ext cx="5669280" cy="457200"/>
          </a:xfrm>
          <a:prstGeom prst="rect">
            <a:avLst/>
          </a:prstGeom>
          <a:noFill/>
        </p:spPr>
        <p:txBody>
          <a:bodyPr wrap="square" anchor="t" lIns="0" rIns="0" tIns="0" bIns="0">
            <a:spAutoFit/>
          </a:bodyPr>
          <a:lstStyle/>
          <a:p>
            <a:pPr algn="l">
              <a:lnSpc>
                <a:spcPct val="110000"/>
              </a:lnSpc>
              <a:spcAft>
                <a:spcPts val="600"/>
              </a:spcAft>
            </a:pPr>
            <a:r>
              <a:rPr sz="2100" b="1">
                <a:solidFill>
                  <a:srgbClr val="1C261E"/>
                </a:solidFill>
                <a:latin typeface="Montserrat"/>
              </a:rPr>
              <a:t>Nodod un saņem</a:t>
            </a:r>
          </a:p>
        </p:txBody>
      </p:sp>
      <p:sp>
        <p:nvSpPr>
          <p:cNvPr id="22" name="TextBox 21"/>
          <p:cNvSpPr txBox="1"/>
          <p:nvPr/>
        </p:nvSpPr>
        <p:spPr>
          <a:xfrm>
            <a:off x="1554480" y="5678424"/>
            <a:ext cx="5669280" cy="365760"/>
          </a:xfrm>
          <a:prstGeom prst="rect">
            <a:avLst/>
          </a:prstGeom>
          <a:noFill/>
        </p:spPr>
        <p:txBody>
          <a:bodyPr wrap="square" anchor="t" lIns="0" rIns="0" tIns="0" bIns="0">
            <a:spAutoFit/>
          </a:bodyPr>
          <a:lstStyle/>
          <a:p>
            <a:pPr algn="l">
              <a:lnSpc>
                <a:spcPct val="110000"/>
              </a:lnSpc>
              <a:spcAft>
                <a:spcPts val="600"/>
              </a:spcAft>
            </a:pPr>
            <a:r>
              <a:rPr sz="1400" b="0">
                <a:solidFill>
                  <a:srgbClr val="5B665D"/>
                </a:solidFill>
                <a:latin typeface="Open Sans"/>
              </a:rPr>
              <a:t>Nosver, pārbauda, atlīdzība kontā</a:t>
            </a:r>
          </a:p>
        </p:txBody>
      </p:sp>
      <p:sp>
        <p:nvSpPr>
          <p:cNvPr id="23" name="Rounded Rectangle 22"/>
          <p:cNvSpPr/>
          <p:nvPr/>
        </p:nvSpPr>
        <p:spPr>
          <a:xfrm>
            <a:off x="7589520" y="548640"/>
            <a:ext cx="3291840" cy="5760720"/>
          </a:xfrm>
          <a:prstGeom prst="roundRect">
            <a:avLst>
              <a:gd name="adj" fmla="val 8000"/>
            </a:avLst>
          </a:prstGeom>
          <a:solidFill>
            <a:srgbClr val="244A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7726679" y="685800"/>
            <a:ext cx="3017520" cy="5486400"/>
          </a:xfrm>
          <a:prstGeom prst="roundRect">
            <a:avLst>
              <a:gd name="adj" fmla="val 8000"/>
            </a:avLst>
          </a:prstGeom>
          <a:solidFill>
            <a:srgbClr val="CFE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726679" y="685800"/>
            <a:ext cx="3017520" cy="5486400"/>
          </a:xfrm>
          <a:prstGeom prst="rect">
            <a:avLst/>
          </a:prstGeom>
          <a:noFill/>
        </p:spPr>
        <p:txBody>
          <a:bodyPr wrap="square" anchor="ctr" lIns="0" rIns="0" tIns="0" bIns="0">
            <a:spAutoFit/>
          </a:bodyPr>
          <a:lstStyle/>
          <a:p>
            <a:pPr algn="ctr">
              <a:lnSpc>
                <a:spcPct val="110000"/>
              </a:lnSpc>
              <a:spcAft>
                <a:spcPts val="600"/>
              </a:spcAft>
            </a:pPr>
            <a:r>
              <a:rPr sz="1600" b="0">
                <a:solidFill>
                  <a:srgbClr val="244A30"/>
                </a:solidFill>
                <a:latin typeface="Open Sans"/>
              </a:rPr>
              <a:t>VIDEO</a:t>
            </a:r>
          </a:p>
          <a:p>
            <a:pPr algn="ctr">
              <a:lnSpc>
                <a:spcPct val="110000"/>
              </a:lnSpc>
              <a:spcAft>
                <a:spcPts val="600"/>
              </a:spcAft>
            </a:pPr>
            <a:r>
              <a:rPr sz="1600" b="0">
                <a:solidFill>
                  <a:srgbClr val="244A30"/>
                </a:solidFill>
                <a:latin typeface="Open Sans"/>
              </a:rPr>
              <a:t>no lietotnes</a:t>
            </a:r>
          </a:p>
          <a:p>
            <a:pPr algn="ctr">
              <a:lnSpc>
                <a:spcPct val="110000"/>
              </a:lnSpc>
              <a:spcAft>
                <a:spcPts val="600"/>
              </a:spcAft>
            </a:pPr>
            <a:r>
              <a:rPr sz="1600" b="0">
                <a:solidFill>
                  <a:srgbClr val="244A30"/>
                </a:solidFill>
                <a:latin typeface="Open Sans"/>
              </a:rPr>
              <a:t>(ievelc Canva)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EF3EA"/>
        </a:solidFill>
        <a:effectLst/>
      </p:bgPr>
    </p:bg>
    <p:spTree>
      <p:nvGrpSpPr>
        <p:cNvPr id="1" name=""/>
        <p:cNvGrpSpPr/>
        <p:nvPr/>
      </p:nvGrpSpPr>
      <p:grpSpPr/>
      <p:sp>
        <p:nvSpPr>
          <p:cNvPr id="2" name="TextBox 1"/>
          <p:cNvSpPr txBox="1"/>
          <p:nvPr/>
        </p:nvSpPr>
        <p:spPr>
          <a:xfrm>
            <a:off x="640080" y="548640"/>
            <a:ext cx="7315200" cy="365760"/>
          </a:xfrm>
          <a:prstGeom prst="rect">
            <a:avLst/>
          </a:prstGeom>
          <a:noFill/>
        </p:spPr>
        <p:txBody>
          <a:bodyPr wrap="square" anchor="t" lIns="0" rIns="0" tIns="0" bIns="0">
            <a:spAutoFit/>
          </a:bodyPr>
          <a:lstStyle/>
          <a:p>
            <a:pPr algn="l">
              <a:lnSpc>
                <a:spcPct val="110000"/>
              </a:lnSpc>
              <a:spcAft>
                <a:spcPts val="600"/>
              </a:spcAft>
            </a:pPr>
            <a:r>
              <a:rPr sz="1300" b="1">
                <a:solidFill>
                  <a:srgbClr val="5E8C5A"/>
                </a:solidFill>
                <a:latin typeface="Montserrat"/>
              </a:rPr>
              <a:t>KĀPĒC TIEŠI MŪSU RISINĀJUMS</a:t>
            </a:r>
          </a:p>
        </p:txBody>
      </p:sp>
      <p:sp>
        <p:nvSpPr>
          <p:cNvPr id="3" name="TextBox 2"/>
          <p:cNvSpPr txBox="1"/>
          <p:nvPr/>
        </p:nvSpPr>
        <p:spPr>
          <a:xfrm>
            <a:off x="640080" y="914400"/>
            <a:ext cx="10972800" cy="822960"/>
          </a:xfrm>
          <a:prstGeom prst="rect">
            <a:avLst/>
          </a:prstGeom>
          <a:noFill/>
        </p:spPr>
        <p:txBody>
          <a:bodyPr wrap="square" anchor="t" lIns="0" rIns="0" tIns="0" bIns="0">
            <a:spAutoFit/>
          </a:bodyPr>
          <a:lstStyle/>
          <a:p>
            <a:pPr algn="l">
              <a:lnSpc>
                <a:spcPct val="110000"/>
              </a:lnSpc>
              <a:spcAft>
                <a:spcPts val="600"/>
              </a:spcAft>
            </a:pPr>
            <a:r>
              <a:rPr sz="4000" b="1">
                <a:solidFill>
                  <a:srgbClr val="244A30"/>
                </a:solidFill>
                <a:latin typeface="Montserrat"/>
              </a:rPr>
              <a:t>Iespējas šodien</a:t>
            </a:r>
          </a:p>
        </p:txBody>
      </p:sp>
      <p:sp>
        <p:nvSpPr>
          <p:cNvPr id="4" name="TextBox 3"/>
          <p:cNvSpPr txBox="1"/>
          <p:nvPr/>
        </p:nvSpPr>
        <p:spPr>
          <a:xfrm>
            <a:off x="3931920" y="1874519"/>
            <a:ext cx="1920240" cy="320040"/>
          </a:xfrm>
          <a:prstGeom prst="rect">
            <a:avLst/>
          </a:prstGeom>
          <a:noFill/>
        </p:spPr>
        <p:txBody>
          <a:bodyPr wrap="square" anchor="t" lIns="0" rIns="0" tIns="0" bIns="0">
            <a:spAutoFit/>
          </a:bodyPr>
          <a:lstStyle/>
          <a:p>
            <a:pPr algn="l">
              <a:lnSpc>
                <a:spcPct val="110000"/>
              </a:lnSpc>
              <a:spcAft>
                <a:spcPts val="600"/>
              </a:spcAft>
            </a:pPr>
            <a:r>
              <a:rPr sz="1300" b="1">
                <a:solidFill>
                  <a:srgbClr val="5B665D"/>
                </a:solidFill>
                <a:latin typeface="Montserrat"/>
              </a:rPr>
              <a:t>Bez maksas</a:t>
            </a:r>
          </a:p>
        </p:txBody>
      </p:sp>
      <p:sp>
        <p:nvSpPr>
          <p:cNvPr id="5" name="TextBox 4"/>
          <p:cNvSpPr txBox="1"/>
          <p:nvPr/>
        </p:nvSpPr>
        <p:spPr>
          <a:xfrm>
            <a:off x="5852160" y="1874519"/>
            <a:ext cx="1920240" cy="320040"/>
          </a:xfrm>
          <a:prstGeom prst="rect">
            <a:avLst/>
          </a:prstGeom>
          <a:noFill/>
        </p:spPr>
        <p:txBody>
          <a:bodyPr wrap="square" anchor="t" lIns="0" rIns="0" tIns="0" bIns="0">
            <a:spAutoFit/>
          </a:bodyPr>
          <a:lstStyle/>
          <a:p>
            <a:pPr algn="l">
              <a:lnSpc>
                <a:spcPct val="110000"/>
              </a:lnSpc>
              <a:spcAft>
                <a:spcPts val="600"/>
              </a:spcAft>
            </a:pPr>
            <a:r>
              <a:rPr sz="1300" b="1">
                <a:solidFill>
                  <a:srgbClr val="5B665D"/>
                </a:solidFill>
                <a:latin typeface="Montserrat"/>
              </a:rPr>
              <a:t>Ērti</a:t>
            </a:r>
          </a:p>
        </p:txBody>
      </p:sp>
      <p:sp>
        <p:nvSpPr>
          <p:cNvPr id="6" name="TextBox 5"/>
          <p:cNvSpPr txBox="1"/>
          <p:nvPr/>
        </p:nvSpPr>
        <p:spPr>
          <a:xfrm>
            <a:off x="8001000" y="1874519"/>
            <a:ext cx="1920240" cy="320040"/>
          </a:xfrm>
          <a:prstGeom prst="rect">
            <a:avLst/>
          </a:prstGeom>
          <a:noFill/>
        </p:spPr>
        <p:txBody>
          <a:bodyPr wrap="square" anchor="t" lIns="0" rIns="0" tIns="0" bIns="0">
            <a:spAutoFit/>
          </a:bodyPr>
          <a:lstStyle/>
          <a:p>
            <a:pPr algn="l">
              <a:lnSpc>
                <a:spcPct val="110000"/>
              </a:lnSpc>
              <a:spcAft>
                <a:spcPts val="600"/>
              </a:spcAft>
            </a:pPr>
            <a:r>
              <a:rPr sz="1300" b="1">
                <a:solidFill>
                  <a:srgbClr val="5B665D"/>
                </a:solidFill>
                <a:latin typeface="Montserrat"/>
              </a:rPr>
              <a:t>Atlīdzība</a:t>
            </a:r>
          </a:p>
        </p:txBody>
      </p:sp>
      <p:sp>
        <p:nvSpPr>
          <p:cNvPr id="7" name="TextBox 6"/>
          <p:cNvSpPr txBox="1"/>
          <p:nvPr/>
        </p:nvSpPr>
        <p:spPr>
          <a:xfrm>
            <a:off x="9692640" y="1874519"/>
            <a:ext cx="1920240" cy="320040"/>
          </a:xfrm>
          <a:prstGeom prst="rect">
            <a:avLst/>
          </a:prstGeom>
          <a:noFill/>
        </p:spPr>
        <p:txBody>
          <a:bodyPr wrap="square" anchor="t" lIns="0" rIns="0" tIns="0" bIns="0">
            <a:spAutoFit/>
          </a:bodyPr>
          <a:lstStyle/>
          <a:p>
            <a:pPr algn="l">
              <a:lnSpc>
                <a:spcPct val="110000"/>
              </a:lnSpc>
              <a:spcAft>
                <a:spcPts val="600"/>
              </a:spcAft>
            </a:pPr>
            <a:r>
              <a:rPr sz="1300" b="1">
                <a:solidFill>
                  <a:srgbClr val="5B665D"/>
                </a:solidFill>
                <a:latin typeface="Montserrat"/>
              </a:rPr>
              <a:t>Nonāk pārstrādē</a:t>
            </a:r>
          </a:p>
        </p:txBody>
      </p:sp>
      <p:sp>
        <p:nvSpPr>
          <p:cNvPr id="8" name="Rounded Rectangle 7"/>
          <p:cNvSpPr/>
          <p:nvPr/>
        </p:nvSpPr>
        <p:spPr>
          <a:xfrm>
            <a:off x="640080" y="2240280"/>
            <a:ext cx="10927080" cy="566928"/>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2240280"/>
            <a:ext cx="3017520" cy="566928"/>
          </a:xfrm>
          <a:prstGeom prst="rect">
            <a:avLst/>
          </a:prstGeom>
          <a:noFill/>
        </p:spPr>
        <p:txBody>
          <a:bodyPr wrap="square" anchor="ctr" lIns="0" rIns="0" tIns="0" bIns="0">
            <a:spAutoFit/>
          </a:bodyPr>
          <a:lstStyle/>
          <a:p>
            <a:pPr algn="l">
              <a:lnSpc>
                <a:spcPct val="110000"/>
              </a:lnSpc>
              <a:spcAft>
                <a:spcPts val="600"/>
              </a:spcAft>
            </a:pPr>
            <a:r>
              <a:rPr sz="1600" b="1">
                <a:solidFill>
                  <a:srgbClr val="1C261E"/>
                </a:solidFill>
                <a:latin typeface="Montserrat"/>
              </a:rPr>
              <a:t>Sludinājums „izvedam lēti”</a:t>
            </a:r>
          </a:p>
        </p:txBody>
      </p:sp>
      <p:sp>
        <p:nvSpPr>
          <p:cNvPr id="10" name="TextBox 9"/>
          <p:cNvSpPr txBox="1"/>
          <p:nvPr/>
        </p:nvSpPr>
        <p:spPr>
          <a:xfrm>
            <a:off x="3931920" y="2240280"/>
            <a:ext cx="2011680" cy="566928"/>
          </a:xfrm>
          <a:prstGeom prst="rect">
            <a:avLst/>
          </a:prstGeom>
          <a:noFill/>
        </p:spPr>
        <p:txBody>
          <a:bodyPr wrap="square" anchor="ctr" lIns="0" rIns="0" tIns="0" bIns="0">
            <a:spAutoFit/>
          </a:bodyPr>
          <a:lstStyle/>
          <a:p>
            <a:pPr algn="l">
              <a:lnSpc>
                <a:spcPct val="110000"/>
              </a:lnSpc>
              <a:spcAft>
                <a:spcPts val="600"/>
              </a:spcAft>
            </a:pPr>
            <a:r>
              <a:rPr sz="1500" b="0">
                <a:solidFill>
                  <a:srgbClr val="5B665D"/>
                </a:solidFill>
                <a:latin typeface="Open Sans"/>
              </a:rPr>
              <a:t>Lēti</a:t>
            </a:r>
          </a:p>
        </p:txBody>
      </p:sp>
      <p:sp>
        <p:nvSpPr>
          <p:cNvPr id="11" name="TextBox 10"/>
          <p:cNvSpPr txBox="1"/>
          <p:nvPr/>
        </p:nvSpPr>
        <p:spPr>
          <a:xfrm>
            <a:off x="5852160" y="2240280"/>
            <a:ext cx="2011680" cy="566928"/>
          </a:xfrm>
          <a:prstGeom prst="rect">
            <a:avLst/>
          </a:prstGeom>
          <a:noFill/>
        </p:spPr>
        <p:txBody>
          <a:bodyPr wrap="square" anchor="ctr" lIns="0" rIns="0" tIns="0" bIns="0">
            <a:spAutoFit/>
          </a:bodyPr>
          <a:lstStyle/>
          <a:p>
            <a:pPr algn="l">
              <a:lnSpc>
                <a:spcPct val="110000"/>
              </a:lnSpc>
              <a:spcAft>
                <a:spcPts val="600"/>
              </a:spcAft>
            </a:pPr>
            <a:r>
              <a:rPr sz="1500" b="1">
                <a:solidFill>
                  <a:srgbClr val="5E8C5A"/>
                </a:solidFill>
                <a:latin typeface="Open Sans"/>
              </a:rPr>
              <a:t>Jā</a:t>
            </a:r>
          </a:p>
        </p:txBody>
      </p:sp>
      <p:sp>
        <p:nvSpPr>
          <p:cNvPr id="12" name="TextBox 11"/>
          <p:cNvSpPr txBox="1"/>
          <p:nvPr/>
        </p:nvSpPr>
        <p:spPr>
          <a:xfrm>
            <a:off x="8001000" y="2240280"/>
            <a:ext cx="2011680" cy="566928"/>
          </a:xfrm>
          <a:prstGeom prst="rect">
            <a:avLst/>
          </a:prstGeom>
          <a:noFill/>
        </p:spPr>
        <p:txBody>
          <a:bodyPr wrap="square" anchor="ctr" lIns="0" rIns="0" tIns="0" bIns="0">
            <a:spAutoFit/>
          </a:bodyPr>
          <a:lstStyle/>
          <a:p>
            <a:pPr algn="l">
              <a:lnSpc>
                <a:spcPct val="110000"/>
              </a:lnSpc>
              <a:spcAft>
                <a:spcPts val="600"/>
              </a:spcAft>
            </a:pPr>
            <a:r>
              <a:rPr sz="1500" b="1">
                <a:solidFill>
                  <a:srgbClr val="B04A3A"/>
                </a:solidFill>
                <a:latin typeface="Open Sans"/>
              </a:rPr>
              <a:t>Nē</a:t>
            </a:r>
          </a:p>
        </p:txBody>
      </p:sp>
      <p:sp>
        <p:nvSpPr>
          <p:cNvPr id="13" name="TextBox 12"/>
          <p:cNvSpPr txBox="1"/>
          <p:nvPr/>
        </p:nvSpPr>
        <p:spPr>
          <a:xfrm>
            <a:off x="9692640" y="2240280"/>
            <a:ext cx="2011680" cy="566928"/>
          </a:xfrm>
          <a:prstGeom prst="rect">
            <a:avLst/>
          </a:prstGeom>
          <a:noFill/>
        </p:spPr>
        <p:txBody>
          <a:bodyPr wrap="square" anchor="ctr" lIns="0" rIns="0" tIns="0" bIns="0">
            <a:spAutoFit/>
          </a:bodyPr>
          <a:lstStyle/>
          <a:p>
            <a:pPr algn="l">
              <a:lnSpc>
                <a:spcPct val="110000"/>
              </a:lnSpc>
              <a:spcAft>
                <a:spcPts val="600"/>
              </a:spcAft>
            </a:pPr>
            <a:r>
              <a:rPr sz="1500" b="1">
                <a:solidFill>
                  <a:srgbClr val="B04A3A"/>
                </a:solidFill>
                <a:latin typeface="Open Sans"/>
              </a:rPr>
              <a:t>Bieži mežā</a:t>
            </a:r>
          </a:p>
        </p:txBody>
      </p:sp>
      <p:sp>
        <p:nvSpPr>
          <p:cNvPr id="14" name="Rounded Rectangle 13"/>
          <p:cNvSpPr/>
          <p:nvPr/>
        </p:nvSpPr>
        <p:spPr>
          <a:xfrm>
            <a:off x="640080" y="2916936"/>
            <a:ext cx="10927080" cy="566928"/>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2916936"/>
            <a:ext cx="3017520" cy="566928"/>
          </a:xfrm>
          <a:prstGeom prst="rect">
            <a:avLst/>
          </a:prstGeom>
          <a:noFill/>
        </p:spPr>
        <p:txBody>
          <a:bodyPr wrap="square" anchor="ctr" lIns="0" rIns="0" tIns="0" bIns="0">
            <a:spAutoFit/>
          </a:bodyPr>
          <a:lstStyle/>
          <a:p>
            <a:pPr algn="l">
              <a:lnSpc>
                <a:spcPct val="110000"/>
              </a:lnSpc>
              <a:spcAft>
                <a:spcPts val="600"/>
              </a:spcAft>
            </a:pPr>
            <a:r>
              <a:rPr sz="1600" b="1">
                <a:solidFill>
                  <a:srgbClr val="1C261E"/>
                </a:solidFill>
                <a:latin typeface="Montserrat"/>
              </a:rPr>
              <a:t>Konteinera noma</a:t>
            </a:r>
          </a:p>
        </p:txBody>
      </p:sp>
      <p:sp>
        <p:nvSpPr>
          <p:cNvPr id="16" name="TextBox 15"/>
          <p:cNvSpPr txBox="1"/>
          <p:nvPr/>
        </p:nvSpPr>
        <p:spPr>
          <a:xfrm>
            <a:off x="3931920" y="2916936"/>
            <a:ext cx="2011680" cy="566928"/>
          </a:xfrm>
          <a:prstGeom prst="rect">
            <a:avLst/>
          </a:prstGeom>
          <a:noFill/>
        </p:spPr>
        <p:txBody>
          <a:bodyPr wrap="square" anchor="ctr" lIns="0" rIns="0" tIns="0" bIns="0">
            <a:spAutoFit/>
          </a:bodyPr>
          <a:lstStyle/>
          <a:p>
            <a:pPr algn="l">
              <a:lnSpc>
                <a:spcPct val="110000"/>
              </a:lnSpc>
              <a:spcAft>
                <a:spcPts val="600"/>
              </a:spcAft>
            </a:pPr>
            <a:r>
              <a:rPr sz="1500" b="1">
                <a:solidFill>
                  <a:srgbClr val="B04A3A"/>
                </a:solidFill>
                <a:latin typeface="Open Sans"/>
              </a:rPr>
              <a:t>Dārgi</a:t>
            </a:r>
          </a:p>
        </p:txBody>
      </p:sp>
      <p:sp>
        <p:nvSpPr>
          <p:cNvPr id="17" name="TextBox 16"/>
          <p:cNvSpPr txBox="1"/>
          <p:nvPr/>
        </p:nvSpPr>
        <p:spPr>
          <a:xfrm>
            <a:off x="5852160" y="2916936"/>
            <a:ext cx="2011680" cy="566928"/>
          </a:xfrm>
          <a:prstGeom prst="rect">
            <a:avLst/>
          </a:prstGeom>
          <a:noFill/>
        </p:spPr>
        <p:txBody>
          <a:bodyPr wrap="square" anchor="ctr" lIns="0" rIns="0" tIns="0" bIns="0">
            <a:spAutoFit/>
          </a:bodyPr>
          <a:lstStyle/>
          <a:p>
            <a:pPr algn="l">
              <a:lnSpc>
                <a:spcPct val="110000"/>
              </a:lnSpc>
              <a:spcAft>
                <a:spcPts val="600"/>
              </a:spcAft>
            </a:pPr>
            <a:r>
              <a:rPr sz="1500" b="1">
                <a:solidFill>
                  <a:srgbClr val="5E8C5A"/>
                </a:solidFill>
                <a:latin typeface="Open Sans"/>
              </a:rPr>
              <a:t>Jā</a:t>
            </a:r>
          </a:p>
        </p:txBody>
      </p:sp>
      <p:sp>
        <p:nvSpPr>
          <p:cNvPr id="18" name="TextBox 17"/>
          <p:cNvSpPr txBox="1"/>
          <p:nvPr/>
        </p:nvSpPr>
        <p:spPr>
          <a:xfrm>
            <a:off x="8001000" y="2916936"/>
            <a:ext cx="2011680" cy="566928"/>
          </a:xfrm>
          <a:prstGeom prst="rect">
            <a:avLst/>
          </a:prstGeom>
          <a:noFill/>
        </p:spPr>
        <p:txBody>
          <a:bodyPr wrap="square" anchor="ctr" lIns="0" rIns="0" tIns="0" bIns="0">
            <a:spAutoFit/>
          </a:bodyPr>
          <a:lstStyle/>
          <a:p>
            <a:pPr algn="l">
              <a:lnSpc>
                <a:spcPct val="110000"/>
              </a:lnSpc>
              <a:spcAft>
                <a:spcPts val="600"/>
              </a:spcAft>
            </a:pPr>
            <a:r>
              <a:rPr sz="1500" b="1">
                <a:solidFill>
                  <a:srgbClr val="B04A3A"/>
                </a:solidFill>
                <a:latin typeface="Open Sans"/>
              </a:rPr>
              <a:t>Nē</a:t>
            </a:r>
          </a:p>
        </p:txBody>
      </p:sp>
      <p:sp>
        <p:nvSpPr>
          <p:cNvPr id="19" name="TextBox 18"/>
          <p:cNvSpPr txBox="1"/>
          <p:nvPr/>
        </p:nvSpPr>
        <p:spPr>
          <a:xfrm>
            <a:off x="9692640" y="2916936"/>
            <a:ext cx="2011680" cy="566928"/>
          </a:xfrm>
          <a:prstGeom prst="rect">
            <a:avLst/>
          </a:prstGeom>
          <a:noFill/>
        </p:spPr>
        <p:txBody>
          <a:bodyPr wrap="square" anchor="ctr" lIns="0" rIns="0" tIns="0" bIns="0">
            <a:spAutoFit/>
          </a:bodyPr>
          <a:lstStyle/>
          <a:p>
            <a:pPr algn="l">
              <a:lnSpc>
                <a:spcPct val="110000"/>
              </a:lnSpc>
              <a:spcAft>
                <a:spcPts val="600"/>
              </a:spcAft>
            </a:pPr>
            <a:r>
              <a:rPr sz="1500" b="1">
                <a:solidFill>
                  <a:srgbClr val="5E8C5A"/>
                </a:solidFill>
                <a:latin typeface="Open Sans"/>
              </a:rPr>
              <a:t>Jā</a:t>
            </a:r>
          </a:p>
        </p:txBody>
      </p:sp>
      <p:sp>
        <p:nvSpPr>
          <p:cNvPr id="20" name="Rounded Rectangle 19"/>
          <p:cNvSpPr/>
          <p:nvPr/>
        </p:nvSpPr>
        <p:spPr>
          <a:xfrm>
            <a:off x="640080" y="3593592"/>
            <a:ext cx="10927080" cy="566928"/>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68680" y="3593592"/>
            <a:ext cx="3017520" cy="566928"/>
          </a:xfrm>
          <a:prstGeom prst="rect">
            <a:avLst/>
          </a:prstGeom>
          <a:noFill/>
        </p:spPr>
        <p:txBody>
          <a:bodyPr wrap="square" anchor="ctr" lIns="0" rIns="0" tIns="0" bIns="0">
            <a:spAutoFit/>
          </a:bodyPr>
          <a:lstStyle/>
          <a:p>
            <a:pPr algn="l">
              <a:lnSpc>
                <a:spcPct val="110000"/>
              </a:lnSpc>
              <a:spcAft>
                <a:spcPts val="600"/>
              </a:spcAft>
            </a:pPr>
            <a:r>
              <a:rPr sz="1600" b="1">
                <a:solidFill>
                  <a:srgbClr val="1C261E"/>
                </a:solidFill>
                <a:latin typeface="Montserrat"/>
              </a:rPr>
              <a:t>Šķirošanas laukums</a:t>
            </a:r>
          </a:p>
        </p:txBody>
      </p:sp>
      <p:sp>
        <p:nvSpPr>
          <p:cNvPr id="22" name="TextBox 21"/>
          <p:cNvSpPr txBox="1"/>
          <p:nvPr/>
        </p:nvSpPr>
        <p:spPr>
          <a:xfrm>
            <a:off x="3931920" y="3593592"/>
            <a:ext cx="2011680" cy="566928"/>
          </a:xfrm>
          <a:prstGeom prst="rect">
            <a:avLst/>
          </a:prstGeom>
          <a:noFill/>
        </p:spPr>
        <p:txBody>
          <a:bodyPr wrap="square" anchor="ctr" lIns="0" rIns="0" tIns="0" bIns="0">
            <a:spAutoFit/>
          </a:bodyPr>
          <a:lstStyle/>
          <a:p>
            <a:pPr algn="l">
              <a:lnSpc>
                <a:spcPct val="110000"/>
              </a:lnSpc>
              <a:spcAft>
                <a:spcPts val="600"/>
              </a:spcAft>
            </a:pPr>
            <a:r>
              <a:rPr sz="1500" b="0">
                <a:solidFill>
                  <a:srgbClr val="5B665D"/>
                </a:solidFill>
                <a:latin typeface="Open Sans"/>
              </a:rPr>
              <a:t>Daļēji</a:t>
            </a:r>
          </a:p>
        </p:txBody>
      </p:sp>
      <p:sp>
        <p:nvSpPr>
          <p:cNvPr id="23" name="TextBox 22"/>
          <p:cNvSpPr txBox="1"/>
          <p:nvPr/>
        </p:nvSpPr>
        <p:spPr>
          <a:xfrm>
            <a:off x="5852160" y="3593592"/>
            <a:ext cx="2011680" cy="566928"/>
          </a:xfrm>
          <a:prstGeom prst="rect">
            <a:avLst/>
          </a:prstGeom>
          <a:noFill/>
        </p:spPr>
        <p:txBody>
          <a:bodyPr wrap="square" anchor="ctr" lIns="0" rIns="0" tIns="0" bIns="0">
            <a:spAutoFit/>
          </a:bodyPr>
          <a:lstStyle/>
          <a:p>
            <a:pPr algn="l">
              <a:lnSpc>
                <a:spcPct val="110000"/>
              </a:lnSpc>
              <a:spcAft>
                <a:spcPts val="600"/>
              </a:spcAft>
            </a:pPr>
            <a:r>
              <a:rPr sz="1500" b="0">
                <a:solidFill>
                  <a:srgbClr val="5B665D"/>
                </a:solidFill>
                <a:latin typeface="Open Sans"/>
              </a:rPr>
              <a:t>Jāved pašam</a:t>
            </a:r>
          </a:p>
        </p:txBody>
      </p:sp>
      <p:sp>
        <p:nvSpPr>
          <p:cNvPr id="24" name="TextBox 23"/>
          <p:cNvSpPr txBox="1"/>
          <p:nvPr/>
        </p:nvSpPr>
        <p:spPr>
          <a:xfrm>
            <a:off x="8001000" y="3593592"/>
            <a:ext cx="2011680" cy="566928"/>
          </a:xfrm>
          <a:prstGeom prst="rect">
            <a:avLst/>
          </a:prstGeom>
          <a:noFill/>
        </p:spPr>
        <p:txBody>
          <a:bodyPr wrap="square" anchor="ctr" lIns="0" rIns="0" tIns="0" bIns="0">
            <a:spAutoFit/>
          </a:bodyPr>
          <a:lstStyle/>
          <a:p>
            <a:pPr algn="l">
              <a:lnSpc>
                <a:spcPct val="110000"/>
              </a:lnSpc>
              <a:spcAft>
                <a:spcPts val="600"/>
              </a:spcAft>
            </a:pPr>
            <a:r>
              <a:rPr sz="1500" b="1">
                <a:solidFill>
                  <a:srgbClr val="B04A3A"/>
                </a:solidFill>
                <a:latin typeface="Open Sans"/>
              </a:rPr>
              <a:t>Nē</a:t>
            </a:r>
          </a:p>
        </p:txBody>
      </p:sp>
      <p:sp>
        <p:nvSpPr>
          <p:cNvPr id="25" name="TextBox 24"/>
          <p:cNvSpPr txBox="1"/>
          <p:nvPr/>
        </p:nvSpPr>
        <p:spPr>
          <a:xfrm>
            <a:off x="9692640" y="3593592"/>
            <a:ext cx="2011680" cy="566928"/>
          </a:xfrm>
          <a:prstGeom prst="rect">
            <a:avLst/>
          </a:prstGeom>
          <a:noFill/>
        </p:spPr>
        <p:txBody>
          <a:bodyPr wrap="square" anchor="ctr" lIns="0" rIns="0" tIns="0" bIns="0">
            <a:spAutoFit/>
          </a:bodyPr>
          <a:lstStyle/>
          <a:p>
            <a:pPr algn="l">
              <a:lnSpc>
                <a:spcPct val="110000"/>
              </a:lnSpc>
              <a:spcAft>
                <a:spcPts val="600"/>
              </a:spcAft>
            </a:pPr>
            <a:r>
              <a:rPr sz="1500" b="1">
                <a:solidFill>
                  <a:srgbClr val="5E8C5A"/>
                </a:solidFill>
                <a:latin typeface="Open Sans"/>
              </a:rPr>
              <a:t>Jā</a:t>
            </a:r>
          </a:p>
        </p:txBody>
      </p:sp>
      <p:sp>
        <p:nvSpPr>
          <p:cNvPr id="26" name="Rounded Rectangle 25"/>
          <p:cNvSpPr/>
          <p:nvPr/>
        </p:nvSpPr>
        <p:spPr>
          <a:xfrm>
            <a:off x="640080" y="4270248"/>
            <a:ext cx="10927080" cy="566928"/>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68680" y="4270248"/>
            <a:ext cx="3017520" cy="566928"/>
          </a:xfrm>
          <a:prstGeom prst="rect">
            <a:avLst/>
          </a:prstGeom>
          <a:noFill/>
        </p:spPr>
        <p:txBody>
          <a:bodyPr wrap="square" anchor="ctr" lIns="0" rIns="0" tIns="0" bIns="0">
            <a:spAutoFit/>
          </a:bodyPr>
          <a:lstStyle/>
          <a:p>
            <a:pPr algn="l">
              <a:lnSpc>
                <a:spcPct val="110000"/>
              </a:lnSpc>
              <a:spcAft>
                <a:spcPts val="600"/>
              </a:spcAft>
            </a:pPr>
            <a:r>
              <a:rPr sz="1600" b="1">
                <a:solidFill>
                  <a:srgbClr val="1C261E"/>
                </a:solidFill>
                <a:latin typeface="Montserrat"/>
              </a:rPr>
              <a:t>CleanR apmaiņas punkts</a:t>
            </a:r>
          </a:p>
        </p:txBody>
      </p:sp>
      <p:sp>
        <p:nvSpPr>
          <p:cNvPr id="28" name="TextBox 27"/>
          <p:cNvSpPr txBox="1"/>
          <p:nvPr/>
        </p:nvSpPr>
        <p:spPr>
          <a:xfrm>
            <a:off x="3931920" y="4270248"/>
            <a:ext cx="2011680" cy="566928"/>
          </a:xfrm>
          <a:prstGeom prst="rect">
            <a:avLst/>
          </a:prstGeom>
          <a:noFill/>
        </p:spPr>
        <p:txBody>
          <a:bodyPr wrap="square" anchor="ctr" lIns="0" rIns="0" tIns="0" bIns="0">
            <a:spAutoFit/>
          </a:bodyPr>
          <a:lstStyle/>
          <a:p>
            <a:pPr algn="l">
              <a:lnSpc>
                <a:spcPct val="110000"/>
              </a:lnSpc>
              <a:spcAft>
                <a:spcPts val="600"/>
              </a:spcAft>
            </a:pPr>
            <a:r>
              <a:rPr sz="1500" b="1">
                <a:solidFill>
                  <a:srgbClr val="5E8C5A"/>
                </a:solidFill>
                <a:latin typeface="Open Sans"/>
              </a:rPr>
              <a:t>Jā</a:t>
            </a:r>
          </a:p>
        </p:txBody>
      </p:sp>
      <p:sp>
        <p:nvSpPr>
          <p:cNvPr id="29" name="TextBox 28"/>
          <p:cNvSpPr txBox="1"/>
          <p:nvPr/>
        </p:nvSpPr>
        <p:spPr>
          <a:xfrm>
            <a:off x="5852160" y="4270248"/>
            <a:ext cx="2011680" cy="566928"/>
          </a:xfrm>
          <a:prstGeom prst="rect">
            <a:avLst/>
          </a:prstGeom>
          <a:noFill/>
        </p:spPr>
        <p:txBody>
          <a:bodyPr wrap="square" anchor="ctr" lIns="0" rIns="0" tIns="0" bIns="0">
            <a:spAutoFit/>
          </a:bodyPr>
          <a:lstStyle/>
          <a:p>
            <a:pPr algn="l">
              <a:lnSpc>
                <a:spcPct val="110000"/>
              </a:lnSpc>
              <a:spcAft>
                <a:spcPts val="600"/>
              </a:spcAft>
            </a:pPr>
            <a:r>
              <a:rPr sz="1500" b="0">
                <a:solidFill>
                  <a:srgbClr val="5B665D"/>
                </a:solidFill>
                <a:latin typeface="Open Sans"/>
              </a:rPr>
              <a:t>Viens punkts</a:t>
            </a:r>
          </a:p>
        </p:txBody>
      </p:sp>
      <p:sp>
        <p:nvSpPr>
          <p:cNvPr id="30" name="TextBox 29"/>
          <p:cNvSpPr txBox="1"/>
          <p:nvPr/>
        </p:nvSpPr>
        <p:spPr>
          <a:xfrm>
            <a:off x="8001000" y="4270248"/>
            <a:ext cx="2011680" cy="566928"/>
          </a:xfrm>
          <a:prstGeom prst="rect">
            <a:avLst/>
          </a:prstGeom>
          <a:noFill/>
        </p:spPr>
        <p:txBody>
          <a:bodyPr wrap="square" anchor="ctr" lIns="0" rIns="0" tIns="0" bIns="0">
            <a:spAutoFit/>
          </a:bodyPr>
          <a:lstStyle/>
          <a:p>
            <a:pPr algn="l">
              <a:lnSpc>
                <a:spcPct val="110000"/>
              </a:lnSpc>
              <a:spcAft>
                <a:spcPts val="600"/>
              </a:spcAft>
            </a:pPr>
            <a:r>
              <a:rPr sz="1500" b="0">
                <a:solidFill>
                  <a:srgbClr val="5B665D"/>
                </a:solidFill>
                <a:latin typeface="Open Sans"/>
              </a:rPr>
              <a:t>Šķembas</a:t>
            </a:r>
          </a:p>
        </p:txBody>
      </p:sp>
      <p:sp>
        <p:nvSpPr>
          <p:cNvPr id="31" name="TextBox 30"/>
          <p:cNvSpPr txBox="1"/>
          <p:nvPr/>
        </p:nvSpPr>
        <p:spPr>
          <a:xfrm>
            <a:off x="9692640" y="4270248"/>
            <a:ext cx="2011680" cy="566928"/>
          </a:xfrm>
          <a:prstGeom prst="rect">
            <a:avLst/>
          </a:prstGeom>
          <a:noFill/>
        </p:spPr>
        <p:txBody>
          <a:bodyPr wrap="square" anchor="ctr" lIns="0" rIns="0" tIns="0" bIns="0">
            <a:spAutoFit/>
          </a:bodyPr>
          <a:lstStyle/>
          <a:p>
            <a:pPr algn="l">
              <a:lnSpc>
                <a:spcPct val="110000"/>
              </a:lnSpc>
              <a:spcAft>
                <a:spcPts val="600"/>
              </a:spcAft>
            </a:pPr>
            <a:r>
              <a:rPr sz="1500" b="1">
                <a:solidFill>
                  <a:srgbClr val="5E8C5A"/>
                </a:solidFill>
                <a:latin typeface="Open Sans"/>
              </a:rPr>
              <a:t>Jā</a:t>
            </a:r>
          </a:p>
        </p:txBody>
      </p:sp>
      <p:sp>
        <p:nvSpPr>
          <p:cNvPr id="32" name="Rounded Rectangle 31"/>
          <p:cNvSpPr/>
          <p:nvPr/>
        </p:nvSpPr>
        <p:spPr>
          <a:xfrm>
            <a:off x="640080" y="4946904"/>
            <a:ext cx="10927080" cy="566928"/>
          </a:xfrm>
          <a:prstGeom prst="roundRect">
            <a:avLst>
              <a:gd name="adj" fmla="val 8000"/>
            </a:avLst>
          </a:prstGeom>
          <a:solidFill>
            <a:srgbClr val="244A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68680" y="4946904"/>
            <a:ext cx="3017520" cy="566928"/>
          </a:xfrm>
          <a:prstGeom prst="rect">
            <a:avLst/>
          </a:prstGeom>
          <a:noFill/>
        </p:spPr>
        <p:txBody>
          <a:bodyPr wrap="square" anchor="ctr" lIns="0" rIns="0" tIns="0" bIns="0">
            <a:spAutoFit/>
          </a:bodyPr>
          <a:lstStyle/>
          <a:p>
            <a:pPr algn="l">
              <a:lnSpc>
                <a:spcPct val="110000"/>
              </a:lnSpc>
              <a:spcAft>
                <a:spcPts val="600"/>
              </a:spcAft>
            </a:pPr>
            <a:r>
              <a:rPr sz="1600" b="1">
                <a:solidFill>
                  <a:srgbClr val="FFFFFF"/>
                </a:solidFill>
                <a:latin typeface="Montserrat"/>
              </a:rPr>
              <a:t>Būvgružu birža</a:t>
            </a:r>
          </a:p>
        </p:txBody>
      </p:sp>
      <p:sp>
        <p:nvSpPr>
          <p:cNvPr id="34" name="TextBox 33"/>
          <p:cNvSpPr txBox="1"/>
          <p:nvPr/>
        </p:nvSpPr>
        <p:spPr>
          <a:xfrm>
            <a:off x="3931920" y="4946904"/>
            <a:ext cx="2011680" cy="566928"/>
          </a:xfrm>
          <a:prstGeom prst="rect">
            <a:avLst/>
          </a:prstGeom>
          <a:noFill/>
        </p:spPr>
        <p:txBody>
          <a:bodyPr wrap="square" anchor="ctr" lIns="0" rIns="0" tIns="0" bIns="0">
            <a:spAutoFit/>
          </a:bodyPr>
          <a:lstStyle/>
          <a:p>
            <a:pPr algn="l">
              <a:lnSpc>
                <a:spcPct val="110000"/>
              </a:lnSpc>
              <a:spcAft>
                <a:spcPts val="600"/>
              </a:spcAft>
            </a:pPr>
            <a:r>
              <a:rPr sz="1500" b="1">
                <a:solidFill>
                  <a:srgbClr val="FFFFFF"/>
                </a:solidFill>
                <a:latin typeface="Open Sans"/>
              </a:rPr>
              <a:t>Jā</a:t>
            </a:r>
          </a:p>
        </p:txBody>
      </p:sp>
      <p:sp>
        <p:nvSpPr>
          <p:cNvPr id="35" name="TextBox 34"/>
          <p:cNvSpPr txBox="1"/>
          <p:nvPr/>
        </p:nvSpPr>
        <p:spPr>
          <a:xfrm>
            <a:off x="5852160" y="4946904"/>
            <a:ext cx="2011680" cy="566928"/>
          </a:xfrm>
          <a:prstGeom prst="rect">
            <a:avLst/>
          </a:prstGeom>
          <a:noFill/>
        </p:spPr>
        <p:txBody>
          <a:bodyPr wrap="square" anchor="ctr" lIns="0" rIns="0" tIns="0" bIns="0">
            <a:spAutoFit/>
          </a:bodyPr>
          <a:lstStyle/>
          <a:p>
            <a:pPr algn="l">
              <a:lnSpc>
                <a:spcPct val="110000"/>
              </a:lnSpc>
              <a:spcAft>
                <a:spcPts val="600"/>
              </a:spcAft>
            </a:pPr>
            <a:r>
              <a:rPr sz="1500" b="1">
                <a:solidFill>
                  <a:srgbClr val="FFFFFF"/>
                </a:solidFill>
                <a:latin typeface="Open Sans"/>
              </a:rPr>
              <a:t>Karte + pārvadātājs</a:t>
            </a:r>
          </a:p>
        </p:txBody>
      </p:sp>
      <p:sp>
        <p:nvSpPr>
          <p:cNvPr id="36" name="TextBox 35"/>
          <p:cNvSpPr txBox="1"/>
          <p:nvPr/>
        </p:nvSpPr>
        <p:spPr>
          <a:xfrm>
            <a:off x="8001000" y="4946904"/>
            <a:ext cx="2011680" cy="566928"/>
          </a:xfrm>
          <a:prstGeom prst="rect">
            <a:avLst/>
          </a:prstGeom>
          <a:noFill/>
        </p:spPr>
        <p:txBody>
          <a:bodyPr wrap="square" anchor="ctr" lIns="0" rIns="0" tIns="0" bIns="0">
            <a:spAutoFit/>
          </a:bodyPr>
          <a:lstStyle/>
          <a:p>
            <a:pPr algn="l">
              <a:lnSpc>
                <a:spcPct val="110000"/>
              </a:lnSpc>
              <a:spcAft>
                <a:spcPts val="600"/>
              </a:spcAft>
            </a:pPr>
            <a:r>
              <a:rPr sz="1500" b="1">
                <a:solidFill>
                  <a:srgbClr val="FFFFFF"/>
                </a:solidFill>
                <a:latin typeface="Open Sans"/>
              </a:rPr>
              <a:t>Jā</a:t>
            </a:r>
          </a:p>
        </p:txBody>
      </p:sp>
      <p:sp>
        <p:nvSpPr>
          <p:cNvPr id="37" name="TextBox 36"/>
          <p:cNvSpPr txBox="1"/>
          <p:nvPr/>
        </p:nvSpPr>
        <p:spPr>
          <a:xfrm>
            <a:off x="9692640" y="4946904"/>
            <a:ext cx="2011680" cy="566928"/>
          </a:xfrm>
          <a:prstGeom prst="rect">
            <a:avLst/>
          </a:prstGeom>
          <a:noFill/>
        </p:spPr>
        <p:txBody>
          <a:bodyPr wrap="square" anchor="ctr" lIns="0" rIns="0" tIns="0" bIns="0">
            <a:spAutoFit/>
          </a:bodyPr>
          <a:lstStyle/>
          <a:p>
            <a:pPr algn="l">
              <a:lnSpc>
                <a:spcPct val="110000"/>
              </a:lnSpc>
              <a:spcAft>
                <a:spcPts val="600"/>
              </a:spcAft>
            </a:pPr>
            <a:r>
              <a:rPr sz="1500" b="1">
                <a:solidFill>
                  <a:srgbClr val="FFFFFF"/>
                </a:solidFill>
                <a:latin typeface="Open Sans"/>
              </a:rPr>
              <a:t>Jā</a:t>
            </a:r>
          </a:p>
        </p:txBody>
      </p:sp>
      <p:sp>
        <p:nvSpPr>
          <p:cNvPr id="38" name="TextBox 37"/>
          <p:cNvSpPr txBox="1"/>
          <p:nvPr/>
        </p:nvSpPr>
        <p:spPr>
          <a:xfrm>
            <a:off x="640080" y="5760720"/>
            <a:ext cx="10927080" cy="274320"/>
          </a:xfrm>
          <a:prstGeom prst="rect">
            <a:avLst/>
          </a:prstGeom>
          <a:noFill/>
        </p:spPr>
        <p:txBody>
          <a:bodyPr wrap="square" anchor="t" lIns="0" rIns="0" tIns="0" bIns="0">
            <a:spAutoFit/>
          </a:bodyPr>
          <a:lstStyle/>
          <a:p>
            <a:pPr algn="l">
              <a:lnSpc>
                <a:spcPct val="110000"/>
              </a:lnSpc>
              <a:spcAft>
                <a:spcPts val="600"/>
              </a:spcAft>
            </a:pPr>
            <a:r>
              <a:rPr sz="1100" b="0">
                <a:solidFill>
                  <a:srgbClr val="5B665D"/>
                </a:solidFill>
                <a:latin typeface="Open Sans"/>
              </a:rPr>
              <a:t>Atlīdzība pēc pārstrādātāju cenām: koksne 15 līdz 30 €/t, betons 1 līdz 3 €/t, ķieģeļi 0,5 līdz 1,5 €/t (aplēses, jāpārbauda pilotprojektā).</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244A30"/>
        </a:solidFill>
        <a:effectLst/>
      </p:bgPr>
    </p:bg>
    <p:spTree>
      <p:nvGrpSpPr>
        <p:cNvPr id="1" name=""/>
        <p:cNvGrpSpPr/>
        <p:nvPr/>
      </p:nvGrpSpPr>
      <p:grpSpPr/>
      <p:pic>
        <p:nvPicPr>
          <p:cNvPr id="2" name="Picture 1" descr="logo.png"/>
          <p:cNvPicPr>
            <a:picLocks noChangeAspect="1"/>
          </p:cNvPicPr>
          <p:nvPr/>
        </p:nvPicPr>
        <p:blipFill>
          <a:blip r:embed="rId2"/>
          <a:stretch>
            <a:fillRect/>
          </a:stretch>
        </p:blipFill>
        <p:spPr>
          <a:xfrm>
            <a:off x="5413248" y="640080"/>
            <a:ext cx="1371600" cy="1335426"/>
          </a:xfrm>
          <a:prstGeom prst="rect">
            <a:avLst/>
          </a:prstGeom>
        </p:spPr>
      </p:pic>
      <p:sp>
        <p:nvSpPr>
          <p:cNvPr id="3" name="TextBox 2"/>
          <p:cNvSpPr txBox="1"/>
          <p:nvPr/>
        </p:nvSpPr>
        <p:spPr>
          <a:xfrm>
            <a:off x="640080" y="2286000"/>
            <a:ext cx="10881360" cy="1828800"/>
          </a:xfrm>
          <a:prstGeom prst="rect">
            <a:avLst/>
          </a:prstGeom>
          <a:noFill/>
        </p:spPr>
        <p:txBody>
          <a:bodyPr wrap="square" anchor="t" lIns="0" rIns="0" tIns="0" bIns="0">
            <a:spAutoFit/>
          </a:bodyPr>
          <a:lstStyle/>
          <a:p>
            <a:pPr algn="ctr">
              <a:lnSpc>
                <a:spcPct val="100000"/>
              </a:lnSpc>
              <a:spcAft>
                <a:spcPts val="600"/>
              </a:spcAft>
            </a:pPr>
            <a:r>
              <a:rPr sz="4400" b="1">
                <a:solidFill>
                  <a:srgbClr val="FFFFFF"/>
                </a:solidFill>
                <a:latin typeface="Montserrat"/>
              </a:rPr>
              <a:t>Lai būvgruži atgrieztos būvniecībā, nevis mežā</a:t>
            </a:r>
          </a:p>
        </p:txBody>
      </p:sp>
      <p:sp>
        <p:nvSpPr>
          <p:cNvPr id="4" name="TextBox 3"/>
          <p:cNvSpPr txBox="1"/>
          <p:nvPr/>
        </p:nvSpPr>
        <p:spPr>
          <a:xfrm>
            <a:off x="640080" y="4160520"/>
            <a:ext cx="10881360" cy="640080"/>
          </a:xfrm>
          <a:prstGeom prst="rect">
            <a:avLst/>
          </a:prstGeom>
          <a:noFill/>
        </p:spPr>
        <p:txBody>
          <a:bodyPr wrap="square" anchor="t" lIns="0" rIns="0" tIns="0" bIns="0">
            <a:spAutoFit/>
          </a:bodyPr>
          <a:lstStyle/>
          <a:p>
            <a:pPr algn="ctr">
              <a:lnSpc>
                <a:spcPct val="110000"/>
              </a:lnSpc>
              <a:spcAft>
                <a:spcPts val="600"/>
              </a:spcAft>
            </a:pPr>
            <a:r>
              <a:rPr sz="2800" b="1">
                <a:solidFill>
                  <a:srgbClr val="CFE0C8"/>
                </a:solidFill>
                <a:latin typeface="Montserrat"/>
              </a:rPr>
              <a:t>Būvgružu birža</a:t>
            </a:r>
          </a:p>
        </p:txBody>
      </p:sp>
      <p:sp>
        <p:nvSpPr>
          <p:cNvPr id="5" name="TextBox 4"/>
          <p:cNvSpPr txBox="1"/>
          <p:nvPr/>
        </p:nvSpPr>
        <p:spPr>
          <a:xfrm>
            <a:off x="640080" y="4754880"/>
            <a:ext cx="10881360" cy="457200"/>
          </a:xfrm>
          <a:prstGeom prst="rect">
            <a:avLst/>
          </a:prstGeom>
          <a:noFill/>
        </p:spPr>
        <p:txBody>
          <a:bodyPr wrap="square" anchor="t" lIns="0" rIns="0" tIns="0" bIns="0">
            <a:spAutoFit/>
          </a:bodyPr>
          <a:lstStyle/>
          <a:p>
            <a:pPr algn="ctr">
              <a:lnSpc>
                <a:spcPct val="110000"/>
              </a:lnSpc>
              <a:spcAft>
                <a:spcPts val="600"/>
              </a:spcAft>
            </a:pPr>
            <a:r>
              <a:rPr sz="1800" b="0">
                <a:solidFill>
                  <a:srgbClr val="CFE0C8"/>
                </a:solidFill>
                <a:latin typeface="Open Sans"/>
              </a:rPr>
              <a:t>Komanda Alanguka</a:t>
            </a:r>
          </a:p>
        </p:txBody>
      </p:sp>
      <p:sp>
        <p:nvSpPr>
          <p:cNvPr id="6" name="TextBox 5"/>
          <p:cNvSpPr txBox="1"/>
          <p:nvPr/>
        </p:nvSpPr>
        <p:spPr>
          <a:xfrm>
            <a:off x="640080" y="5760720"/>
            <a:ext cx="10881360" cy="548640"/>
          </a:xfrm>
          <a:prstGeom prst="rect">
            <a:avLst/>
          </a:prstGeom>
          <a:noFill/>
        </p:spPr>
        <p:txBody>
          <a:bodyPr wrap="square" anchor="t" lIns="0" rIns="0" tIns="0" bIns="0">
            <a:spAutoFit/>
          </a:bodyPr>
          <a:lstStyle/>
          <a:p>
            <a:pPr algn="ctr">
              <a:lnSpc>
                <a:spcPct val="110000"/>
              </a:lnSpc>
              <a:spcAft>
                <a:spcPts val="600"/>
              </a:spcAft>
            </a:pPr>
            <a:r>
              <a:rPr sz="2200" b="0">
                <a:solidFill>
                  <a:srgbClr val="FFFFFF"/>
                </a:solidFill>
                <a:latin typeface="Open Sans"/>
              </a:rPr>
              <a:t>Paldies! Jautājumi?</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EEF3EA"/>
        </a:solidFill>
        <a:effectLst/>
      </p:bgPr>
    </p:bg>
    <p:spTree>
      <p:nvGrpSpPr>
        <p:cNvPr id="1" name=""/>
        <p:cNvGrpSpPr/>
        <p:nvPr/>
      </p:nvGrpSpPr>
      <p:grpSpPr/>
      <p:sp>
        <p:nvSpPr>
          <p:cNvPr id="2" name="TextBox 1"/>
          <p:cNvSpPr txBox="1"/>
          <p:nvPr/>
        </p:nvSpPr>
        <p:spPr>
          <a:xfrm>
            <a:off x="640080" y="411480"/>
            <a:ext cx="7315200" cy="365760"/>
          </a:xfrm>
          <a:prstGeom prst="rect">
            <a:avLst/>
          </a:prstGeom>
          <a:noFill/>
        </p:spPr>
        <p:txBody>
          <a:bodyPr wrap="square" anchor="t" lIns="0" rIns="0" tIns="0" bIns="0">
            <a:spAutoFit/>
          </a:bodyPr>
          <a:lstStyle/>
          <a:p>
            <a:pPr algn="l">
              <a:lnSpc>
                <a:spcPct val="110000"/>
              </a:lnSpc>
              <a:spcAft>
                <a:spcPts val="600"/>
              </a:spcAft>
            </a:pPr>
            <a:r>
              <a:rPr sz="1300" b="1">
                <a:solidFill>
                  <a:srgbClr val="5E8C5A"/>
                </a:solidFill>
                <a:latin typeface="Montserrat"/>
              </a:rPr>
              <a:t>PIELIKUMS</a:t>
            </a:r>
          </a:p>
        </p:txBody>
      </p:sp>
      <p:sp>
        <p:nvSpPr>
          <p:cNvPr id="3" name="TextBox 2"/>
          <p:cNvSpPr txBox="1"/>
          <p:nvPr/>
        </p:nvSpPr>
        <p:spPr>
          <a:xfrm>
            <a:off x="640080" y="685800"/>
            <a:ext cx="10972800" cy="548640"/>
          </a:xfrm>
          <a:prstGeom prst="rect">
            <a:avLst/>
          </a:prstGeom>
          <a:noFill/>
        </p:spPr>
        <p:txBody>
          <a:bodyPr wrap="square" anchor="t" lIns="0" rIns="0" tIns="0" bIns="0">
            <a:spAutoFit/>
          </a:bodyPr>
          <a:lstStyle/>
          <a:p>
            <a:pPr algn="l">
              <a:lnSpc>
                <a:spcPct val="110000"/>
              </a:lnSpc>
              <a:spcAft>
                <a:spcPts val="600"/>
              </a:spcAft>
            </a:pPr>
            <a:r>
              <a:rPr sz="2600" b="1">
                <a:solidFill>
                  <a:srgbClr val="244A30"/>
                </a:solidFill>
                <a:latin typeface="Montserrat"/>
              </a:rPr>
              <a:t>Avoti</a:t>
            </a:r>
          </a:p>
        </p:txBody>
      </p:sp>
      <p:sp>
        <p:nvSpPr>
          <p:cNvPr id="4" name="TextBox 3"/>
          <p:cNvSpPr txBox="1"/>
          <p:nvPr/>
        </p:nvSpPr>
        <p:spPr>
          <a:xfrm>
            <a:off x="640080" y="1371600"/>
            <a:ext cx="3520440" cy="5303520"/>
          </a:xfrm>
          <a:prstGeom prst="rect">
            <a:avLst/>
          </a:prstGeom>
          <a:noFill/>
        </p:spPr>
        <p:txBody>
          <a:bodyPr wrap="square" anchor="t" lIns="0" rIns="0" tIns="0" bIns="0">
            <a:spAutoFit/>
          </a:bodyPr>
          <a:lstStyle/>
          <a:p>
            <a:pPr algn="l">
              <a:lnSpc>
                <a:spcPct val="100000"/>
              </a:lnSpc>
              <a:spcAft>
                <a:spcPts val="400"/>
              </a:spcAft>
            </a:pPr>
            <a:r>
              <a:rPr sz="750" b="0">
                <a:solidFill>
                  <a:srgbClr val="1C261E"/>
                </a:solidFill>
                <a:latin typeface="Open Sans"/>
              </a:rPr>
              <a:t>1. AST. (2026). Electricity Market Review. https://www.ast.lv/en/electricity-market-review</a:t>
            </a:r>
          </a:p>
          <a:p>
            <a:pPr algn="l">
              <a:lnSpc>
                <a:spcPct val="100000"/>
              </a:lnSpc>
              <a:spcAft>
                <a:spcPts val="400"/>
              </a:spcAft>
            </a:pPr>
            <a:r>
              <a:rPr sz="750" b="0">
                <a:solidFill>
                  <a:srgbClr val="1C261E"/>
                </a:solidFill>
                <a:latin typeface="Open Sans"/>
              </a:rPr>
              <a:t>2. BB.LV. (2026. gada 12. janvāris). The necessity forces the crushing of construction waste. https://en.bb.lv/article/business/2026/01/12/the-necessity-forces-the-crushing-of-construction-waste-84169</a:t>
            </a:r>
          </a:p>
          <a:p>
            <a:pPr algn="l">
              <a:lnSpc>
                <a:spcPct val="100000"/>
              </a:lnSpc>
              <a:spcAft>
                <a:spcPts val="400"/>
              </a:spcAft>
            </a:pPr>
            <a:r>
              <a:rPr sz="750" b="0">
                <a:solidFill>
                  <a:srgbClr val="1C261E"/>
                </a:solidFill>
                <a:latin typeface="Open Sans"/>
              </a:rPr>
              <a:t>3. Būvgružu Pārstrāde. (b. g.). Uzņēmuma mājaslapa. https://www.buvgruzup-parstrade.lv/</a:t>
            </a:r>
          </a:p>
          <a:p>
            <a:pPr algn="l">
              <a:lnSpc>
                <a:spcPct val="100000"/>
              </a:lnSpc>
              <a:spcAft>
                <a:spcPts val="400"/>
              </a:spcAft>
            </a:pPr>
            <a:r>
              <a:rPr sz="750" b="0">
                <a:solidFill>
                  <a:srgbClr val="1C261E"/>
                </a:solidFill>
                <a:latin typeface="Open Sans"/>
              </a:rPr>
              <a:t>4. CleanR. (b. g.). Uzņēmuma mājaslapa. https://cleanr.lv/</a:t>
            </a:r>
          </a:p>
          <a:p>
            <a:pPr algn="l">
              <a:lnSpc>
                <a:spcPct val="100000"/>
              </a:lnSpc>
              <a:spcAft>
                <a:spcPts val="400"/>
              </a:spcAft>
            </a:pPr>
            <a:r>
              <a:rPr sz="750" b="0">
                <a:solidFill>
                  <a:srgbClr val="1C261E"/>
                </a:solidFill>
                <a:latin typeface="Open Sans"/>
              </a:rPr>
              <a:t>5. Datreal. (b. g.). SIA "Būvgružu Pārstrāde" finanšu dati. https://datreal.com/en/lv/company/40003336873</a:t>
            </a:r>
          </a:p>
          <a:p>
            <a:pPr algn="l">
              <a:lnSpc>
                <a:spcPct val="100000"/>
              </a:lnSpc>
              <a:spcAft>
                <a:spcPts val="400"/>
              </a:spcAft>
            </a:pPr>
            <a:r>
              <a:rPr sz="750" b="0">
                <a:solidFill>
                  <a:srgbClr val="1C261E"/>
                </a:solidFill>
                <a:latin typeface="Open Sans"/>
              </a:rPr>
              <a:t>6. Datreal. (b. g.). SIA "Kronospan Riga" finanšu dati. https://datreal.com/en/lv/company/40003774690</a:t>
            </a:r>
          </a:p>
          <a:p>
            <a:pPr algn="l">
              <a:lnSpc>
                <a:spcPct val="100000"/>
              </a:lnSpc>
              <a:spcAft>
                <a:spcPts val="400"/>
              </a:spcAft>
            </a:pPr>
            <a:r>
              <a:rPr sz="750" b="0">
                <a:solidFill>
                  <a:srgbClr val="1C261E"/>
                </a:solidFill>
                <a:latin typeface="Open Sans"/>
              </a:rPr>
              <a:t>7. Gamle Mursten. (b. g.). Uzņēmuma mājaslapa. https://gamlemursten.dk/</a:t>
            </a:r>
          </a:p>
          <a:p>
            <a:pPr algn="l">
              <a:lnSpc>
                <a:spcPct val="100000"/>
              </a:lnSpc>
              <a:spcAft>
                <a:spcPts val="400"/>
              </a:spcAft>
            </a:pPr>
            <a:r>
              <a:rPr sz="750" b="0">
                <a:solidFill>
                  <a:srgbClr val="1C261E"/>
                </a:solidFill>
                <a:latin typeface="Open Sans"/>
              </a:rPr>
              <a:t>8. Godrej Construction. (b. g.). Uzņēmuma mājaslapa. https://www.godrejconstruction.com/</a:t>
            </a:r>
          </a:p>
          <a:p>
            <a:pPr algn="l">
              <a:lnSpc>
                <a:spcPct val="100000"/>
              </a:lnSpc>
              <a:spcAft>
                <a:spcPts val="400"/>
              </a:spcAft>
            </a:pPr>
            <a:r>
              <a:rPr sz="750" b="0">
                <a:solidFill>
                  <a:srgbClr val="1C261E"/>
                </a:solidFill>
                <a:latin typeface="Open Sans"/>
              </a:rPr>
              <a:t>9. Godrej Group. (b. g.). Uzņēmuma mājaslapa. https://www.godrej.com/</a:t>
            </a:r>
          </a:p>
          <a:p>
            <a:pPr algn="l">
              <a:lnSpc>
                <a:spcPct val="100000"/>
              </a:lnSpc>
              <a:spcAft>
                <a:spcPts val="400"/>
              </a:spcAft>
            </a:pPr>
            <a:r>
              <a:rPr sz="750" b="0">
                <a:solidFill>
                  <a:srgbClr val="1C261E"/>
                </a:solidFill>
                <a:latin typeface="Open Sans"/>
              </a:rPr>
              <a:t>10. Heidelberg Materials. (b. g.). Uzņēmuma mājaslapa. https://www.heidelbergmaterials.com/</a:t>
            </a:r>
          </a:p>
          <a:p>
            <a:pPr algn="l">
              <a:lnSpc>
                <a:spcPct val="100000"/>
              </a:lnSpc>
              <a:spcAft>
                <a:spcPts val="400"/>
              </a:spcAft>
            </a:pPr>
            <a:r>
              <a:rPr sz="750" b="0">
                <a:solidFill>
                  <a:srgbClr val="1C261E"/>
                </a:solidFill>
                <a:latin typeface="Open Sans"/>
              </a:rPr>
              <a:t>11. Heidelberg Materials Polska. (b. g.). Uzņēmuma mājaslapa. https://www.heidelbergmaterials.pl/</a:t>
            </a:r>
          </a:p>
          <a:p>
            <a:pPr algn="l">
              <a:lnSpc>
                <a:spcPct val="100000"/>
              </a:lnSpc>
              <a:spcAft>
                <a:spcPts val="400"/>
              </a:spcAft>
            </a:pPr>
            <a:r>
              <a:rPr sz="750" b="0">
                <a:solidFill>
                  <a:srgbClr val="1C261E"/>
                </a:solidFill>
                <a:latin typeface="Open Sans"/>
              </a:rPr>
              <a:t>12. IGATE. (b. g.). Uzņēmuma mājaslapa. https://www.igate.lv/</a:t>
            </a:r>
          </a:p>
          <a:p>
            <a:pPr algn="l">
              <a:lnSpc>
                <a:spcPct val="100000"/>
              </a:lnSpc>
              <a:spcAft>
                <a:spcPts val="400"/>
              </a:spcAft>
            </a:pPr>
            <a:r>
              <a:rPr sz="750" b="0">
                <a:solidFill>
                  <a:srgbClr val="1C261E"/>
                </a:solidFill>
                <a:latin typeface="Open Sans"/>
              </a:rPr>
              <a:t>13. Kenoteq. (b. g.). Uzņēmuma mājaslapa. https://www.kenoteq.com/</a:t>
            </a:r>
          </a:p>
        </p:txBody>
      </p:sp>
      <p:sp>
        <p:nvSpPr>
          <p:cNvPr id="5" name="TextBox 4"/>
          <p:cNvSpPr txBox="1"/>
          <p:nvPr/>
        </p:nvSpPr>
        <p:spPr>
          <a:xfrm>
            <a:off x="4343400" y="1371600"/>
            <a:ext cx="3520440" cy="5303520"/>
          </a:xfrm>
          <a:prstGeom prst="rect">
            <a:avLst/>
          </a:prstGeom>
          <a:noFill/>
        </p:spPr>
        <p:txBody>
          <a:bodyPr wrap="square" anchor="t" lIns="0" rIns="0" tIns="0" bIns="0">
            <a:spAutoFit/>
          </a:bodyPr>
          <a:lstStyle/>
          <a:p>
            <a:pPr algn="l">
              <a:lnSpc>
                <a:spcPct val="100000"/>
              </a:lnSpc>
              <a:spcAft>
                <a:spcPts val="400"/>
              </a:spcAft>
            </a:pPr>
            <a:r>
              <a:rPr sz="750" b="0">
                <a:solidFill>
                  <a:srgbClr val="1C261E"/>
                </a:solidFill>
                <a:latin typeface="Open Sans"/>
              </a:rPr>
              <a:t>14. Kronospan. (b. g.). Uzņēmuma mājaslapa. https://kronospan.com/</a:t>
            </a:r>
          </a:p>
          <a:p>
            <a:pPr algn="l">
              <a:lnSpc>
                <a:spcPct val="100000"/>
              </a:lnSpc>
              <a:spcAft>
                <a:spcPts val="400"/>
              </a:spcAft>
            </a:pPr>
            <a:r>
              <a:rPr sz="750" b="0">
                <a:solidFill>
                  <a:srgbClr val="1C261E"/>
                </a:solidFill>
                <a:latin typeface="Open Sans"/>
              </a:rPr>
              <a:t>15. Kuldīgas komunālie pakalpojumi. (b. g.). Uzņēmuma mājaslapa. https://www.kkp.lv/</a:t>
            </a:r>
          </a:p>
          <a:p>
            <a:pPr algn="l">
              <a:lnSpc>
                <a:spcPct val="100000"/>
              </a:lnSpc>
              <a:spcAft>
                <a:spcPts val="400"/>
              </a:spcAft>
            </a:pPr>
            <a:r>
              <a:rPr sz="750" b="0">
                <a:solidFill>
                  <a:srgbClr val="1C261E"/>
                </a:solidFill>
                <a:latin typeface="Open Sans"/>
              </a:rPr>
              <a:t>16. Latvijas Sabiedriskais medijs. (2023. gada 19. septembris). Cementa ražotne Brocēnos izmantos arī saules ražotu elektroenerģiju. https://www.lsm.lv/raksts/zinas/ekonomika/19.09.2023-cementa-razotne-brocenos-izmantos-ari-saules-razotu-elektroenergiju.a524561/</a:t>
            </a:r>
          </a:p>
          <a:p>
            <a:pPr algn="l">
              <a:lnSpc>
                <a:spcPct val="100000"/>
              </a:lnSpc>
              <a:spcAft>
                <a:spcPts val="400"/>
              </a:spcAft>
            </a:pPr>
            <a:r>
              <a:rPr sz="750" b="0">
                <a:solidFill>
                  <a:srgbClr val="1C261E"/>
                </a:solidFill>
                <a:latin typeface="Open Sans"/>
              </a:rPr>
              <a:t>17. Latvijas Sabiedriskais medijs. (2023. gada 27. novembris). Bez maksas nodot būvgružus, saņemt sev celtniecībā noderīgo: kā tas strādā. https://www.lsm.lv/raksts/dzive--stils/vide-un-dzivnieki/27.11.2023-bez-maksas-nodot-buvgruzus-sanemt-sev-celtnieciba-noderigo-ka-tas-strada.a533151/</a:t>
            </a:r>
          </a:p>
          <a:p>
            <a:pPr algn="l">
              <a:lnSpc>
                <a:spcPct val="100000"/>
              </a:lnSpc>
              <a:spcAft>
                <a:spcPts val="400"/>
              </a:spcAft>
            </a:pPr>
            <a:r>
              <a:rPr sz="750" b="0">
                <a:solidFill>
                  <a:srgbClr val="1C261E"/>
                </a:solidFill>
                <a:latin typeface="Open Sans"/>
              </a:rPr>
              <a:t>18. Latvijas Būvnieku asociācija. (2023. gada 14. jūnijs). SCHWENK pieredzes stāsts: semināra prezentācija. https://www.latvijasbuvnieki.lv/wp-content/uploads/2023/06/schwenk-pieredzes-stasts-seminars-1406-copy-1.pdf</a:t>
            </a:r>
          </a:p>
          <a:p>
            <a:pPr algn="l">
              <a:lnSpc>
                <a:spcPct val="100000"/>
              </a:lnSpc>
              <a:spcAft>
                <a:spcPts val="400"/>
              </a:spcAft>
            </a:pPr>
            <a:r>
              <a:rPr sz="750" b="0">
                <a:solidFill>
                  <a:srgbClr val="1C261E"/>
                </a:solidFill>
                <a:latin typeface="Open Sans"/>
              </a:rPr>
              <a:t>19. Mavļutova, I., u. c. (2024). Management of Household-Generated Construction and Demolition Waste: Circularity Principles and the Attitude of Latvian Residents. Energies, 17(1), 205. https://doi.org/10.3390/en17010205</a:t>
            </a:r>
          </a:p>
          <a:p>
            <a:pPr algn="l">
              <a:lnSpc>
                <a:spcPct val="100000"/>
              </a:lnSpc>
              <a:spcAft>
                <a:spcPts val="400"/>
              </a:spcAft>
            </a:pPr>
            <a:r>
              <a:rPr sz="750" b="0">
                <a:solidFill>
                  <a:srgbClr val="1C261E"/>
                </a:solidFill>
                <a:latin typeface="Open Sans"/>
              </a:rPr>
              <a:t>20. New Horizon. (b. g.). Uzņēmuma mājaslapa. https://www.newhorizon.nl/</a:t>
            </a:r>
          </a:p>
          <a:p>
            <a:pPr algn="l">
              <a:lnSpc>
                <a:spcPct val="100000"/>
              </a:lnSpc>
              <a:spcAft>
                <a:spcPts val="400"/>
              </a:spcAft>
            </a:pPr>
            <a:r>
              <a:rPr sz="750" b="0">
                <a:solidFill>
                  <a:srgbClr val="1C261E"/>
                </a:solidFill>
                <a:latin typeface="Open Sans"/>
              </a:rPr>
              <a:t>21. Paarhammer. (b. g.). Uzņēmuma mājaslapa. https://www.paarhammer.com.au/</a:t>
            </a:r>
          </a:p>
          <a:p>
            <a:pPr algn="l">
              <a:lnSpc>
                <a:spcPct val="100000"/>
              </a:lnSpc>
              <a:spcAft>
                <a:spcPts val="400"/>
              </a:spcAft>
            </a:pPr>
            <a:r>
              <a:rPr sz="750" b="0">
                <a:solidFill>
                  <a:srgbClr val="1C261E"/>
                </a:solidFill>
                <a:latin typeface="Open Sans"/>
              </a:rPr>
              <a:t>22. Rīgas Enerģētikas aģentūra. (b. g.). Aģentūras mājaslapa. https://rea.riga.lv/</a:t>
            </a:r>
          </a:p>
          <a:p>
            <a:pPr algn="l">
              <a:lnSpc>
                <a:spcPct val="100000"/>
              </a:lnSpc>
              <a:spcAft>
                <a:spcPts val="400"/>
              </a:spcAft>
            </a:pPr>
            <a:r>
              <a:rPr sz="750" b="0">
                <a:solidFill>
                  <a:srgbClr val="1C261E"/>
                </a:solidFill>
                <a:latin typeface="Open Sans"/>
              </a:rPr>
              <a:t>23. Rīgas pašvaldība. (b. g.). Pašvaldības mājaslapa. https://www.riga.lv/</a:t>
            </a:r>
          </a:p>
          <a:p>
            <a:pPr algn="l">
              <a:lnSpc>
                <a:spcPct val="100000"/>
              </a:lnSpc>
              <a:spcAft>
                <a:spcPts val="400"/>
              </a:spcAft>
            </a:pPr>
            <a:r>
              <a:rPr sz="750" b="0">
                <a:solidFill>
                  <a:srgbClr val="1C261E"/>
                </a:solidFill>
                <a:latin typeface="Open Sans"/>
              </a:rPr>
              <a:t>24. Rīgas siltums. (2025). Nerevidētais saīsinātais konsolidētais gada pārskats par gadu, kas noslēdzās 2025. gada 30. septembrī. https://www.rs.lv/sites/default/files/akardeons_fails/nerevidetais_saisinatais_konsolidetais_gada_parskats_par_gadu_kas_nosledzas_30_09_2025.pdf</a:t>
            </a:r>
          </a:p>
          <a:p>
            <a:pPr algn="l">
              <a:lnSpc>
                <a:spcPct val="100000"/>
              </a:lnSpc>
              <a:spcAft>
                <a:spcPts val="400"/>
              </a:spcAft>
            </a:pPr>
            <a:r>
              <a:rPr sz="750" b="0">
                <a:solidFill>
                  <a:srgbClr val="1C261E"/>
                </a:solidFill>
                <a:latin typeface="Open Sans"/>
              </a:rPr>
              <a:t>25. Rudus. (b. g.). Uzņēmuma mājaslapa. https://www.rudus.fi/</a:t>
            </a:r>
          </a:p>
          <a:p>
            <a:pPr algn="l">
              <a:lnSpc>
                <a:spcPct val="100000"/>
              </a:lnSpc>
              <a:spcAft>
                <a:spcPts val="400"/>
              </a:spcAft>
            </a:pPr>
            <a:r>
              <a:rPr sz="750" b="0">
                <a:solidFill>
                  <a:srgbClr val="1C261E"/>
                </a:solidFill>
                <a:latin typeface="Open Sans"/>
              </a:rPr>
              <a:t>26. SCHWENK Latvija. (b. g.). Alternatīvais kurināmais. https://schwenk.lv/en/?p=7452</a:t>
            </a:r>
          </a:p>
        </p:txBody>
      </p:sp>
      <p:sp>
        <p:nvSpPr>
          <p:cNvPr id="6" name="TextBox 5"/>
          <p:cNvSpPr txBox="1"/>
          <p:nvPr/>
        </p:nvSpPr>
        <p:spPr>
          <a:xfrm>
            <a:off x="8046719" y="1371600"/>
            <a:ext cx="3520440" cy="5303520"/>
          </a:xfrm>
          <a:prstGeom prst="rect">
            <a:avLst/>
          </a:prstGeom>
          <a:noFill/>
        </p:spPr>
        <p:txBody>
          <a:bodyPr wrap="square" anchor="t" lIns="0" rIns="0" tIns="0" bIns="0">
            <a:spAutoFit/>
          </a:bodyPr>
          <a:lstStyle/>
          <a:p>
            <a:pPr algn="l">
              <a:lnSpc>
                <a:spcPct val="100000"/>
              </a:lnSpc>
              <a:spcAft>
                <a:spcPts val="400"/>
              </a:spcAft>
            </a:pPr>
            <a:r>
              <a:rPr sz="750" b="0">
                <a:solidFill>
                  <a:srgbClr val="1C261E"/>
                </a:solidFill>
                <a:latin typeface="Open Sans"/>
              </a:rPr>
              <a:t>27. SCHWENK Latvija. (b. g.). Uzņēmuma mājaslapa. https://www.schwenk.lv/</a:t>
            </a:r>
          </a:p>
          <a:p>
            <a:pPr algn="l">
              <a:lnSpc>
                <a:spcPct val="100000"/>
              </a:lnSpc>
              <a:spcAft>
                <a:spcPts val="400"/>
              </a:spcAft>
            </a:pPr>
            <a:r>
              <a:rPr sz="750" b="0">
                <a:solidFill>
                  <a:srgbClr val="1C261E"/>
                </a:solidFill>
                <a:latin typeface="Open Sans"/>
              </a:rPr>
              <a:t>28. Sitra. (b. g.). Ilgtspējīgas attīstības un aprites ekonomikas piemēri. https://www.sitra.fi/en/</a:t>
            </a:r>
          </a:p>
          <a:p>
            <a:pPr algn="l">
              <a:lnSpc>
                <a:spcPct val="100000"/>
              </a:lnSpc>
              <a:spcAft>
                <a:spcPts val="400"/>
              </a:spcAft>
            </a:pPr>
            <a:r>
              <a:rPr sz="750" b="0">
                <a:solidFill>
                  <a:srgbClr val="1C261E"/>
                </a:solidFill>
                <a:latin typeface="Open Sans"/>
              </a:rPr>
              <a:t>29. STV News. (b. g.). Ziņu portāls. https://news.stv.tv/</a:t>
            </a:r>
          </a:p>
          <a:p>
            <a:pPr algn="l">
              <a:lnSpc>
                <a:spcPct val="100000"/>
              </a:lnSpc>
              <a:spcAft>
                <a:spcPts val="400"/>
              </a:spcAft>
            </a:pPr>
            <a:r>
              <a:rPr sz="750" b="0">
                <a:solidFill>
                  <a:srgbClr val="1C261E"/>
                </a:solidFill>
                <a:latin typeface="Open Sans"/>
              </a:rPr>
              <a:t>30. Valsts vides dienests. (b. g.). Dienesta mājaslapa. https://www.vvd.gov.lv/</a:t>
            </a:r>
          </a:p>
          <a:p>
            <a:pPr algn="l">
              <a:lnSpc>
                <a:spcPct val="100000"/>
              </a:lnSpc>
              <a:spcAft>
                <a:spcPts val="400"/>
              </a:spcAft>
            </a:pPr>
            <a:r>
              <a:rPr sz="750" b="0">
                <a:solidFill>
                  <a:srgbClr val="1C261E"/>
                </a:solidFill>
                <a:latin typeface="Open Sans"/>
              </a:rPr>
              <a:t>31. Wienerberger. (b. g.). Uzņēmuma mājaslapa. https://www.wienerberger.com/</a:t>
            </a:r>
          </a:p>
          <a:p>
            <a:pPr algn="l">
              <a:lnSpc>
                <a:spcPct val="100000"/>
              </a:lnSpc>
              <a:spcAft>
                <a:spcPts val="400"/>
              </a:spcAft>
            </a:pPr>
            <a:r>
              <a:rPr sz="750" b="0">
                <a:solidFill>
                  <a:srgbClr val="1C261E"/>
                </a:solidFill>
                <a:latin typeface="Open Sans"/>
              </a:rPr>
              <a:t>32. Zero Waste Europe. (b. g.). Organizācijas mājaslapa. https://zerowasteeurope.eu/</a:t>
            </a:r>
          </a:p>
          <a:p>
            <a:pPr algn="l">
              <a:lnSpc>
                <a:spcPct val="100000"/>
              </a:lnSpc>
              <a:spcAft>
                <a:spcPts val="400"/>
              </a:spcAft>
            </a:pPr>
            <a:r>
              <a:rPr sz="750" b="0">
                <a:solidFill>
                  <a:srgbClr val="1C261E"/>
                </a:solidFill>
                <a:latin typeface="Open Sans"/>
              </a:rPr>
              <a:t>33. ØRAS. (b. g.). Uzņēmuma mājaslapa. https://www.oras.no/</a:t>
            </a:r>
          </a:p>
          <a:p>
            <a:pPr algn="l">
              <a:lnSpc>
                <a:spcPct val="100000"/>
              </a:lnSpc>
              <a:spcAft>
                <a:spcPts val="400"/>
              </a:spcAft>
            </a:pPr>
            <a:r>
              <a:rPr sz="750" b="0">
                <a:solidFill>
                  <a:srgbClr val="1C261E"/>
                </a:solidFill>
                <a:latin typeface="Open Sans"/>
              </a:rPr>
              <a:t>34. EkoBāze. (b. g.). Uzņēmuma mājaslapa. https://www.ekobaze.lv/</a:t>
            </a:r>
          </a:p>
          <a:p>
            <a:pPr algn="l">
              <a:lnSpc>
                <a:spcPct val="100000"/>
              </a:lnSpc>
              <a:spcAft>
                <a:spcPts val="400"/>
              </a:spcAft>
            </a:pPr>
            <a:r>
              <a:rPr sz="750" b="0">
                <a:solidFill>
                  <a:srgbClr val="1C261E"/>
                </a:solidFill>
                <a:latin typeface="Open Sans"/>
              </a:rPr>
              <a:t>35. Latvijas Centrālā statistikas pārvalde. (b. g.). Oficiālā statistika: atkritumi. https://stat.gov.lv/</a:t>
            </a:r>
          </a:p>
          <a:p>
            <a:pPr algn="l">
              <a:lnSpc>
                <a:spcPct val="100000"/>
              </a:lnSpc>
              <a:spcAft>
                <a:spcPts val="400"/>
              </a:spcAft>
            </a:pPr>
            <a:r>
              <a:rPr sz="750" b="0">
                <a:solidFill>
                  <a:srgbClr val="1C261E"/>
                </a:solidFill>
                <a:latin typeface="Open Sans"/>
              </a:rPr>
              <a:t>36. Latvijas Vides, ģeoloģijas un meteoroloģijas centrs. (b. g.). Vides dati un pārskati. https://videscentrs.lvgmc.lv/</a:t>
            </a:r>
          </a:p>
          <a:p>
            <a:pPr algn="l">
              <a:lnSpc>
                <a:spcPct val="100000"/>
              </a:lnSpc>
              <a:spcAft>
                <a:spcPts val="400"/>
              </a:spcAft>
            </a:pPr>
            <a:r>
              <a:rPr sz="750" b="0">
                <a:solidFill>
                  <a:srgbClr val="1C261E"/>
                </a:solidFill>
                <a:latin typeface="Open Sans"/>
              </a:rPr>
              <a:t>37. iAuto.lv. (b. g.). Izgāž atkritumus mežā (foto 1. slaidā). https://iauto.lv/zinas/latvija/49412-izg-atkritumus-me-k-tdus-cilvkus-nosaukt-foto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
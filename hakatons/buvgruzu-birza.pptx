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Šī ir Anna. Viņa remontē māju, un viņai ir kaudze vecu dēļu un betona lausku. Piekabes nav, kur nodot, nezina, legāli ir dārgi.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Mūsu risinājums ir Būvgružu birža — aprites ekonomikas platforma, kas savieno Annu ar uzņēmumiem, kas pārstrādā būvgružus. Princips kā pudeļu depozītam — nodod un saņem. Anna nodod gružus bez maksas un saņem atlīdzību — par koksni naudu, par betonu punktus.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Paskatīsimies ar Annas acīm. Viņa nofotografē gružus un uzreiz redz, cik saņems — vēl pirms reģistrācijas. Kartē redz tikai tos punktus, kur braukt atmaksājas. Parādīšu.</a:t>
            </a:r>
          </a:p>
          <a:p/>
          <a:p>
            <a:r>
              <a:t>[VIDEO 1:00 —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Šodien Annai ir trīs iespējas. Sludinājums — lēti, bet gruži bieži nonāk mežā. Konteiners — legāli, bet dārgi. Šķirošanas laukums — jāzina, kur, jāved pašam, un nekas par to netiek. No šīm iespējām tikai Būvgružu biržā nodot ir bez maksas, ar atlīdzību un pārstrādē. Un mūsu galvenā funkcija: nofotografē — un uzreiz redzi, cik saņemsi un kur nodot atmaksājas. To aprēķinājām pēc pārstrādātāju reālajām cenām.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Anna remontē māju. Piekabes nav, kur nodot, nezina, legāli ir dārgi. Nelegālais ceļš ir lētāks un vienkāršāks.</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pic>
        <p:nvPicPr>
          <p:cNvPr id="10" name="Picture 9" descr="foto-mezs.jpg"/>
          <p:cNvPicPr>
            <a:picLocks noChangeAspect="1"/>
          </p:cNvPicPr>
          <p:nvPr/>
        </p:nvPicPr>
        <p:blipFill>
          <a:blip r:embed="rId2"/>
          <a:stretch>
            <a:fillRect/>
          </a:stretch>
        </p:blipFill>
        <p:spPr>
          <a:xfrm>
            <a:off x="7086600" y="548640"/>
            <a:ext cx="4526280" cy="4206240"/>
          </a:xfrm>
          <a:prstGeom prst="rect">
            <a:avLst/>
          </a:prstGeom>
        </p:spPr>
      </p:pic>
      <p:sp>
        <p:nvSpPr>
          <p:cNvPr id="11" name="TextBox 10"/>
          <p:cNvSpPr txBox="1"/>
          <p:nvPr/>
        </p:nvSpPr>
        <p:spPr>
          <a:xfrm>
            <a:off x="7086600" y="4773168"/>
            <a:ext cx="452628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12" name="Rounded Rectangle 11"/>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932688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Savieno cilvēkus, kuriem ir būvgruži, ar uzņēmumiem, kas tos pārstrādā.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nauda</a:t>
            </a:r>
          </a:p>
          <a:p>
            <a:pPr algn="l">
              <a:lnSpc>
                <a:spcPct val="110000"/>
              </a:lnSpc>
              <a:spcAft>
                <a:spcPts val="1200"/>
              </a:spcAft>
            </a:pPr>
            <a:r>
              <a:rPr sz="1600" b="0">
                <a:solidFill>
                  <a:srgbClr val="1C261E"/>
                </a:solidFill>
                <a:latin typeface="Open Sans"/>
              </a:rPr>
              <a:t>•  Par betonu un ķieģeļiem: punkti vai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65836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Annas ceļš</a:t>
            </a:r>
          </a:p>
        </p:txBody>
      </p:sp>
      <p:sp>
        <p:nvSpPr>
          <p:cNvPr id="4" name="TextBox 3"/>
          <p:cNvSpPr txBox="1"/>
          <p:nvPr/>
        </p:nvSpPr>
        <p:spPr>
          <a:xfrm>
            <a:off x="640080" y="1600200"/>
            <a:ext cx="65836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No gružu kaudzes līdz atlīdzībai četros soļos</a:t>
            </a:r>
          </a:p>
        </p:txBody>
      </p:sp>
      <p:sp>
        <p:nvSpPr>
          <p:cNvPr id="5" name="Rounded Rectangle 4"/>
          <p:cNvSpPr/>
          <p:nvPr/>
        </p:nvSpPr>
        <p:spPr>
          <a:xfrm>
            <a:off x="457200" y="3191256"/>
            <a:ext cx="6858000" cy="941832"/>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4960" y="3273552"/>
            <a:ext cx="1783080" cy="274320"/>
          </a:xfrm>
          <a:prstGeom prst="rect">
            <a:avLst/>
          </a:prstGeom>
          <a:noFill/>
        </p:spPr>
        <p:txBody>
          <a:bodyPr wrap="square" anchor="t" lIns="0" rIns="0" tIns="0" bIns="0">
            <a:spAutoFit/>
          </a:bodyPr>
          <a:lstStyle/>
          <a:p>
            <a:pPr algn="r">
              <a:lnSpc>
                <a:spcPct val="110000"/>
              </a:lnSpc>
              <a:spcAft>
                <a:spcPts val="600"/>
              </a:spcAft>
            </a:pPr>
            <a:r>
              <a:rPr sz="1000" b="1">
                <a:solidFill>
                  <a:srgbClr val="244A30"/>
                </a:solidFill>
                <a:latin typeface="Montserrat"/>
              </a:rPr>
              <a:t>GALVENĀ FUNKCIJA</a:t>
            </a:r>
          </a:p>
        </p:txBody>
      </p:sp>
      <p:sp>
        <p:nvSpPr>
          <p:cNvPr id="7" name="Oval 6"/>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9" name="TextBox 8"/>
          <p:cNvSpPr txBox="1"/>
          <p:nvPr/>
        </p:nvSpPr>
        <p:spPr>
          <a:xfrm>
            <a:off x="1554480" y="2313432"/>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Nofotografē</a:t>
            </a:r>
          </a:p>
        </p:txBody>
      </p:sp>
      <p:sp>
        <p:nvSpPr>
          <p:cNvPr id="10" name="TextBox 9"/>
          <p:cNvSpPr txBox="1"/>
          <p:nvPr/>
        </p:nvSpPr>
        <p:spPr>
          <a:xfrm>
            <a:off x="1554480" y="2715768"/>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Izvēlas veidu un daudzumu maisos — lietotne parāda, kā šķirot</a:t>
            </a:r>
          </a:p>
        </p:txBody>
      </p:sp>
      <p:sp>
        <p:nvSpPr>
          <p:cNvPr id="11" name="Oval 10"/>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3" name="TextBox 12"/>
          <p:cNvSpPr txBox="1"/>
          <p:nvPr/>
        </p:nvSpPr>
        <p:spPr>
          <a:xfrm>
            <a:off x="1554480" y="3300984"/>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Uzreiz redz atlīdzību</a:t>
            </a:r>
          </a:p>
        </p:txBody>
      </p:sp>
      <p:sp>
        <p:nvSpPr>
          <p:cNvPr id="14" name="TextBox 13"/>
          <p:cNvSpPr txBox="1"/>
          <p:nvPr/>
        </p:nvSpPr>
        <p:spPr>
          <a:xfrm>
            <a:off x="1554480" y="3703320"/>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Cik saņems un vai braukt atmaksājas — vēl pirms reģistrācijas</a:t>
            </a:r>
          </a:p>
        </p:txBody>
      </p:sp>
      <p:sp>
        <p:nvSpPr>
          <p:cNvPr id="15" name="Oval 14"/>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554480" y="4288536"/>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Izvēlas punktu kartē</a:t>
            </a:r>
          </a:p>
        </p:txBody>
      </p:sp>
      <p:sp>
        <p:nvSpPr>
          <p:cNvPr id="18" name="TextBox 17"/>
          <p:cNvSpPr txBox="1"/>
          <p:nvPr/>
        </p:nvSpPr>
        <p:spPr>
          <a:xfrm>
            <a:off x="1554480" y="4690872"/>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Tikai tur, kur atlīdzība &gt; degvielas izmaksas</a:t>
            </a:r>
          </a:p>
        </p:txBody>
      </p:sp>
      <p:sp>
        <p:nvSpPr>
          <p:cNvPr id="19" name="Oval 18"/>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1" name="TextBox 20"/>
          <p:cNvSpPr txBox="1"/>
          <p:nvPr/>
        </p:nvSpPr>
        <p:spPr>
          <a:xfrm>
            <a:off x="1554480" y="5276088"/>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Nodod un saņem</a:t>
            </a:r>
          </a:p>
        </p:txBody>
      </p:sp>
      <p:sp>
        <p:nvSpPr>
          <p:cNvPr id="22" name="TextBox 21"/>
          <p:cNvSpPr txBox="1"/>
          <p:nvPr/>
        </p:nvSpPr>
        <p:spPr>
          <a:xfrm>
            <a:off x="1554480" y="5678424"/>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Nosver, pārbauda — atlīdzība kontā</a:t>
            </a:r>
          </a:p>
        </p:txBody>
      </p:sp>
      <p:sp>
        <p:nvSpPr>
          <p:cNvPr id="23" name="Rounded Rectangle 22"/>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Annas iespējas šodien</a:t>
            </a:r>
          </a:p>
        </p:txBody>
      </p:sp>
      <p:sp>
        <p:nvSpPr>
          <p:cNvPr id="4" name="TextBox 3"/>
          <p:cNvSpPr txBox="1"/>
          <p:nvPr/>
        </p:nvSpPr>
        <p:spPr>
          <a:xfrm>
            <a:off x="393192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Bez maksas</a:t>
            </a:r>
          </a:p>
        </p:txBody>
      </p:sp>
      <p:sp>
        <p:nvSpPr>
          <p:cNvPr id="5" name="TextBox 4"/>
          <p:cNvSpPr txBox="1"/>
          <p:nvPr/>
        </p:nvSpPr>
        <p:spPr>
          <a:xfrm>
            <a:off x="585216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Ērti</a:t>
            </a:r>
          </a:p>
        </p:txBody>
      </p:sp>
      <p:sp>
        <p:nvSpPr>
          <p:cNvPr id="6" name="TextBox 5"/>
          <p:cNvSpPr txBox="1"/>
          <p:nvPr/>
        </p:nvSpPr>
        <p:spPr>
          <a:xfrm>
            <a:off x="800100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Atlīdzība</a:t>
            </a:r>
          </a:p>
        </p:txBody>
      </p:sp>
      <p:sp>
        <p:nvSpPr>
          <p:cNvPr id="7" name="TextBox 6"/>
          <p:cNvSpPr txBox="1"/>
          <p:nvPr/>
        </p:nvSpPr>
        <p:spPr>
          <a:xfrm>
            <a:off x="9692640" y="1874519"/>
            <a:ext cx="1920240" cy="320040"/>
          </a:xfrm>
          <a:prstGeom prst="rect">
            <a:avLst/>
          </a:prstGeom>
          <a:noFill/>
        </p:spPr>
        <p:txBody>
          <a:bodyPr wrap="square" anchor="t" lIns="0" rIns="0" tIns="0" bIns="0">
            <a:spAutoFit/>
          </a:bodyPr>
          <a:lstStyle/>
          <a:p>
            <a:pPr algn="l">
              <a:lnSpc>
                <a:spcPct val="110000"/>
              </a:lnSpc>
              <a:spcAft>
                <a:spcPts val="600"/>
              </a:spcAft>
            </a:pPr>
            <a:r>
              <a:rPr sz="1300" b="1">
                <a:solidFill>
                  <a:srgbClr val="5B665D"/>
                </a:solidFill>
                <a:latin typeface="Montserrat"/>
              </a:rPr>
              <a:t>Nonāk pārstrādē</a:t>
            </a:r>
          </a:p>
        </p:txBody>
      </p:sp>
      <p:sp>
        <p:nvSpPr>
          <p:cNvPr id="8" name="Rounded Rectangle 7"/>
          <p:cNvSpPr/>
          <p:nvPr/>
        </p:nvSpPr>
        <p:spPr>
          <a:xfrm>
            <a:off x="640080" y="2286000"/>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86000"/>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Sludinājums „izvedam lēti”</a:t>
            </a:r>
          </a:p>
        </p:txBody>
      </p:sp>
      <p:sp>
        <p:nvSpPr>
          <p:cNvPr id="10" name="TextBox 9"/>
          <p:cNvSpPr txBox="1"/>
          <p:nvPr/>
        </p:nvSpPr>
        <p:spPr>
          <a:xfrm>
            <a:off x="3931920" y="2286000"/>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Lēti</a:t>
            </a:r>
          </a:p>
        </p:txBody>
      </p:sp>
      <p:sp>
        <p:nvSpPr>
          <p:cNvPr id="11" name="TextBox 10"/>
          <p:cNvSpPr txBox="1"/>
          <p:nvPr/>
        </p:nvSpPr>
        <p:spPr>
          <a:xfrm>
            <a:off x="585216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2" name="TextBox 11"/>
          <p:cNvSpPr txBox="1"/>
          <p:nvPr/>
        </p:nvSpPr>
        <p:spPr>
          <a:xfrm>
            <a:off x="800100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3" name="TextBox 12"/>
          <p:cNvSpPr txBox="1"/>
          <p:nvPr/>
        </p:nvSpPr>
        <p:spPr>
          <a:xfrm>
            <a:off x="9692640" y="2286000"/>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Bieži mežā</a:t>
            </a:r>
          </a:p>
        </p:txBody>
      </p:sp>
      <p:sp>
        <p:nvSpPr>
          <p:cNvPr id="14" name="Rounded Rectangle 13"/>
          <p:cNvSpPr/>
          <p:nvPr/>
        </p:nvSpPr>
        <p:spPr>
          <a:xfrm>
            <a:off x="640080" y="2999232"/>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99232"/>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Konteinera noma</a:t>
            </a:r>
          </a:p>
        </p:txBody>
      </p:sp>
      <p:sp>
        <p:nvSpPr>
          <p:cNvPr id="16" name="TextBox 15"/>
          <p:cNvSpPr txBox="1"/>
          <p:nvPr/>
        </p:nvSpPr>
        <p:spPr>
          <a:xfrm>
            <a:off x="393192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Dārgi</a:t>
            </a:r>
          </a:p>
        </p:txBody>
      </p:sp>
      <p:sp>
        <p:nvSpPr>
          <p:cNvPr id="17" name="TextBox 16"/>
          <p:cNvSpPr txBox="1"/>
          <p:nvPr/>
        </p:nvSpPr>
        <p:spPr>
          <a:xfrm>
            <a:off x="585216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18" name="TextBox 17"/>
          <p:cNvSpPr txBox="1"/>
          <p:nvPr/>
        </p:nvSpPr>
        <p:spPr>
          <a:xfrm>
            <a:off x="800100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19" name="TextBox 18"/>
          <p:cNvSpPr txBox="1"/>
          <p:nvPr/>
        </p:nvSpPr>
        <p:spPr>
          <a:xfrm>
            <a:off x="9692640" y="2999232"/>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0" name="Rounded Rectangle 19"/>
          <p:cNvSpPr/>
          <p:nvPr/>
        </p:nvSpPr>
        <p:spPr>
          <a:xfrm>
            <a:off x="640080" y="3712464"/>
            <a:ext cx="1092708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712464"/>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1C261E"/>
                </a:solidFill>
                <a:latin typeface="Montserrat"/>
              </a:rPr>
              <a:t>Šķirošanas laukums</a:t>
            </a:r>
          </a:p>
        </p:txBody>
      </p:sp>
      <p:sp>
        <p:nvSpPr>
          <p:cNvPr id="22" name="TextBox 21"/>
          <p:cNvSpPr txBox="1"/>
          <p:nvPr/>
        </p:nvSpPr>
        <p:spPr>
          <a:xfrm>
            <a:off x="3931920" y="3712464"/>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Daļēji</a:t>
            </a:r>
          </a:p>
        </p:txBody>
      </p:sp>
      <p:sp>
        <p:nvSpPr>
          <p:cNvPr id="23" name="TextBox 22"/>
          <p:cNvSpPr txBox="1"/>
          <p:nvPr/>
        </p:nvSpPr>
        <p:spPr>
          <a:xfrm>
            <a:off x="5852160" y="3712464"/>
            <a:ext cx="2011680" cy="603504"/>
          </a:xfrm>
          <a:prstGeom prst="rect">
            <a:avLst/>
          </a:prstGeom>
          <a:noFill/>
        </p:spPr>
        <p:txBody>
          <a:bodyPr wrap="square" anchor="ctr" lIns="0" rIns="0" tIns="0" bIns="0">
            <a:spAutoFit/>
          </a:bodyPr>
          <a:lstStyle/>
          <a:p>
            <a:pPr algn="l">
              <a:lnSpc>
                <a:spcPct val="110000"/>
              </a:lnSpc>
              <a:spcAft>
                <a:spcPts val="600"/>
              </a:spcAft>
            </a:pPr>
            <a:r>
              <a:rPr sz="1500" b="0">
                <a:solidFill>
                  <a:srgbClr val="5B665D"/>
                </a:solidFill>
                <a:latin typeface="Open Sans"/>
              </a:rPr>
              <a:t>Jāved pašam</a:t>
            </a:r>
          </a:p>
        </p:txBody>
      </p:sp>
      <p:sp>
        <p:nvSpPr>
          <p:cNvPr id="24" name="TextBox 23"/>
          <p:cNvSpPr txBox="1"/>
          <p:nvPr/>
        </p:nvSpPr>
        <p:spPr>
          <a:xfrm>
            <a:off x="8001000" y="3712464"/>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B04A3A"/>
                </a:solidFill>
                <a:latin typeface="Open Sans"/>
              </a:rPr>
              <a:t>Nē</a:t>
            </a:r>
          </a:p>
        </p:txBody>
      </p:sp>
      <p:sp>
        <p:nvSpPr>
          <p:cNvPr id="25" name="TextBox 24"/>
          <p:cNvSpPr txBox="1"/>
          <p:nvPr/>
        </p:nvSpPr>
        <p:spPr>
          <a:xfrm>
            <a:off x="9692640" y="3712464"/>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5E8C5A"/>
                </a:solidFill>
                <a:latin typeface="Open Sans"/>
              </a:rPr>
              <a:t>Jā</a:t>
            </a:r>
          </a:p>
        </p:txBody>
      </p:sp>
      <p:sp>
        <p:nvSpPr>
          <p:cNvPr id="26" name="Rounded Rectangle 25"/>
          <p:cNvSpPr/>
          <p:nvPr/>
        </p:nvSpPr>
        <p:spPr>
          <a:xfrm>
            <a:off x="640080" y="4425696"/>
            <a:ext cx="10927080" cy="603504"/>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425696"/>
            <a:ext cx="3017520" cy="603504"/>
          </a:xfrm>
          <a:prstGeom prst="rect">
            <a:avLst/>
          </a:prstGeom>
          <a:noFill/>
        </p:spPr>
        <p:txBody>
          <a:bodyPr wrap="square" anchor="ctr" lIns="0" rIns="0" tIns="0" bIns="0">
            <a:spAutoFit/>
          </a:bodyPr>
          <a:lstStyle/>
          <a:p>
            <a:pPr algn="l">
              <a:lnSpc>
                <a:spcPct val="110000"/>
              </a:lnSpc>
              <a:spcAft>
                <a:spcPts val="600"/>
              </a:spcAft>
            </a:pPr>
            <a:r>
              <a:rPr sz="1600" b="1">
                <a:solidFill>
                  <a:srgbClr val="FFFFFF"/>
                </a:solidFill>
                <a:latin typeface="Montserrat"/>
              </a:rPr>
              <a:t>Būvgružu birža</a:t>
            </a:r>
          </a:p>
        </p:txBody>
      </p:sp>
      <p:sp>
        <p:nvSpPr>
          <p:cNvPr id="28" name="TextBox 27"/>
          <p:cNvSpPr txBox="1"/>
          <p:nvPr/>
        </p:nvSpPr>
        <p:spPr>
          <a:xfrm>
            <a:off x="393192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29" name="TextBox 28"/>
          <p:cNvSpPr txBox="1"/>
          <p:nvPr/>
        </p:nvSpPr>
        <p:spPr>
          <a:xfrm>
            <a:off x="585216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Karte + pārvadātājs</a:t>
            </a:r>
          </a:p>
        </p:txBody>
      </p:sp>
      <p:sp>
        <p:nvSpPr>
          <p:cNvPr id="30" name="TextBox 29"/>
          <p:cNvSpPr txBox="1"/>
          <p:nvPr/>
        </p:nvSpPr>
        <p:spPr>
          <a:xfrm>
            <a:off x="800100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1" name="TextBox 30"/>
          <p:cNvSpPr txBox="1"/>
          <p:nvPr/>
        </p:nvSpPr>
        <p:spPr>
          <a:xfrm>
            <a:off x="9692640" y="4425696"/>
            <a:ext cx="2011680" cy="603504"/>
          </a:xfrm>
          <a:prstGeom prst="rect">
            <a:avLst/>
          </a:prstGeom>
          <a:noFill/>
        </p:spPr>
        <p:txBody>
          <a:bodyPr wrap="square" anchor="ctr" lIns="0" rIns="0" tIns="0" bIns="0">
            <a:spAutoFit/>
          </a:bodyPr>
          <a:lstStyle/>
          <a:p>
            <a:pPr algn="l">
              <a:lnSpc>
                <a:spcPct val="110000"/>
              </a:lnSpc>
              <a:spcAft>
                <a:spcPts val="600"/>
              </a:spcAft>
            </a:pPr>
            <a:r>
              <a:rPr sz="1500" b="1">
                <a:solidFill>
                  <a:srgbClr val="FFFFFF"/>
                </a:solidFill>
                <a:latin typeface="Open Sans"/>
              </a:rPr>
              <a:t>Jā</a:t>
            </a:r>
          </a:p>
        </p:txBody>
      </p:sp>
      <p:sp>
        <p:nvSpPr>
          <p:cNvPr id="32" name="Rounded Rectangle 31"/>
          <p:cNvSpPr/>
          <p:nvPr/>
        </p:nvSpPr>
        <p:spPr>
          <a:xfrm>
            <a:off x="640080" y="5257800"/>
            <a:ext cx="10927080" cy="960120"/>
          </a:xfrm>
          <a:prstGeom prst="roundRect">
            <a:avLst>
              <a:gd name="adj" fmla="val 8000"/>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5257800"/>
            <a:ext cx="10424160" cy="960120"/>
          </a:xfrm>
          <a:prstGeom prst="rect">
            <a:avLst/>
          </a:prstGeom>
          <a:noFill/>
        </p:spPr>
        <p:txBody>
          <a:bodyPr wrap="square" anchor="ctr" lIns="0" rIns="0" tIns="0" bIns="0">
            <a:spAutoFit/>
          </a:bodyPr>
          <a:lstStyle/>
          <a:p>
            <a:pPr algn="l">
              <a:lnSpc>
                <a:spcPct val="110000"/>
              </a:lnSpc>
              <a:spcAft>
                <a:spcPts val="200"/>
              </a:spcAft>
            </a:pPr>
            <a:r>
              <a:rPr sz="1200" b="0">
                <a:solidFill>
                  <a:srgbClr val="CFE0C8"/>
                </a:solidFill>
                <a:latin typeface="Open Sans"/>
              </a:rPr>
              <a:t>Galvenā funkcija</a:t>
            </a:r>
          </a:p>
          <a:p>
            <a:pPr algn="l">
              <a:lnSpc>
                <a:spcPct val="110000"/>
              </a:lnSpc>
              <a:spcAft>
                <a:spcPts val="600"/>
              </a:spcAft>
            </a:pPr>
            <a:r>
              <a:rPr sz="2100" b="1">
                <a:solidFill>
                  <a:srgbClr val="FFFFFF"/>
                </a:solidFill>
                <a:latin typeface="Montserrat"/>
              </a:rPr>
              <a:t>Nofotografē — uzreiz redzi, cik saņemsi un kur nodot atmaksājas</a:t>
            </a:r>
          </a:p>
        </p:txBody>
      </p:sp>
      <p:sp>
        <p:nvSpPr>
          <p:cNvPr id="34" name="TextBox 33"/>
          <p:cNvSpPr txBox="1"/>
          <p:nvPr/>
        </p:nvSpPr>
        <p:spPr>
          <a:xfrm>
            <a:off x="640080" y="6309360"/>
            <a:ext cx="10927080" cy="274320"/>
          </a:xfrm>
          <a:prstGeom prst="rect">
            <a:avLst/>
          </a:prstGeom>
          <a:noFill/>
        </p:spPr>
        <p:txBody>
          <a:bodyPr wrap="square" anchor="t" lIns="0" rIns="0" tIns="0" bIns="0">
            <a:spAutoFit/>
          </a:bodyPr>
          <a:lstStyle/>
          <a:p>
            <a:pPr algn="l">
              <a:lnSpc>
                <a:spcPct val="110000"/>
              </a:lnSpc>
              <a:spcAft>
                <a:spcPts val="600"/>
              </a:spcAft>
            </a:pPr>
            <a:r>
              <a:rPr sz="1000" b="0">
                <a:solidFill>
                  <a:srgbClr val="5B665D"/>
                </a:solidFill>
                <a:latin typeface="Open Sans"/>
              </a:rPr>
              <a:t>Atlīdzība pēc pārstrādātāju cenām: koksne 15–30 €/t, betons 1–3 €/t, ķieģeļi 0,5–1,5 €/t (aplēses,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
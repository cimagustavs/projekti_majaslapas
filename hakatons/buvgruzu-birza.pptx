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0:35 — HOOK (lēni, ar pauzi): Izmest būvgružus mežā maksā nulle eiro. Nodot tos legāli — maksā. Uzminiet, kurš ceļš uzvar. [pauze] Šī ir Anna. Viņa remontē māju: veci dēļi, betona lauskas, piekabes nav, kur nodot — nezina. Internetā — "izvedam būvgružus lēti". Viens zvans, un gruži nonāk mežā. Un būvgruži ir vairāk nekā trešdaļa no visiem ES atkritumiem. Problēma nav cilvēkos — nelegālais ceļš vienkārši ir lētāks.</a:t>
            </a:r>
          </a:p>
          <a:p/>
          <a:p>
            <a:r>
              <a:t>Foto avots: https://iauto.lv/zinas/latvija/49412-izg-atkritumus-me-k-tdus-cilvkus-nosaukt-foto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 — Mūsu risinājums ir Būvgružu birža — aprites ekonomikas platforma, kas savieno Annu ar uzņēmumiem, kas pārstrādā būvgružus. Princips kā pudeļu depozītam — nodod un saņem. Anna nodod gružus bez maksas un saņem atlīdzību — par koksni naudu, par betonu punktus. Uzņēmumiem: tīrs materiāls bez šķirošanas izmaksām. Videi: mazāk izgāztuvju mežos un mazāk jaunu izejvielu ieguves.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 — Paskatīsimies ar Annas acīm. Viņa nofotografē gružus un uzreiz redz, cik saņems — vēl pirms reģistrācijas. Kartē redz tikai tos punktus, kur braukt atmaksājas. Parādīšu.</a:t>
            </a:r>
          </a:p>
          <a:p/>
          <a:p>
            <a:r>
              <a:t>[VIDEO 1:00 — Gustavs komentē]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 — Šodien Annai ir trīs iespējas. Sludinājums — lēti, bet gruži bieži nonāk mežā. Konteiners — legāli, bet dārgi. Šķirošanas laukums — jāzina, kur, jāved pašam, un nekas par to netiek. No šīm iespējām tikai Būvgružu biržā nodot ir bez maksas, ar atlīdzību un pārstrādē. Un mūsu galvenā funkcija: nofotografē — un uzreiz redzi, cik saņemsi un kur nodot atmaksājas. To aprēķinājām pēc pārstrādātāju reālajām cenām.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 — Būvgružu birža — lai būvgruži atgrieztos būvniecībā, nevis mežā. Paldies! Labprāt atbildēsim uz jautājumiem.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CFE0C8"/>
                </a:solidFill>
                <a:latin typeface="Montserrat"/>
              </a:rPr>
              <a:t>PROBLĒMA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60350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ontserrat"/>
              </a:rPr>
              <a:t>Būvgruži mežā ir lētāki nekā būvgruži pārstrādē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46120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CFE0C8"/>
                </a:solidFill>
                <a:latin typeface="Open Sans"/>
              </a:rPr>
              <a:t>Anna remontē māju. Piekabes nav, kur nodot, nezina, legāli ir dārgi. Nelegālais ceļš ir lētāks un vienkāršāks.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ontserrat"/>
              </a:rPr>
              <a:t>~½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749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CFE0C8"/>
                </a:solidFill>
                <a:latin typeface="Open Sans"/>
              </a:rPr>
              <a:t>no zemes dzīlēs iegūtajiem resursiem patērē būvniecība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434340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ontserrat"/>
              </a:rPr>
              <a:t>&gt; 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50749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CFE0C8"/>
                </a:solidFill>
                <a:latin typeface="Open Sans"/>
              </a:rPr>
              <a:t>no visiem ES atkritumiem ir būvniecības atkritumi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7220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CFE0C8"/>
                </a:solidFill>
                <a:latin typeface="Open Sans"/>
              </a:rPr>
              <a:t>Avots: hakatona izaicinājums (SCHWENK, RTU, Green Liberty)</a:t>
            </a:r>
          </a:p>
        </p:txBody>
      </p:sp>
      <p:pic>
        <p:nvPicPr>
          <p:cNvPr id="10" name="Picture 9" descr="foto-mez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548640"/>
            <a:ext cx="4526280" cy="4206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86600" y="4773168"/>
            <a:ext cx="4526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800" b="0">
                <a:solidFill>
                  <a:srgbClr val="5E8C5A"/>
                </a:solidFill>
                <a:latin typeface="Open Sans"/>
              </a:rPr>
              <a:t>Foto: iauto.lv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731520"/>
            <a:ext cx="2377440" cy="960120"/>
          </a:xfrm>
          <a:prstGeom prst="roundRect">
            <a:avLst>
              <a:gd name="adj" fmla="val 8000"/>
            </a:avLst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731520"/>
            <a:ext cx="2377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CFE0C8"/>
                </a:solidFill>
                <a:latin typeface="Open Sans"/>
              </a:rPr>
              <a:t>Izmest mežā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ontserrat"/>
              </a:rPr>
              <a:t>0 €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4983480"/>
            <a:ext cx="45262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60920" y="5120640"/>
            <a:ext cx="4023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244A30"/>
                </a:solidFill>
                <a:latin typeface="Montserrat"/>
              </a:rPr>
              <a:t>„Izvedam būvgružus lēti!”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B665D"/>
                </a:solidFill>
                <a:latin typeface="Open Sans"/>
              </a:rPr>
              <a:t>Viens zvans — un gruži nonāk mežā.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E8C5A"/>
                </a:solidFill>
                <a:latin typeface="Montserrat"/>
              </a:rPr>
              <a:t>RISINĀJUMS · APRITES EKONOMIKAS PLATFORMA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400" b="1">
                <a:solidFill>
                  <a:srgbClr val="244A30"/>
                </a:solidFill>
                <a:latin typeface="Montserrat"/>
              </a:rPr>
              <a:t>Būvgružu birža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5B665D"/>
                </a:solidFill>
                <a:latin typeface="Open Sans"/>
              </a:rPr>
              <a:t>Motivē cilvēkus viegli un bez maksas vai pat par atlīdzību šķirot būvgružus, bet uzņēmumiem ļauj atkārtoti izmantot materiālus jaunu produktu ražošanā.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02920"/>
            <a:ext cx="1325880" cy="129091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274320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743200"/>
            <a:ext cx="3474720" cy="109728"/>
          </a:xfrm>
          <a:prstGeom prst="rect">
            <a:avLst/>
          </a:prstGeom>
          <a:solidFill>
            <a:srgbClr val="5E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310896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244A30"/>
                </a:solidFill>
                <a:latin typeface="Montserrat"/>
              </a:rPr>
              <a:t>Cilvēkiem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3840480"/>
            <a:ext cx="28346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Nodod sašķirotus gružus bez maksas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Par koksni: nauda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Par betonu un ķieģeļiem: punkti vai šķembas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74320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2743200"/>
            <a:ext cx="3474720" cy="109728"/>
          </a:xfrm>
          <a:prstGeom prst="rect">
            <a:avLst/>
          </a:prstGeom>
          <a:solidFill>
            <a:srgbClr val="5E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10896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244A30"/>
                </a:solidFill>
                <a:latin typeface="Montserrat"/>
              </a:rPr>
              <a:t>Uzņēmumiem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840480"/>
            <a:ext cx="28346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Tīrs, sašķirots materiāls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Bez šķirošanas izmaksām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Lētāka izejviela nekā jauna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74320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9" y="2743200"/>
            <a:ext cx="3474720" cy="109728"/>
          </a:xfrm>
          <a:prstGeom prst="rect">
            <a:avLst/>
          </a:prstGeom>
          <a:solidFill>
            <a:srgbClr val="5E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59" y="310896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244A30"/>
                </a:solidFill>
                <a:latin typeface="Montserrat"/>
              </a:rPr>
              <a:t>Videi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9" y="3840480"/>
            <a:ext cx="28346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Mazāk izgāztuvju mežos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Mazāk jaunu izejvielu ieguves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Pašvaldība ietaupa uz sakopšanu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E8C5A"/>
                </a:solidFill>
                <a:latin typeface="Montserrat"/>
              </a:rPr>
              <a:t>LIETOTĀJA PIEREDZE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6583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000" b="1">
                <a:solidFill>
                  <a:srgbClr val="244A30"/>
                </a:solidFill>
                <a:latin typeface="Montserrat"/>
              </a:rPr>
              <a:t>Annas ceļš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6583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5B665D"/>
                </a:solidFill>
                <a:latin typeface="Open Sans"/>
              </a:rPr>
              <a:t>No gružu kaudzes līdz atlīdzībai četros soļos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191256"/>
            <a:ext cx="6858000" cy="941832"/>
          </a:xfrm>
          <a:prstGeom prst="roundRect">
            <a:avLst>
              <a:gd name="adj" fmla="val 8000"/>
            </a:avLst>
          </a:prstGeom>
          <a:solidFill>
            <a:srgbClr val="CF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0" y="3273552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244A30"/>
                </a:solidFill>
                <a:latin typeface="Montserrat"/>
              </a:rPr>
              <a:t>GALVENĀ FUNKCIJA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331720"/>
            <a:ext cx="685800" cy="685800"/>
          </a:xfrm>
          <a:prstGeom prst="ellipse">
            <a:avLst/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13432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1C261E"/>
                </a:solidFill>
                <a:latin typeface="Montserrat"/>
              </a:rPr>
              <a:t>Nofotografē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715768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B665D"/>
                </a:solidFill>
                <a:latin typeface="Open Sans"/>
              </a:rPr>
              <a:t>Izvēlas veidu un daudzumu maisos — lietotne parāda, kā šķirot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319272"/>
            <a:ext cx="685800" cy="685800"/>
          </a:xfrm>
          <a:prstGeom prst="ellipse">
            <a:avLst/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19272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00984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1C261E"/>
                </a:solidFill>
                <a:latin typeface="Montserrat"/>
              </a:rPr>
              <a:t>Uzreiz redz atlīdzību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0332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B665D"/>
                </a:solidFill>
                <a:latin typeface="Open Sans"/>
              </a:rPr>
              <a:t>Cik saņems un vai braukt atmaksājas — vēl pirms reģistrācijas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306824"/>
            <a:ext cx="685800" cy="685800"/>
          </a:xfrm>
          <a:prstGeom prst="ellipse">
            <a:avLst/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288536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1C261E"/>
                </a:solidFill>
                <a:latin typeface="Montserrat"/>
              </a:rPr>
              <a:t>Izvēlas punktu kartē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690872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B665D"/>
                </a:solidFill>
                <a:latin typeface="Open Sans"/>
              </a:rPr>
              <a:t>Tikai tur, kur atlīdzība &gt; degvielas izmaksas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294376"/>
            <a:ext cx="685800" cy="685800"/>
          </a:xfrm>
          <a:prstGeom prst="ellipse">
            <a:avLst/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94376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5276088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1C261E"/>
                </a:solidFill>
                <a:latin typeface="Montserrat"/>
              </a:rPr>
              <a:t>Nodod un saņem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678424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B665D"/>
                </a:solidFill>
                <a:latin typeface="Open Sans"/>
              </a:rPr>
              <a:t>Nosver, pārbauda — atlīdzība kontā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548640"/>
            <a:ext cx="3291840" cy="5760720"/>
          </a:xfrm>
          <a:prstGeom prst="roundRect">
            <a:avLst>
              <a:gd name="adj" fmla="val 8000"/>
            </a:avLst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726679" y="685800"/>
            <a:ext cx="3017520" cy="5486400"/>
          </a:xfrm>
          <a:prstGeom prst="roundRect">
            <a:avLst>
              <a:gd name="adj" fmla="val 8000"/>
            </a:avLst>
          </a:prstGeom>
          <a:solidFill>
            <a:srgbClr val="CF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6679" y="685800"/>
            <a:ext cx="3017520" cy="5486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244A30"/>
                </a:solidFill>
                <a:latin typeface="Open Sans"/>
              </a:rPr>
              <a:t>VIDEO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244A30"/>
                </a:solidFill>
                <a:latin typeface="Open Sans"/>
              </a:rPr>
              <a:t>no lietotnes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244A30"/>
                </a:solidFill>
                <a:latin typeface="Open Sans"/>
              </a:rPr>
              <a:t>(ievelc Canva)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E8C5A"/>
                </a:solidFill>
                <a:latin typeface="Montserrat"/>
              </a:rPr>
              <a:t>KĀPĒC TIEŠI MŪSU RISINĀJUMS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000" b="1">
                <a:solidFill>
                  <a:srgbClr val="244A30"/>
                </a:solidFill>
                <a:latin typeface="Montserrat"/>
              </a:rPr>
              <a:t>Annas iespējas šodien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1874519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B665D"/>
                </a:solidFill>
                <a:latin typeface="Montserrat"/>
              </a:rPr>
              <a:t>Bez maksas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1874519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B665D"/>
                </a:solidFill>
                <a:latin typeface="Montserrat"/>
              </a:rPr>
              <a:t>Ērti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0" y="1874519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B665D"/>
                </a:solidFill>
                <a:latin typeface="Montserrat"/>
              </a:rPr>
              <a:t>Atlīdzība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1874519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B665D"/>
                </a:solidFill>
                <a:latin typeface="Montserrat"/>
              </a:rPr>
              <a:t>Nonāk pārstrādē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86000"/>
            <a:ext cx="1092708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30175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C261E"/>
                </a:solidFill>
                <a:latin typeface="Montserrat"/>
              </a:rPr>
              <a:t>Sludinājums „izvedam lēti”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286000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B665D"/>
                </a:solidFill>
                <a:latin typeface="Open Sans"/>
              </a:rPr>
              <a:t>Lēti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286000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E8C5A"/>
                </a:solidFill>
                <a:latin typeface="Open Sans"/>
              </a:rPr>
              <a:t>Jā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286000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04A3A"/>
                </a:solidFill>
                <a:latin typeface="Open Sans"/>
              </a:rPr>
              <a:t>Nē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2286000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04A3A"/>
                </a:solidFill>
                <a:latin typeface="Open Sans"/>
              </a:rPr>
              <a:t>Bieži mežā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99232"/>
            <a:ext cx="1092708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99232"/>
            <a:ext cx="30175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C261E"/>
                </a:solidFill>
                <a:latin typeface="Montserrat"/>
              </a:rPr>
              <a:t>Konteinera noma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999232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04A3A"/>
                </a:solidFill>
                <a:latin typeface="Open Sans"/>
              </a:rPr>
              <a:t>Dārgi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999232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E8C5A"/>
                </a:solidFill>
                <a:latin typeface="Open Sans"/>
              </a:rPr>
              <a:t>Jā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2999232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04A3A"/>
                </a:solidFill>
                <a:latin typeface="Open Sans"/>
              </a:rPr>
              <a:t>Nē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999232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E8C5A"/>
                </a:solidFill>
                <a:latin typeface="Open Sans"/>
              </a:rPr>
              <a:t>Jā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12464"/>
            <a:ext cx="1092708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712464"/>
            <a:ext cx="30175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C261E"/>
                </a:solidFill>
                <a:latin typeface="Montserrat"/>
              </a:rPr>
              <a:t>Šķirošanas laukums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3712464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B665D"/>
                </a:solidFill>
                <a:latin typeface="Open Sans"/>
              </a:rPr>
              <a:t>Daļēji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3712464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B665D"/>
                </a:solidFill>
                <a:latin typeface="Open Sans"/>
              </a:rPr>
              <a:t>Jāved pašam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3712464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04A3A"/>
                </a:solidFill>
                <a:latin typeface="Open Sans"/>
              </a:rPr>
              <a:t>Nē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3712464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E8C5A"/>
                </a:solidFill>
                <a:latin typeface="Open Sans"/>
              </a:rPr>
              <a:t>Jā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25696"/>
            <a:ext cx="10927080" cy="603504"/>
          </a:xfrm>
          <a:prstGeom prst="roundRect">
            <a:avLst>
              <a:gd name="adj" fmla="val 8000"/>
            </a:avLst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25696"/>
            <a:ext cx="30175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ontserrat"/>
              </a:rPr>
              <a:t>Būvgružu birža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4425696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Open Sans"/>
              </a:rPr>
              <a:t>Jā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4425696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Open Sans"/>
              </a:rPr>
              <a:t>Karte + pārvadātājs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4425696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Open Sans"/>
              </a:rPr>
              <a:t>Jā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4425696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Open Sans"/>
              </a:rPr>
              <a:t>Jā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257800"/>
            <a:ext cx="10927080" cy="960120"/>
          </a:xfrm>
          <a:prstGeom prst="roundRect">
            <a:avLst>
              <a:gd name="adj" fmla="val 8000"/>
            </a:avLst>
          </a:prstGeom>
          <a:solidFill>
            <a:srgbClr val="5E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57800"/>
            <a:ext cx="104241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CFE0C8"/>
                </a:solidFill>
                <a:latin typeface="Open Sans"/>
              </a:rPr>
              <a:t>Galvenā funkcija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FFFFFF"/>
                </a:solidFill>
                <a:latin typeface="Montserrat"/>
              </a:rPr>
              <a:t>Nofotografē — uzreiz redzi, cik saņemsi un kur nodot atmaksājas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309360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B665D"/>
                </a:solidFill>
                <a:latin typeface="Open Sans"/>
              </a:rPr>
              <a:t>Atlīdzība pēc pārstrādātāju cenām: koksne 15–30 €/t, betons 1–3 €/t, ķieģeļi 0,5–1,5 €/t (aplēses, jāpārbauda pilotprojektā).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A3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640080"/>
            <a:ext cx="1371600" cy="13354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286000"/>
            <a:ext cx="108813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ontserrat"/>
              </a:rPr>
              <a:t>Lai būvgruži atgrieztos būvniecībā, nevis mežā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800" b="1">
                <a:solidFill>
                  <a:srgbClr val="CFE0C8"/>
                </a:solidFill>
                <a:latin typeface="Montserrat"/>
              </a:rPr>
              <a:t>Būvgružu birža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CFE0C8"/>
                </a:solidFill>
                <a:latin typeface="Open Sans"/>
              </a:rPr>
              <a:t>Komanda Alanguka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Open Sans"/>
              </a:rPr>
              <a:t>Paldies! Jautājumi?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
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0:35. HOOK (lēni, ar pauzi): Izmest būvgružus mežā maksā nulle eiro. Nodot tos legāli maksā. Uzminiet, kurš ceļš uzvar. [pauze] Iedomājieties, ka remontējat māju: veci dēļi, betona lauskas, piekabes nav, kur nodot, nezināt. Internetā sludinājums: "izvedam būvgružus lēti". Viens zvans, un gruži nonāk mežā. Būvgruži ir vairāk nekā trešdaļa no visiem ES atkritumiem. Problēma nav cilvēkos. Nelegālais ceļš vienkārši ir lētāks.</a:t>
            </a:r>
          </a:p>
          <a:p/>
          <a:p>
            <a:r>
              <a:t>Foto avots: https://iauto.lv/zinas/latvija/49412-izg-atkritumus-me-k-tdus-cilvkus-nosaukt-foto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0:30. Mūsu risinājums ir Būvgružu birža, aprites ekonomikas platforma, kas savieno cilvēkus, kuriem ir būvgruži, ar uzņēmumiem, kas tos pārstrādā. Princips kā pudeļu depozītam: nodod un saņem. Cilvēks nodod gružus bez maksas un saņem atlīdzību: par koksni naudu, par betonu punktus. Uzņēmumiem: tīrs materiāls bez šķirošanas izmaksām. Videi: mazāk izgāztuvju mežos un mazāk jaunu izejvielu ieguves.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0:15. Paskatīsimies ar lietotāja acīm. Tu nofotografē gružus un uzreiz redzi, cik saņemsi, vēl pirms reģistrācijas. Kartē redzi tikai tos punktus, kur braukt atmaksājas. Parādīšu.</a:t>
            </a:r>
          </a:p>
          <a:p/>
          <a:p>
            <a:r>
              <a:t>[VIDEO 1:00, Gustavs komentē]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0:30. Šodien cilvēkam ir trīs iespējas. Sludinājums: lēti, bet gruži bieži nonāk mežā. Konteiners: legāli, bet dārgi. Šķirošanas laukums: jāzina, kur, jāved pašam, un nekas par to netiek. No šīm iespējām tikai Būvgružu biržā nodot ir bez maksas, ar atlīdzību un pārstrādē. Un galvenais: lietotne uzreiz parāda, cik saņemsi un vai braukt atmaksājas. To aprēķinājām pēc pārstrādātāju reālajām cenām.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Būvgružu birža. Lai būvgruži atgrieztos būvniecībā, nevis mežā. Paldies! Labprāt atbildēsim uz jautājumiem.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A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CFE0C8"/>
                </a:solidFill>
                <a:latin typeface="Montserrat"/>
              </a:rPr>
              <a:t>PROBLĒMA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5669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ontserrat"/>
              </a:rPr>
              <a:t>Būvgruži mežā ir lētāki nekā būvgruži pārstrādē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34340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Montserrat"/>
              </a:rPr>
              <a:t>&gt; 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49240"/>
            <a:ext cx="5029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CFE0C8"/>
                </a:solidFill>
                <a:latin typeface="Open Sans"/>
              </a:rPr>
              <a:t>no visiem ES atkritumiem ir būvniecības atkritumi</a:t>
            </a:r>
          </a:p>
        </p:txBody>
      </p:sp>
      <p:pic>
        <p:nvPicPr>
          <p:cNvPr id="6" name="Picture 5" descr="foto-mez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548640"/>
            <a:ext cx="4892040" cy="5760720"/>
          </a:xfrm>
          <a:prstGeom prst="roundRect">
            <a:avLst>
              <a:gd name="adj" fmla="val 7000"/>
            </a:avLst>
          </a:prstGeom>
        </p:spPr>
      </p:pic>
      <p:sp>
        <p:nvSpPr>
          <p:cNvPr id="7" name="TextBox 6"/>
          <p:cNvSpPr txBox="1"/>
          <p:nvPr/>
        </p:nvSpPr>
        <p:spPr>
          <a:xfrm>
            <a:off x="6720840" y="6355080"/>
            <a:ext cx="4892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800" b="0">
                <a:solidFill>
                  <a:srgbClr val="5E8C5A"/>
                </a:solidFill>
                <a:latin typeface="Open Sans"/>
              </a:rPr>
              <a:t>Foto: iauto.lv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777240"/>
            <a:ext cx="2377440" cy="1051560"/>
          </a:xfrm>
          <a:prstGeom prst="roundRect">
            <a:avLst>
              <a:gd name="adj" fmla="val 8000"/>
            </a:avLst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777240"/>
            <a:ext cx="23774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CFE0C8"/>
                </a:solidFill>
                <a:latin typeface="Open Sans"/>
              </a:rPr>
              <a:t>Izmest mežā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Montserrat"/>
              </a:rPr>
              <a:t>0 €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E8C5A"/>
                </a:solidFill>
                <a:latin typeface="Montserrat"/>
              </a:rPr>
              <a:t>RISINĀJUMS · APRITES EKONOMIKAS PLATFORMA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400" b="1">
                <a:solidFill>
                  <a:srgbClr val="244A30"/>
                </a:solidFill>
                <a:latin typeface="Montserrat"/>
              </a:rPr>
              <a:t>Būvgružu birža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9326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5B665D"/>
                </a:solidFill>
                <a:latin typeface="Open Sans"/>
              </a:rPr>
              <a:t>Motivē cilvēkus viegli un bez maksas vai pat par atlīdzību šķirot būvgružus, bet uzņēmumiem ļauj atkārtoti izmantot materiālus jaunu produktu ražošanā.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502920"/>
            <a:ext cx="1325880" cy="129091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274320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743200"/>
            <a:ext cx="3474720" cy="109728"/>
          </a:xfrm>
          <a:prstGeom prst="rect">
            <a:avLst/>
          </a:prstGeom>
          <a:solidFill>
            <a:srgbClr val="5E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31089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244A30"/>
                </a:solidFill>
                <a:latin typeface="Montserrat"/>
              </a:rPr>
              <a:t>Cilvēkiem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840480"/>
            <a:ext cx="2834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Nodod sašķirotus gružus bez maksas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Par koksni: nauda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Par betonu un ķieģeļiem: punkti vai šķembas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74320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2743200"/>
            <a:ext cx="3474720" cy="109728"/>
          </a:xfrm>
          <a:prstGeom prst="rect">
            <a:avLst/>
          </a:prstGeom>
          <a:solidFill>
            <a:srgbClr val="5E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1089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244A30"/>
                </a:solidFill>
                <a:latin typeface="Montserrat"/>
              </a:rPr>
              <a:t>Uzņēmumiem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840480"/>
            <a:ext cx="2834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Tīrs, sašķirots materiāls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Bez šķirošanas izmaksām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Lētāka izejviela nekā jauna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743200"/>
            <a:ext cx="3474720" cy="3474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9" y="2743200"/>
            <a:ext cx="3474720" cy="109728"/>
          </a:xfrm>
          <a:prstGeom prst="rect">
            <a:avLst/>
          </a:prstGeom>
          <a:solidFill>
            <a:srgbClr val="5E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59" y="31089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244A30"/>
                </a:solidFill>
                <a:latin typeface="Montserrat"/>
              </a:rPr>
              <a:t>Videi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59" y="3840480"/>
            <a:ext cx="28346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Mazāk izgāztuvju mežos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Mazāk jaunu izejvielu ieguves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600" b="0">
                <a:solidFill>
                  <a:srgbClr val="1C261E"/>
                </a:solidFill>
                <a:latin typeface="Open Sans"/>
              </a:rPr>
              <a:t>•  Pašvaldība ietaupa uz sakopšanu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E8C5A"/>
                </a:solidFill>
                <a:latin typeface="Montserrat"/>
              </a:rPr>
              <a:t>LIETOTĀJA PIEREDZE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6583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244A30"/>
                </a:solidFill>
                <a:latin typeface="Montserrat"/>
              </a:rPr>
              <a:t>Lietotāja ceļš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6583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5B665D"/>
                </a:solidFill>
                <a:latin typeface="Open Sans"/>
              </a:rPr>
              <a:t>No gružu kaudzes līdz atlīdzībai četros soļos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191256"/>
            <a:ext cx="6858000" cy="941832"/>
          </a:xfrm>
          <a:prstGeom prst="roundRect">
            <a:avLst>
              <a:gd name="adj" fmla="val 8000"/>
            </a:avLst>
          </a:prstGeom>
          <a:solidFill>
            <a:srgbClr val="CF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3273552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1">
                <a:solidFill>
                  <a:srgbClr val="244A30"/>
                </a:solidFill>
                <a:latin typeface="Montserrat"/>
              </a:rPr>
              <a:t>GALVENĀ FUNKCIJA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31720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13432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Nofotografē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715768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Izvēlas veidu un daudzumu maisos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319272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19272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00984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Uzreiz redz atlīdzību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0332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Cik saņems un vai braukt atmaksājas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306824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88536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Izvēlas punktu kartē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690872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Tikai tur, kur atlīdzība &gt; degvielas izmaksas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294376"/>
            <a:ext cx="685800" cy="685800"/>
          </a:xfrm>
          <a:prstGeom prst="ellipse">
            <a:avLst/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94376"/>
            <a:ext cx="68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276088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100" b="1">
                <a:solidFill>
                  <a:srgbClr val="1C261E"/>
                </a:solidFill>
                <a:latin typeface="Montserrat"/>
              </a:rPr>
              <a:t>Nodod un saņem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678424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5B665D"/>
                </a:solidFill>
                <a:latin typeface="Open Sans"/>
              </a:rPr>
              <a:t>Nosver, pārbauda, atlīdzība kontā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548640"/>
            <a:ext cx="3291840" cy="5760720"/>
          </a:xfrm>
          <a:prstGeom prst="roundRect">
            <a:avLst>
              <a:gd name="adj" fmla="val 8000"/>
            </a:avLst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726679" y="685800"/>
            <a:ext cx="3017520" cy="5486400"/>
          </a:xfrm>
          <a:prstGeom prst="roundRect">
            <a:avLst>
              <a:gd name="adj" fmla="val 8000"/>
            </a:avLst>
          </a:prstGeom>
          <a:solidFill>
            <a:srgbClr val="CFE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685800"/>
            <a:ext cx="3017520" cy="5486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244A30"/>
                </a:solidFill>
                <a:latin typeface="Open Sans"/>
              </a:rPr>
              <a:t>VIDEO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244A30"/>
                </a:solidFill>
                <a:latin typeface="Open Sans"/>
              </a:rPr>
              <a:t>no lietotnes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244A30"/>
                </a:solidFill>
                <a:latin typeface="Open Sans"/>
              </a:rPr>
              <a:t>(ievelc Canva)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E8C5A"/>
                </a:solidFill>
                <a:latin typeface="Montserrat"/>
              </a:rPr>
              <a:t>KĀPĒC TIEŠI MŪSU RISINĀJUMS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>
                <a:solidFill>
                  <a:srgbClr val="244A30"/>
                </a:solidFill>
                <a:latin typeface="Montserrat"/>
              </a:rPr>
              <a:t>Iespējas šodien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Bez maksas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Ērti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Atlīdzība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1874519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5B665D"/>
                </a:solidFill>
                <a:latin typeface="Montserrat"/>
              </a:rPr>
              <a:t>Nonāk pārstrādē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C261E"/>
                </a:solidFill>
                <a:latin typeface="Montserrat"/>
              </a:rPr>
              <a:t>Sludinājums „izvedam lēti”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B665D"/>
                </a:solidFill>
                <a:latin typeface="Open Sans"/>
              </a:rPr>
              <a:t>Lēti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Nē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286000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Bieži mežā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99232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99232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C261E"/>
                </a:solidFill>
                <a:latin typeface="Montserrat"/>
              </a:rPr>
              <a:t>Konteinera noma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Dārgi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Nē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999232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712464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712464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1C261E"/>
                </a:solidFill>
                <a:latin typeface="Montserrat"/>
              </a:rPr>
              <a:t>Šķirošanas laukums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B665D"/>
                </a:solidFill>
                <a:latin typeface="Open Sans"/>
              </a:rPr>
              <a:t>Daļēji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5B665D"/>
                </a:solidFill>
                <a:latin typeface="Open Sans"/>
              </a:rPr>
              <a:t>Jāved pašam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B04A3A"/>
                </a:solidFill>
                <a:latin typeface="Open Sans"/>
              </a:rPr>
              <a:t>Nē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3712464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5E8C5A"/>
                </a:solidFill>
                <a:latin typeface="Open Sans"/>
              </a:rPr>
              <a:t>Jā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25696"/>
            <a:ext cx="10927080" cy="603504"/>
          </a:xfrm>
          <a:prstGeom prst="roundRect">
            <a:avLst>
              <a:gd name="adj" fmla="val 8000"/>
            </a:avLst>
          </a:prstGeom>
          <a:solidFill>
            <a:srgbClr val="244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25696"/>
            <a:ext cx="30175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ontserrat"/>
              </a:rPr>
              <a:t>Būvgružu birža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Jā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Karte + pārvadātājs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Jā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4425696"/>
            <a:ext cx="2011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Open Sans"/>
              </a:rPr>
              <a:t>Jā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49240"/>
            <a:ext cx="10927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5B665D"/>
                </a:solidFill>
                <a:latin typeface="Open Sans"/>
              </a:rPr>
              <a:t>Atlīdzība pēc pārstrādātāju cenām: koksne 15 līdz 30 €/t, betons 1 līdz 3 €/t, ķieģeļi 0,5 līdz 1,5 €/t (aplēses, jāpārbauda pilotprojektā).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A3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640080"/>
            <a:ext cx="1371600" cy="133542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2286000"/>
            <a:ext cx="108813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ontserrat"/>
              </a:rPr>
              <a:t>Lai būvgruži atgrieztos būvniecībā, nevis mežā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800" b="1">
                <a:solidFill>
                  <a:srgbClr val="CFE0C8"/>
                </a:solidFill>
                <a:latin typeface="Montserrat"/>
              </a:rPr>
              <a:t>Būvgružu birža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CFE0C8"/>
                </a:solidFill>
                <a:latin typeface="Open Sans"/>
              </a:rPr>
              <a:t>Komanda Alanguka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607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Open Sans"/>
              </a:rPr>
              <a:t>Paldies! Jautājumi?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